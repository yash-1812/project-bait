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AF384-5079-4EC4-A09E-1EC71E2047B6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0F6A3C-20F4-49FF-8F87-CFE4A3B4064E}">
      <dgm:prSet phldrT="[Text]"/>
      <dgm:spPr/>
      <dgm:t>
        <a:bodyPr/>
        <a:lstStyle/>
        <a:p>
          <a:r>
            <a:rPr lang="en-US" dirty="0" smtClean="0">
              <a:latin typeface="Garamond" panose="02020404030301010803" pitchFamily="18" charset="0"/>
            </a:rPr>
            <a:t>Book Value Approach</a:t>
          </a:r>
          <a:endParaRPr lang="en-US" dirty="0">
            <a:latin typeface="Garamond" panose="02020404030301010803" pitchFamily="18" charset="0"/>
          </a:endParaRPr>
        </a:p>
      </dgm:t>
    </dgm:pt>
    <dgm:pt modelId="{B5FB56E0-C6AB-4220-ADEF-E1DEA869E90D}" type="parTrans" cxnId="{348DBD26-7D96-42E3-AF1D-CF2E3257EF7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8D9A5F1B-25EF-4135-933F-6B7405C4214A}" type="sibTrans" cxnId="{348DBD26-7D96-42E3-AF1D-CF2E3257EF7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775CE4C3-255D-4BDE-8D40-36F64B3A2EFB}">
      <dgm:prSet phldrT="[Text]"/>
      <dgm:spPr/>
      <dgm:t>
        <a:bodyPr/>
        <a:lstStyle/>
        <a:p>
          <a:r>
            <a:rPr lang="en-US" dirty="0" smtClean="0">
              <a:latin typeface="Garamond" panose="02020404030301010803" pitchFamily="18" charset="0"/>
            </a:rPr>
            <a:t>Stock and Debt Approach</a:t>
          </a:r>
          <a:endParaRPr lang="en-US" dirty="0">
            <a:latin typeface="Garamond" panose="02020404030301010803" pitchFamily="18" charset="0"/>
          </a:endParaRPr>
        </a:p>
      </dgm:t>
    </dgm:pt>
    <dgm:pt modelId="{3D2E13A5-1FA5-41F8-A711-6BA71A930041}" type="parTrans" cxnId="{E33D96BF-1683-4778-9AC0-036EB15BA541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C970D79A-D448-463A-831A-3D2BB5DDE7F0}" type="sibTrans" cxnId="{E33D96BF-1683-4778-9AC0-036EB15BA541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D41F4556-F066-47FC-A84F-891EA4A28918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 smtClean="0">
              <a:latin typeface="Garamond" panose="02020404030301010803" pitchFamily="18" charset="0"/>
            </a:rPr>
            <a:t>Discounted Cash Flow (DCF) Approach</a:t>
          </a:r>
          <a:endParaRPr lang="en-US" dirty="0">
            <a:latin typeface="Garamond" panose="02020404030301010803" pitchFamily="18" charset="0"/>
          </a:endParaRPr>
        </a:p>
      </dgm:t>
    </dgm:pt>
    <dgm:pt modelId="{46B0CAAB-0BC8-474D-9F7A-846AC9FFEFF5}" type="parTrans" cxnId="{19F008B1-4964-4A38-828F-D06D2C1A6534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A110D801-8BE5-4666-8045-6C4A9B87BD58}" type="sibTrans" cxnId="{19F008B1-4964-4A38-828F-D06D2C1A6534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DC8BF521-38A4-498A-B3C5-FA062B05914A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>
              <a:latin typeface="Garamond" panose="02020404030301010803" pitchFamily="18" charset="0"/>
            </a:rPr>
            <a:t>Relative Valuation Approach</a:t>
          </a:r>
          <a:endParaRPr lang="en-US" dirty="0">
            <a:latin typeface="Garamond" panose="02020404030301010803" pitchFamily="18" charset="0"/>
          </a:endParaRPr>
        </a:p>
      </dgm:t>
    </dgm:pt>
    <dgm:pt modelId="{EE9AB714-EAD7-429D-BBA4-E02ABE31B179}" type="parTrans" cxnId="{962D037A-6C36-4180-BC99-63A15E7A96CF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36EE2F26-29AF-422B-9C5F-F3F159598611}" type="sibTrans" cxnId="{962D037A-6C36-4180-BC99-63A15E7A96CF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E17D18D6-1B52-4923-B1A5-52A8CE7F0D88}">
      <dgm:prSet phldrT="[Text]"/>
      <dgm:spPr/>
      <dgm:t>
        <a:bodyPr/>
        <a:lstStyle/>
        <a:p>
          <a:r>
            <a:rPr lang="en-US" dirty="0" smtClean="0">
              <a:latin typeface="Garamond" panose="02020404030301010803" pitchFamily="18" charset="0"/>
            </a:rPr>
            <a:t>Option Valuation Approach</a:t>
          </a:r>
          <a:endParaRPr lang="en-US" dirty="0">
            <a:latin typeface="Garamond" panose="02020404030301010803" pitchFamily="18" charset="0"/>
          </a:endParaRPr>
        </a:p>
      </dgm:t>
    </dgm:pt>
    <dgm:pt modelId="{006EE3E5-A2E9-4FAC-BA6C-095F2FD8CB34}" type="parTrans" cxnId="{3B6E0DBE-F97D-4CF1-9694-320C994111C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F28CBF91-E1C6-4EC8-9FE2-CB91077B3A50}" type="sibTrans" cxnId="{3B6E0DBE-F97D-4CF1-9694-320C994111C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AF86AABC-B74F-4474-A8E3-BABAE481853F}" type="pres">
      <dgm:prSet presAssocID="{7B7AF384-5079-4EC4-A09E-1EC71E2047B6}" presName="cycle" presStyleCnt="0">
        <dgm:presLayoutVars>
          <dgm:dir/>
          <dgm:resizeHandles val="exact"/>
        </dgm:presLayoutVars>
      </dgm:prSet>
      <dgm:spPr/>
    </dgm:pt>
    <dgm:pt modelId="{E5D6B693-4F3C-4ED6-9F10-F7B3E7CEFE59}" type="pres">
      <dgm:prSet presAssocID="{7D0F6A3C-20F4-49FF-8F87-CFE4A3B4064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519B61-A53B-4750-AE4F-1DD6BE93EA50}" type="pres">
      <dgm:prSet presAssocID="{7D0F6A3C-20F4-49FF-8F87-CFE4A3B4064E}" presName="spNode" presStyleCnt="0"/>
      <dgm:spPr/>
    </dgm:pt>
    <dgm:pt modelId="{965DA5B2-27EB-402F-8191-A8D32F2859CC}" type="pres">
      <dgm:prSet presAssocID="{8D9A5F1B-25EF-4135-933F-6B7405C4214A}" presName="sibTrans" presStyleLbl="sibTrans1D1" presStyleIdx="0" presStyleCnt="5"/>
      <dgm:spPr/>
    </dgm:pt>
    <dgm:pt modelId="{65631C9D-95BB-44F4-94ED-C4AC5453F93D}" type="pres">
      <dgm:prSet presAssocID="{775CE4C3-255D-4BDE-8D40-36F64B3A2EFB}" presName="node" presStyleLbl="node1" presStyleIdx="1" presStyleCnt="5">
        <dgm:presLayoutVars>
          <dgm:bulletEnabled val="1"/>
        </dgm:presLayoutVars>
      </dgm:prSet>
      <dgm:spPr/>
    </dgm:pt>
    <dgm:pt modelId="{7C40FC93-9E13-4A6D-BFF3-8EFE810BF91C}" type="pres">
      <dgm:prSet presAssocID="{775CE4C3-255D-4BDE-8D40-36F64B3A2EFB}" presName="spNode" presStyleCnt="0"/>
      <dgm:spPr/>
    </dgm:pt>
    <dgm:pt modelId="{9CD219D2-0E0F-4E39-93F8-EC20C9D0AA6E}" type="pres">
      <dgm:prSet presAssocID="{C970D79A-D448-463A-831A-3D2BB5DDE7F0}" presName="sibTrans" presStyleLbl="sibTrans1D1" presStyleIdx="1" presStyleCnt="5"/>
      <dgm:spPr/>
    </dgm:pt>
    <dgm:pt modelId="{11DC36C1-B41D-46FF-B6BA-CB908F68CDE9}" type="pres">
      <dgm:prSet presAssocID="{D41F4556-F066-47FC-A84F-891EA4A28918}" presName="node" presStyleLbl="node1" presStyleIdx="2" presStyleCnt="5">
        <dgm:presLayoutVars>
          <dgm:bulletEnabled val="1"/>
        </dgm:presLayoutVars>
      </dgm:prSet>
      <dgm:spPr/>
    </dgm:pt>
    <dgm:pt modelId="{E25275CD-9B1B-4E32-B6E1-7302DAD2C081}" type="pres">
      <dgm:prSet presAssocID="{D41F4556-F066-47FC-A84F-891EA4A28918}" presName="spNode" presStyleCnt="0"/>
      <dgm:spPr/>
    </dgm:pt>
    <dgm:pt modelId="{448CA27C-767B-46BD-BAAC-E9EB8833BA4F}" type="pres">
      <dgm:prSet presAssocID="{A110D801-8BE5-4666-8045-6C4A9B87BD58}" presName="sibTrans" presStyleLbl="sibTrans1D1" presStyleIdx="2" presStyleCnt="5"/>
      <dgm:spPr/>
    </dgm:pt>
    <dgm:pt modelId="{3B1C911C-D223-4563-8938-44F611D3485C}" type="pres">
      <dgm:prSet presAssocID="{DC8BF521-38A4-498A-B3C5-FA062B05914A}" presName="node" presStyleLbl="node1" presStyleIdx="3" presStyleCnt="5">
        <dgm:presLayoutVars>
          <dgm:bulletEnabled val="1"/>
        </dgm:presLayoutVars>
      </dgm:prSet>
      <dgm:spPr/>
    </dgm:pt>
    <dgm:pt modelId="{C9DC83A5-46BA-424F-A1D0-5150AF660B14}" type="pres">
      <dgm:prSet presAssocID="{DC8BF521-38A4-498A-B3C5-FA062B05914A}" presName="spNode" presStyleCnt="0"/>
      <dgm:spPr/>
    </dgm:pt>
    <dgm:pt modelId="{0EBA4C5F-C9E4-4A4B-ACBF-2971A1483A8B}" type="pres">
      <dgm:prSet presAssocID="{36EE2F26-29AF-422B-9C5F-F3F159598611}" presName="sibTrans" presStyleLbl="sibTrans1D1" presStyleIdx="3" presStyleCnt="5"/>
      <dgm:spPr/>
    </dgm:pt>
    <dgm:pt modelId="{A3818EEE-EFB7-404E-B463-AB94DA18CAE8}" type="pres">
      <dgm:prSet presAssocID="{E17D18D6-1B52-4923-B1A5-52A8CE7F0D88}" presName="node" presStyleLbl="node1" presStyleIdx="4" presStyleCnt="5">
        <dgm:presLayoutVars>
          <dgm:bulletEnabled val="1"/>
        </dgm:presLayoutVars>
      </dgm:prSet>
      <dgm:spPr/>
    </dgm:pt>
    <dgm:pt modelId="{729E9D65-5A0B-4CC9-92CC-1E250C632265}" type="pres">
      <dgm:prSet presAssocID="{E17D18D6-1B52-4923-B1A5-52A8CE7F0D88}" presName="spNode" presStyleCnt="0"/>
      <dgm:spPr/>
    </dgm:pt>
    <dgm:pt modelId="{215650F2-B3DA-4F70-B25C-520DF947E249}" type="pres">
      <dgm:prSet presAssocID="{F28CBF91-E1C6-4EC8-9FE2-CB91077B3A50}" presName="sibTrans" presStyleLbl="sibTrans1D1" presStyleIdx="4" presStyleCnt="5"/>
      <dgm:spPr/>
    </dgm:pt>
  </dgm:ptLst>
  <dgm:cxnLst>
    <dgm:cxn modelId="{3BC7D3B8-6D18-462B-B362-2CD5CCF20555}" type="presOf" srcId="{8D9A5F1B-25EF-4135-933F-6B7405C4214A}" destId="{965DA5B2-27EB-402F-8191-A8D32F2859CC}" srcOrd="0" destOrd="0" presId="urn:microsoft.com/office/officeart/2005/8/layout/cycle6"/>
    <dgm:cxn modelId="{3B6E0DBE-F97D-4CF1-9694-320C994111CA}" srcId="{7B7AF384-5079-4EC4-A09E-1EC71E2047B6}" destId="{E17D18D6-1B52-4923-B1A5-52A8CE7F0D88}" srcOrd="4" destOrd="0" parTransId="{006EE3E5-A2E9-4FAC-BA6C-095F2FD8CB34}" sibTransId="{F28CBF91-E1C6-4EC8-9FE2-CB91077B3A50}"/>
    <dgm:cxn modelId="{406FF4AD-148A-453B-A642-5AFAB707BADA}" type="presOf" srcId="{7D0F6A3C-20F4-49FF-8F87-CFE4A3B4064E}" destId="{E5D6B693-4F3C-4ED6-9F10-F7B3E7CEFE59}" srcOrd="0" destOrd="0" presId="urn:microsoft.com/office/officeart/2005/8/layout/cycle6"/>
    <dgm:cxn modelId="{0738E17E-DB98-4D1B-B48F-593373140C2A}" type="presOf" srcId="{DC8BF521-38A4-498A-B3C5-FA062B05914A}" destId="{3B1C911C-D223-4563-8938-44F611D3485C}" srcOrd="0" destOrd="0" presId="urn:microsoft.com/office/officeart/2005/8/layout/cycle6"/>
    <dgm:cxn modelId="{19F008B1-4964-4A38-828F-D06D2C1A6534}" srcId="{7B7AF384-5079-4EC4-A09E-1EC71E2047B6}" destId="{D41F4556-F066-47FC-A84F-891EA4A28918}" srcOrd="2" destOrd="0" parTransId="{46B0CAAB-0BC8-474D-9F7A-846AC9FFEFF5}" sibTransId="{A110D801-8BE5-4666-8045-6C4A9B87BD58}"/>
    <dgm:cxn modelId="{623E241C-C704-4DC3-8D93-FBEA9E3169EF}" type="presOf" srcId="{D41F4556-F066-47FC-A84F-891EA4A28918}" destId="{11DC36C1-B41D-46FF-B6BA-CB908F68CDE9}" srcOrd="0" destOrd="0" presId="urn:microsoft.com/office/officeart/2005/8/layout/cycle6"/>
    <dgm:cxn modelId="{5F5D70F7-2726-4644-BA6A-50BBA7910C81}" type="presOf" srcId="{E17D18D6-1B52-4923-B1A5-52A8CE7F0D88}" destId="{A3818EEE-EFB7-404E-B463-AB94DA18CAE8}" srcOrd="0" destOrd="0" presId="urn:microsoft.com/office/officeart/2005/8/layout/cycle6"/>
    <dgm:cxn modelId="{348DBD26-7D96-42E3-AF1D-CF2E3257EF7B}" srcId="{7B7AF384-5079-4EC4-A09E-1EC71E2047B6}" destId="{7D0F6A3C-20F4-49FF-8F87-CFE4A3B4064E}" srcOrd="0" destOrd="0" parTransId="{B5FB56E0-C6AB-4220-ADEF-E1DEA869E90D}" sibTransId="{8D9A5F1B-25EF-4135-933F-6B7405C4214A}"/>
    <dgm:cxn modelId="{E519AD7E-BA8A-414F-B74B-87FB51C0A4E6}" type="presOf" srcId="{7B7AF384-5079-4EC4-A09E-1EC71E2047B6}" destId="{AF86AABC-B74F-4474-A8E3-BABAE481853F}" srcOrd="0" destOrd="0" presId="urn:microsoft.com/office/officeart/2005/8/layout/cycle6"/>
    <dgm:cxn modelId="{25805AD5-33FE-450A-9A2E-0D4A61C7F115}" type="presOf" srcId="{C970D79A-D448-463A-831A-3D2BB5DDE7F0}" destId="{9CD219D2-0E0F-4E39-93F8-EC20C9D0AA6E}" srcOrd="0" destOrd="0" presId="urn:microsoft.com/office/officeart/2005/8/layout/cycle6"/>
    <dgm:cxn modelId="{34B6A45F-876C-4238-AA65-A78223457BB9}" type="presOf" srcId="{775CE4C3-255D-4BDE-8D40-36F64B3A2EFB}" destId="{65631C9D-95BB-44F4-94ED-C4AC5453F93D}" srcOrd="0" destOrd="0" presId="urn:microsoft.com/office/officeart/2005/8/layout/cycle6"/>
    <dgm:cxn modelId="{E33D96BF-1683-4778-9AC0-036EB15BA541}" srcId="{7B7AF384-5079-4EC4-A09E-1EC71E2047B6}" destId="{775CE4C3-255D-4BDE-8D40-36F64B3A2EFB}" srcOrd="1" destOrd="0" parTransId="{3D2E13A5-1FA5-41F8-A711-6BA71A930041}" sibTransId="{C970D79A-D448-463A-831A-3D2BB5DDE7F0}"/>
    <dgm:cxn modelId="{1D534E8A-55D9-4715-BFAA-0FA9B7114D6E}" type="presOf" srcId="{A110D801-8BE5-4666-8045-6C4A9B87BD58}" destId="{448CA27C-767B-46BD-BAAC-E9EB8833BA4F}" srcOrd="0" destOrd="0" presId="urn:microsoft.com/office/officeart/2005/8/layout/cycle6"/>
    <dgm:cxn modelId="{7127D993-A17B-4DCD-85DF-A30901E9F79E}" type="presOf" srcId="{F28CBF91-E1C6-4EC8-9FE2-CB91077B3A50}" destId="{215650F2-B3DA-4F70-B25C-520DF947E249}" srcOrd="0" destOrd="0" presId="urn:microsoft.com/office/officeart/2005/8/layout/cycle6"/>
    <dgm:cxn modelId="{1F233A5D-E7D7-4486-A9F7-9613B5E7A9C4}" type="presOf" srcId="{36EE2F26-29AF-422B-9C5F-F3F159598611}" destId="{0EBA4C5F-C9E4-4A4B-ACBF-2971A1483A8B}" srcOrd="0" destOrd="0" presId="urn:microsoft.com/office/officeart/2005/8/layout/cycle6"/>
    <dgm:cxn modelId="{962D037A-6C36-4180-BC99-63A15E7A96CF}" srcId="{7B7AF384-5079-4EC4-A09E-1EC71E2047B6}" destId="{DC8BF521-38A4-498A-B3C5-FA062B05914A}" srcOrd="3" destOrd="0" parTransId="{EE9AB714-EAD7-429D-BBA4-E02ABE31B179}" sibTransId="{36EE2F26-29AF-422B-9C5F-F3F159598611}"/>
    <dgm:cxn modelId="{3CE0369B-3DB5-4095-983F-E301951EEFB1}" type="presParOf" srcId="{AF86AABC-B74F-4474-A8E3-BABAE481853F}" destId="{E5D6B693-4F3C-4ED6-9F10-F7B3E7CEFE59}" srcOrd="0" destOrd="0" presId="urn:microsoft.com/office/officeart/2005/8/layout/cycle6"/>
    <dgm:cxn modelId="{F4D7C781-64EE-4D5A-8F6E-6B8F092045D1}" type="presParOf" srcId="{AF86AABC-B74F-4474-A8E3-BABAE481853F}" destId="{48519B61-A53B-4750-AE4F-1DD6BE93EA50}" srcOrd="1" destOrd="0" presId="urn:microsoft.com/office/officeart/2005/8/layout/cycle6"/>
    <dgm:cxn modelId="{B2161FB4-312F-4144-BC0F-F1D521DFA272}" type="presParOf" srcId="{AF86AABC-B74F-4474-A8E3-BABAE481853F}" destId="{965DA5B2-27EB-402F-8191-A8D32F2859CC}" srcOrd="2" destOrd="0" presId="urn:microsoft.com/office/officeart/2005/8/layout/cycle6"/>
    <dgm:cxn modelId="{A597E7C3-21D4-4F32-900B-5BA5F7E22988}" type="presParOf" srcId="{AF86AABC-B74F-4474-A8E3-BABAE481853F}" destId="{65631C9D-95BB-44F4-94ED-C4AC5453F93D}" srcOrd="3" destOrd="0" presId="urn:microsoft.com/office/officeart/2005/8/layout/cycle6"/>
    <dgm:cxn modelId="{5BBE509F-B109-494B-A9F6-313C5FEED27C}" type="presParOf" srcId="{AF86AABC-B74F-4474-A8E3-BABAE481853F}" destId="{7C40FC93-9E13-4A6D-BFF3-8EFE810BF91C}" srcOrd="4" destOrd="0" presId="urn:microsoft.com/office/officeart/2005/8/layout/cycle6"/>
    <dgm:cxn modelId="{E4E50C51-A125-4A67-8134-9E08B5C2C174}" type="presParOf" srcId="{AF86AABC-B74F-4474-A8E3-BABAE481853F}" destId="{9CD219D2-0E0F-4E39-93F8-EC20C9D0AA6E}" srcOrd="5" destOrd="0" presId="urn:microsoft.com/office/officeart/2005/8/layout/cycle6"/>
    <dgm:cxn modelId="{FC08886A-EC55-4619-92C1-89A558DEC283}" type="presParOf" srcId="{AF86AABC-B74F-4474-A8E3-BABAE481853F}" destId="{11DC36C1-B41D-46FF-B6BA-CB908F68CDE9}" srcOrd="6" destOrd="0" presId="urn:microsoft.com/office/officeart/2005/8/layout/cycle6"/>
    <dgm:cxn modelId="{59C83BAA-C2C2-4FF8-812A-25E9173EA980}" type="presParOf" srcId="{AF86AABC-B74F-4474-A8E3-BABAE481853F}" destId="{E25275CD-9B1B-4E32-B6E1-7302DAD2C081}" srcOrd="7" destOrd="0" presId="urn:microsoft.com/office/officeart/2005/8/layout/cycle6"/>
    <dgm:cxn modelId="{63C54F1F-220B-4B0B-A9C4-F4DBA44EC1CD}" type="presParOf" srcId="{AF86AABC-B74F-4474-A8E3-BABAE481853F}" destId="{448CA27C-767B-46BD-BAAC-E9EB8833BA4F}" srcOrd="8" destOrd="0" presId="urn:microsoft.com/office/officeart/2005/8/layout/cycle6"/>
    <dgm:cxn modelId="{EC913718-B71C-4CB3-ACCD-A7F5810A6B74}" type="presParOf" srcId="{AF86AABC-B74F-4474-A8E3-BABAE481853F}" destId="{3B1C911C-D223-4563-8938-44F611D3485C}" srcOrd="9" destOrd="0" presId="urn:microsoft.com/office/officeart/2005/8/layout/cycle6"/>
    <dgm:cxn modelId="{5269A2F7-D42A-4AA1-9FC5-54C72290C970}" type="presParOf" srcId="{AF86AABC-B74F-4474-A8E3-BABAE481853F}" destId="{C9DC83A5-46BA-424F-A1D0-5150AF660B14}" srcOrd="10" destOrd="0" presId="urn:microsoft.com/office/officeart/2005/8/layout/cycle6"/>
    <dgm:cxn modelId="{0E253634-2A8C-4970-BCAD-C28515C94BA4}" type="presParOf" srcId="{AF86AABC-B74F-4474-A8E3-BABAE481853F}" destId="{0EBA4C5F-C9E4-4A4B-ACBF-2971A1483A8B}" srcOrd="11" destOrd="0" presId="urn:microsoft.com/office/officeart/2005/8/layout/cycle6"/>
    <dgm:cxn modelId="{CF9252CB-7D97-457B-A1F8-3D91B8E08211}" type="presParOf" srcId="{AF86AABC-B74F-4474-A8E3-BABAE481853F}" destId="{A3818EEE-EFB7-404E-B463-AB94DA18CAE8}" srcOrd="12" destOrd="0" presId="urn:microsoft.com/office/officeart/2005/8/layout/cycle6"/>
    <dgm:cxn modelId="{D4382AA4-EB16-4C56-8529-902CE40DA706}" type="presParOf" srcId="{AF86AABC-B74F-4474-A8E3-BABAE481853F}" destId="{729E9D65-5A0B-4CC9-92CC-1E250C632265}" srcOrd="13" destOrd="0" presId="urn:microsoft.com/office/officeart/2005/8/layout/cycle6"/>
    <dgm:cxn modelId="{011D97DF-6A9A-4B62-BB2B-6BA85B07CAE2}" type="presParOf" srcId="{AF86AABC-B74F-4474-A8E3-BABAE481853F}" destId="{215650F2-B3DA-4F70-B25C-520DF947E249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6B693-4F3C-4ED6-9F10-F7B3E7CEFE59}">
      <dsp:nvSpPr>
        <dsp:cNvPr id="0" name=""/>
        <dsp:cNvSpPr/>
      </dsp:nvSpPr>
      <dsp:spPr>
        <a:xfrm>
          <a:off x="3174007" y="3160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Garamond" panose="02020404030301010803" pitchFamily="18" charset="0"/>
            </a:rPr>
            <a:t>Book Value Approach</a:t>
          </a:r>
          <a:endParaRPr lang="en-US" sz="1800" kern="1200" dirty="0">
            <a:latin typeface="Garamond" panose="02020404030301010803" pitchFamily="18" charset="0"/>
          </a:endParaRPr>
        </a:p>
      </dsp:txBody>
      <dsp:txXfrm>
        <a:off x="3230487" y="59640"/>
        <a:ext cx="1667024" cy="1044029"/>
      </dsp:txXfrm>
    </dsp:sp>
    <dsp:sp modelId="{965DA5B2-27EB-402F-8191-A8D32F2859CC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212328" y="183458"/>
              </a:moveTo>
              <a:arcTo wR="2310126" hR="2310126" stAng="17579295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31C9D-95BB-44F4-94ED-C4AC5453F93D}">
      <dsp:nvSpPr>
        <dsp:cNvPr id="0" name=""/>
        <dsp:cNvSpPr/>
      </dsp:nvSpPr>
      <dsp:spPr>
        <a:xfrm>
          <a:off x="5371068" y="15994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Garamond" panose="02020404030301010803" pitchFamily="18" charset="0"/>
            </a:rPr>
            <a:t>Stock and Debt Approach</a:t>
          </a:r>
          <a:endParaRPr lang="en-US" sz="1800" kern="1200" dirty="0">
            <a:latin typeface="Garamond" panose="02020404030301010803" pitchFamily="18" charset="0"/>
          </a:endParaRPr>
        </a:p>
      </dsp:txBody>
      <dsp:txXfrm>
        <a:off x="5427548" y="1655898"/>
        <a:ext cx="1667024" cy="1044029"/>
      </dsp:txXfrm>
    </dsp:sp>
    <dsp:sp modelId="{9CD219D2-0E0F-4E39-93F8-EC20C9D0AA6E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617101" y="2189512"/>
              </a:moveTo>
              <a:arcTo wR="2310126" hR="2310126" stAng="21420430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DC36C1-B41D-46FF-B6BA-CB908F68CDE9}">
      <dsp:nvSpPr>
        <dsp:cNvPr id="0" name=""/>
        <dsp:cNvSpPr/>
      </dsp:nvSpPr>
      <dsp:spPr>
        <a:xfrm>
          <a:off x="4531865" y="4182218"/>
          <a:ext cx="1779984" cy="1156989"/>
        </a:xfrm>
        <a:prstGeom prst="roundRect">
          <a:avLst/>
        </a:prstGeom>
        <a:solidFill>
          <a:schemeClr val="tx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Garamond" panose="02020404030301010803" pitchFamily="18" charset="0"/>
            </a:rPr>
            <a:t>Discounted Cash Flow (DCF) Approach</a:t>
          </a:r>
          <a:endParaRPr lang="en-US" sz="1800" kern="1200" dirty="0">
            <a:latin typeface="Garamond" panose="02020404030301010803" pitchFamily="18" charset="0"/>
          </a:endParaRPr>
        </a:p>
      </dsp:txBody>
      <dsp:txXfrm>
        <a:off x="4588345" y="4238698"/>
        <a:ext cx="1667024" cy="1044029"/>
      </dsp:txXfrm>
    </dsp:sp>
    <dsp:sp modelId="{448CA27C-767B-46BD-BAAC-E9EB8833BA4F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768824" y="4574254"/>
              </a:moveTo>
              <a:arcTo wR="2310126" hR="2310126" stAng="4712834" swAng="137433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1C911C-D223-4563-8938-44F611D3485C}">
      <dsp:nvSpPr>
        <dsp:cNvPr id="0" name=""/>
        <dsp:cNvSpPr/>
      </dsp:nvSpPr>
      <dsp:spPr>
        <a:xfrm>
          <a:off x="1816149" y="4182218"/>
          <a:ext cx="1779984" cy="1156989"/>
        </a:xfrm>
        <a:prstGeom prst="roundRect">
          <a:avLst/>
        </a:prstGeom>
        <a:solidFill>
          <a:schemeClr val="tx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Garamond" panose="02020404030301010803" pitchFamily="18" charset="0"/>
            </a:rPr>
            <a:t>Relative Valuation Approach</a:t>
          </a:r>
          <a:endParaRPr lang="en-US" sz="1800" kern="1200" dirty="0">
            <a:latin typeface="Garamond" panose="02020404030301010803" pitchFamily="18" charset="0"/>
          </a:endParaRPr>
        </a:p>
      </dsp:txBody>
      <dsp:txXfrm>
        <a:off x="1872629" y="4238698"/>
        <a:ext cx="1667024" cy="1044029"/>
      </dsp:txXfrm>
    </dsp:sp>
    <dsp:sp modelId="{0EBA4C5F-C9E4-4A4B-ACBF-2971A1483A8B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85803" y="3588275"/>
              </a:moveTo>
              <a:arcTo wR="2310126" hR="2310126" stAng="8784456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18EEE-EFB7-404E-B463-AB94DA18CAE8}">
      <dsp:nvSpPr>
        <dsp:cNvPr id="0" name=""/>
        <dsp:cNvSpPr/>
      </dsp:nvSpPr>
      <dsp:spPr>
        <a:xfrm>
          <a:off x="976947" y="15994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Garamond" panose="02020404030301010803" pitchFamily="18" charset="0"/>
            </a:rPr>
            <a:t>Option Valuation Approach</a:t>
          </a:r>
          <a:endParaRPr lang="en-US" sz="1800" kern="1200" dirty="0">
            <a:latin typeface="Garamond" panose="02020404030301010803" pitchFamily="18" charset="0"/>
          </a:endParaRPr>
        </a:p>
      </dsp:txBody>
      <dsp:txXfrm>
        <a:off x="1033427" y="1655898"/>
        <a:ext cx="1667024" cy="1044029"/>
      </dsp:txXfrm>
    </dsp:sp>
    <dsp:sp modelId="{215650F2-B3DA-4F70-B25C-520DF947E249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02763" y="1006803"/>
              </a:moveTo>
              <a:arcTo wR="2310126" hR="2310126" stAng="12860714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1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1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7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8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34546-9555-472F-BE60-4D8ADF7ADE5C}" type="datetimeFigureOut">
              <a:rPr lang="en-US" smtClean="0"/>
              <a:t>02-Aug-17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5258A-D440-4AAC-98C9-F7CBDCE4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Analysis and </a:t>
            </a:r>
            <a:r>
              <a:rPr lang="en-US" dirty="0" smtClean="0">
                <a:latin typeface="Garamond" panose="02020404030301010803" pitchFamily="18" charset="0"/>
              </a:rPr>
              <a:t>Valuation (BAV)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02583"/>
            <a:ext cx="9144000" cy="1655762"/>
          </a:xfrm>
        </p:spPr>
        <p:txBody>
          <a:bodyPr/>
          <a:lstStyle/>
          <a:p>
            <a:pPr algn="r"/>
            <a:r>
              <a:rPr lang="en-US" b="1" dirty="0" smtClean="0">
                <a:latin typeface="Garamond" panose="02020404030301010803" pitchFamily="18" charset="0"/>
              </a:rPr>
              <a:t>Dr. Saurabh Chadha</a:t>
            </a:r>
            <a:endParaRPr lang="en-US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2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Corporate Valuation or Firm Valuation or Business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What is a Value?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If price is too high relative to value.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If price is too low relative to value.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Valuing is neither easy nor exact.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Several Methods have been deployed in this course to do this difficult task.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Two Caveats in valuations: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The true value of a business cannot be established with certainty.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It is impossible to forecast accurately the FCF and discount rate. Thus, there is an inescapable element of uncertainty in valuation.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70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Corporate Valuation or Firm Valuation or Business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Second, a business is not worth the same to different parties. Means just the way beauty lies in the eyes of the beholder, value lies in the pocket of the buyer.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11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Purpose of corporate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The purpose is basically to estimate a fair market value of a company.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Fair Market Value as defined by the Internal Revenue Service (IRS) of the US is “the price at which the property would change hands between a willing buyer and a willing seller when the former is not under any compulsion to buy and the latter is not under any compulsion to sell, both parties having reasonable knowledge of reasonable facts.” 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90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Context of Valuation – Why Valuation is done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Raising capital for a Nascent </a:t>
            </a:r>
            <a:r>
              <a:rPr lang="en-US" b="1" dirty="0" smtClean="0">
                <a:latin typeface="Garamond" panose="02020404030301010803" pitchFamily="18" charset="0"/>
              </a:rPr>
              <a:t>Venture:</a:t>
            </a:r>
            <a:r>
              <a:rPr lang="en-US" dirty="0" smtClean="0">
                <a:latin typeface="Garamond" panose="02020404030301010803" pitchFamily="18" charset="0"/>
              </a:rPr>
              <a:t> Investors like VC and PE firms value nascent ventures or new businesses to calculate their expected returns and risk.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IPO (Initial Public Offering):</a:t>
            </a:r>
            <a:r>
              <a:rPr lang="en-US" dirty="0" smtClean="0">
                <a:latin typeface="Garamond" panose="02020404030301010803" pitchFamily="18" charset="0"/>
              </a:rPr>
              <a:t> At what price should the IPO be made? For this purpose the firm has to be valued properly. 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Mergers or Acquisitions or takeovers or amalgamations:</a:t>
            </a:r>
            <a:r>
              <a:rPr lang="en-US" dirty="0" smtClean="0">
                <a:latin typeface="Garamond" panose="02020404030301010803" pitchFamily="18" charset="0"/>
              </a:rPr>
              <a:t> The valuation is very important to know the intrinsic value of the firm. Typically, the acquirer has to pay a premium over the prevailing market price and determining the quantum of premium is always a challenge.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0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Context of Valuation – Why Valuation is done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Divestitures: </a:t>
            </a:r>
            <a:r>
              <a:rPr lang="en-US" dirty="0" smtClean="0">
                <a:latin typeface="Garamond" panose="02020404030301010803" pitchFamily="18" charset="0"/>
              </a:rPr>
              <a:t>A divestiture involves the sale of a division or plant or unit of </a:t>
            </a:r>
            <a:r>
              <a:rPr lang="en-US" dirty="0" smtClean="0">
                <a:latin typeface="Garamond" panose="02020404030301010803" pitchFamily="18" charset="0"/>
              </a:rPr>
              <a:t>one company to another.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PSU Disinvestment: </a:t>
            </a:r>
            <a:r>
              <a:rPr lang="en-US" dirty="0" smtClean="0">
                <a:latin typeface="Garamond" panose="02020404030301010803" pitchFamily="18" charset="0"/>
              </a:rPr>
              <a:t>Govt. of India announced that in all PSUs, the govt. stake will be brought down to 90% or may be less in future. A valuation has to be done for the 10% stake or as the case.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Employee Stock Option Plans (ESOP): </a:t>
            </a:r>
            <a:r>
              <a:rPr lang="en-US" dirty="0" smtClean="0">
                <a:latin typeface="Garamond" panose="02020404030301010803" pitchFamily="18" charset="0"/>
              </a:rPr>
              <a:t>In determining the exercise price for ESOP, the valuation of the company, when the company is unlisted, has to be done.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Portfolio Management: </a:t>
            </a:r>
            <a:r>
              <a:rPr lang="en-US" dirty="0" smtClean="0">
                <a:latin typeface="Garamond" panose="02020404030301010803" pitchFamily="18" charset="0"/>
              </a:rPr>
              <a:t>Valuation matters a great deal to an active investor who rely more on fundamental analysis.</a:t>
            </a:r>
            <a:endParaRPr lang="en-US" b="1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99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127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Approaches to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775905182"/>
              </p:ext>
            </p:extLst>
          </p:nvPr>
        </p:nvGraphicFramePr>
        <p:xfrm>
          <a:off x="2032000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88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Approaches to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Book Value Approach: </a:t>
            </a:r>
            <a:r>
              <a:rPr lang="en-US" dirty="0" smtClean="0">
                <a:latin typeface="Garamond" panose="02020404030301010803" pitchFamily="18" charset="0"/>
              </a:rPr>
              <a:t>Enterprise Value of a firm equals Fixed Assets + Investments+Net Current Assets or Book Value (equity+preference+debt). All the information is sourced from the balance sheet of the company.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Stock and Debt Approach: </a:t>
            </a:r>
            <a:r>
              <a:rPr lang="en-US" dirty="0" smtClean="0">
                <a:latin typeface="Garamond" panose="02020404030301010803" pitchFamily="18" charset="0"/>
              </a:rPr>
              <a:t>When the securities of a firm are publicly traded its value can be obtained by merely adding the market value of all its outstanding securities. </a:t>
            </a:r>
            <a:r>
              <a:rPr lang="en-US" dirty="0" err="1" smtClean="0">
                <a:latin typeface="Garamond" panose="02020404030301010803" pitchFamily="18" charset="0"/>
              </a:rPr>
              <a:t>Eg</a:t>
            </a:r>
            <a:r>
              <a:rPr lang="en-US" dirty="0" smtClean="0">
                <a:latin typeface="Garamond" panose="02020404030301010803" pitchFamily="18" charset="0"/>
              </a:rPr>
              <a:t>. On Mar 31, 2017, the ABC Ltd had 1.5 billion shares outstanding and closing price is </a:t>
            </a:r>
            <a:r>
              <a:rPr lang="en-US" dirty="0" err="1" smtClean="0">
                <a:latin typeface="Garamond" panose="02020404030301010803" pitchFamily="18" charset="0"/>
              </a:rPr>
              <a:t>Rs</a:t>
            </a:r>
            <a:r>
              <a:rPr lang="en-US" dirty="0" smtClean="0">
                <a:latin typeface="Garamond" panose="02020404030301010803" pitchFamily="18" charset="0"/>
              </a:rPr>
              <a:t> 20 per share. The outstanding debt of the company with a market value is </a:t>
            </a:r>
            <a:r>
              <a:rPr lang="en-US" dirty="0" err="1" smtClean="0">
                <a:latin typeface="Garamond" panose="02020404030301010803" pitchFamily="18" charset="0"/>
              </a:rPr>
              <a:t>Rs</a:t>
            </a:r>
            <a:r>
              <a:rPr lang="en-US" dirty="0" smtClean="0">
                <a:latin typeface="Garamond" panose="02020404030301010803" pitchFamily="18" charset="0"/>
              </a:rPr>
              <a:t> 21 billion. What is the EV of the firm?</a:t>
            </a:r>
            <a:endParaRPr lang="en-US" b="1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57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Approaches to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Discounted Cash Flow Approach (DCF): </a:t>
            </a:r>
            <a:r>
              <a:rPr lang="en-US" dirty="0" smtClean="0">
                <a:latin typeface="Garamond" panose="02020404030301010803" pitchFamily="18" charset="0"/>
              </a:rPr>
              <a:t>Conceptually similar to valuing a capital project using the present value method. Several modes of DCF valuation are:</a:t>
            </a:r>
          </a:p>
          <a:p>
            <a:pPr lvl="1"/>
            <a:r>
              <a:rPr lang="en-US" b="1" dirty="0" smtClean="0">
                <a:latin typeface="Garamond" panose="02020404030301010803" pitchFamily="18" charset="0"/>
              </a:rPr>
              <a:t>Enterprise DCF Model or </a:t>
            </a:r>
            <a:r>
              <a:rPr lang="en-US" b="1" dirty="0" err="1" smtClean="0">
                <a:latin typeface="Garamond" panose="02020404030301010803" pitchFamily="18" charset="0"/>
              </a:rPr>
              <a:t>FCFF</a:t>
            </a:r>
            <a:r>
              <a:rPr lang="en-US" b="1" dirty="0" smtClean="0">
                <a:latin typeface="Garamond" panose="02020404030301010803" pitchFamily="18" charset="0"/>
              </a:rPr>
              <a:t> and </a:t>
            </a:r>
            <a:r>
              <a:rPr lang="en-US" b="1" dirty="0" err="1" smtClean="0">
                <a:latin typeface="Garamond" panose="02020404030301010803" pitchFamily="18" charset="0"/>
              </a:rPr>
              <a:t>WACC</a:t>
            </a:r>
            <a:r>
              <a:rPr lang="en-US" b="1" dirty="0" smtClean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(Cash flows available to all investors after meeting CE and WC requirements.)</a:t>
            </a:r>
          </a:p>
          <a:p>
            <a:pPr lvl="1"/>
            <a:r>
              <a:rPr lang="en-US" b="1" dirty="0" smtClean="0">
                <a:latin typeface="Garamond" panose="02020404030301010803" pitchFamily="18" charset="0"/>
              </a:rPr>
              <a:t>Equity DCF Model or </a:t>
            </a:r>
            <a:r>
              <a:rPr lang="en-US" b="1" dirty="0" err="1" smtClean="0">
                <a:latin typeface="Garamond" panose="02020404030301010803" pitchFamily="18" charset="0"/>
              </a:rPr>
              <a:t>FCFE</a:t>
            </a:r>
            <a:r>
              <a:rPr lang="en-US" b="1" dirty="0" smtClean="0">
                <a:latin typeface="Garamond" panose="02020404030301010803" pitchFamily="18" charset="0"/>
              </a:rPr>
              <a:t> and </a:t>
            </a:r>
            <a:r>
              <a:rPr lang="en-US" b="1" dirty="0" err="1" smtClean="0">
                <a:latin typeface="Garamond" panose="02020404030301010803" pitchFamily="18" charset="0"/>
              </a:rPr>
              <a:t>Ke</a:t>
            </a:r>
            <a:r>
              <a:rPr lang="en-US" b="1" dirty="0" smtClean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(Cash flow available for distribution to equity shareholders after the firm has met its obligation toward other investors like Debt, Pref. Equity and CE &amp; WC requirements.)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Adjusted PV Model and Economic Profit Model. Economic Profit = Invested Capital (</a:t>
            </a:r>
            <a:r>
              <a:rPr lang="en-US" dirty="0" err="1" smtClean="0">
                <a:latin typeface="Garamond" panose="02020404030301010803" pitchFamily="18" charset="0"/>
              </a:rPr>
              <a:t>ROIC</a:t>
            </a:r>
            <a:r>
              <a:rPr lang="en-US" dirty="0" smtClean="0">
                <a:latin typeface="Garamond" panose="02020404030301010803" pitchFamily="18" charset="0"/>
              </a:rPr>
              <a:t> – </a:t>
            </a:r>
            <a:r>
              <a:rPr lang="en-US" dirty="0" err="1" smtClean="0">
                <a:latin typeface="Garamond" panose="02020404030301010803" pitchFamily="18" charset="0"/>
              </a:rPr>
              <a:t>WACC</a:t>
            </a:r>
            <a:r>
              <a:rPr lang="en-US" dirty="0" smtClean="0">
                <a:latin typeface="Garamond" panose="02020404030301010803" pitchFamily="18" charset="0"/>
              </a:rPr>
              <a:t>)</a:t>
            </a:r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6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Approaches to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Garamond" panose="02020404030301010803" pitchFamily="18" charset="0"/>
              </a:rPr>
              <a:t>Relative Valuation: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 EV Multiples</a:t>
            </a:r>
            <a:r>
              <a:rPr lang="en-US" dirty="0" smtClean="0">
                <a:latin typeface="Garamond" panose="02020404030301010803" pitchFamily="18" charset="0"/>
              </a:rPr>
              <a:t> like EV/Sales, EV/EBITDA, EV/EBIT. </a:t>
            </a:r>
            <a:r>
              <a:rPr lang="en-US" b="1" dirty="0" smtClean="0">
                <a:latin typeface="Garamond" panose="02020404030301010803" pitchFamily="18" charset="0"/>
              </a:rPr>
              <a:t>Equity Multiples</a:t>
            </a:r>
            <a:r>
              <a:rPr lang="en-US" dirty="0" smtClean="0">
                <a:latin typeface="Garamond" panose="02020404030301010803" pitchFamily="18" charset="0"/>
              </a:rPr>
              <a:t> like P/E and P/B. or </a:t>
            </a:r>
            <a:r>
              <a:rPr lang="en-US" b="1" dirty="0" smtClean="0">
                <a:latin typeface="Garamond" panose="02020404030301010803" pitchFamily="18" charset="0"/>
              </a:rPr>
              <a:t>Trading Comparable Company Analysis or Simply Trading Comps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Simple Valuation Formula V</a:t>
            </a:r>
            <a:r>
              <a:rPr lang="en-US" baseline="-25000" dirty="0" smtClean="0">
                <a:latin typeface="Garamond" panose="02020404030301010803" pitchFamily="18" charset="0"/>
              </a:rPr>
              <a:t>T</a:t>
            </a:r>
            <a:r>
              <a:rPr lang="en-US" dirty="0" smtClean="0">
                <a:latin typeface="Garamond" panose="02020404030301010803" pitchFamily="18" charset="0"/>
              </a:rPr>
              <a:t> = X</a:t>
            </a:r>
            <a:r>
              <a:rPr lang="en-US" baseline="-25000" dirty="0" smtClean="0">
                <a:latin typeface="Garamond" panose="02020404030301010803" pitchFamily="18" charset="0"/>
              </a:rPr>
              <a:t>T</a:t>
            </a:r>
            <a:r>
              <a:rPr lang="en-US" dirty="0" smtClean="0">
                <a:latin typeface="Garamond" panose="02020404030301010803" pitchFamily="18" charset="0"/>
              </a:rPr>
              <a:t> *(V</a:t>
            </a:r>
            <a:r>
              <a:rPr lang="en-US" baseline="-25000" dirty="0" smtClean="0">
                <a:latin typeface="Garamond" panose="02020404030301010803" pitchFamily="18" charset="0"/>
              </a:rPr>
              <a:t>C</a:t>
            </a:r>
            <a:r>
              <a:rPr lang="en-US" dirty="0" smtClean="0">
                <a:latin typeface="Garamond" panose="02020404030301010803" pitchFamily="18" charset="0"/>
              </a:rPr>
              <a:t> / X</a:t>
            </a:r>
            <a:r>
              <a:rPr lang="en-US" baseline="-25000" dirty="0" smtClean="0">
                <a:latin typeface="Garamond" panose="02020404030301010803" pitchFamily="18" charset="0"/>
              </a:rPr>
              <a:t>C</a:t>
            </a:r>
            <a:r>
              <a:rPr lang="en-US" dirty="0" smtClean="0">
                <a:latin typeface="Garamond" panose="02020404030301010803" pitchFamily="18" charset="0"/>
              </a:rPr>
              <a:t>), where V</a:t>
            </a:r>
            <a:r>
              <a:rPr lang="en-US" baseline="-25000" dirty="0" smtClean="0">
                <a:latin typeface="Garamond" panose="02020404030301010803" pitchFamily="18" charset="0"/>
              </a:rPr>
              <a:t>T  </a:t>
            </a:r>
            <a:r>
              <a:rPr lang="en-US" dirty="0" smtClean="0">
                <a:latin typeface="Garamond" panose="02020404030301010803" pitchFamily="18" charset="0"/>
              </a:rPr>
              <a:t> = Value of the target firm, X</a:t>
            </a:r>
            <a:r>
              <a:rPr lang="en-US" baseline="-25000" dirty="0" smtClean="0">
                <a:latin typeface="Garamond" panose="02020404030301010803" pitchFamily="18" charset="0"/>
              </a:rPr>
              <a:t>T</a:t>
            </a:r>
            <a:r>
              <a:rPr lang="en-US" dirty="0" smtClean="0">
                <a:latin typeface="Garamond" panose="02020404030301010803" pitchFamily="18" charset="0"/>
              </a:rPr>
              <a:t> is the observed variable of the target firm like EBITDA, V</a:t>
            </a:r>
            <a:r>
              <a:rPr lang="en-US" baseline="-25000" dirty="0" smtClean="0">
                <a:latin typeface="Garamond" panose="02020404030301010803" pitchFamily="18" charset="0"/>
              </a:rPr>
              <a:t>c</a:t>
            </a:r>
            <a:r>
              <a:rPr lang="en-US" dirty="0" smtClean="0">
                <a:latin typeface="Garamond" panose="02020404030301010803" pitchFamily="18" charset="0"/>
              </a:rPr>
              <a:t> is the value of the comparable firm and X</a:t>
            </a:r>
            <a:r>
              <a:rPr lang="en-US" baseline="-25000" dirty="0" smtClean="0">
                <a:latin typeface="Garamond" panose="02020404030301010803" pitchFamily="18" charset="0"/>
              </a:rPr>
              <a:t>c</a:t>
            </a:r>
            <a:r>
              <a:rPr lang="en-US" dirty="0" smtClean="0">
                <a:latin typeface="Garamond" panose="02020404030301010803" pitchFamily="18" charset="0"/>
              </a:rPr>
              <a:t> is the observed variable of the comparable firm.</a:t>
            </a:r>
          </a:p>
          <a:p>
            <a:pPr lvl="1"/>
            <a:r>
              <a:rPr lang="en-US" b="1" dirty="0" smtClean="0">
                <a:latin typeface="Garamond" panose="02020404030301010803" pitchFamily="18" charset="0"/>
              </a:rPr>
              <a:t>Transaction Multiples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Option Valuation Approach</a:t>
            </a:r>
            <a:r>
              <a:rPr lang="en-US" dirty="0" smtClean="0">
                <a:latin typeface="Garamond" panose="02020404030301010803" pitchFamily="18" charset="0"/>
              </a:rPr>
              <a:t>: Black and Scholes Model for Call or Put Option.</a:t>
            </a:r>
          </a:p>
          <a:p>
            <a:pPr marL="457200" lvl="1" indent="0">
              <a:buNone/>
            </a:pPr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0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Bias and Uncertainty in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Prior Perception about the company. Like Already read something about the company good or bad or undervalued or overvalued.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Current market price of the company indirectly influences our valuation.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Institutional</a:t>
            </a:r>
            <a:r>
              <a:rPr lang="en-US" dirty="0" smtClean="0">
                <a:latin typeface="Garamond" panose="02020404030301010803" pitchFamily="18" charset="0"/>
              </a:rPr>
              <a:t> pressures influences our valuation.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To mitigate bias effects, one should avoid pre-commitments to valuation, delink valuation from reward or punishments or </a:t>
            </a:r>
            <a:r>
              <a:rPr lang="en-US" b="1" dirty="0" smtClean="0">
                <a:latin typeface="Garamond" panose="02020404030301010803" pitchFamily="18" charset="0"/>
              </a:rPr>
              <a:t>other institutional pressures.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Risk of Estimation or Firm specific or Macro economic uncertainty. To avoid, better give valuation ranges through scenario analysis.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66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Valuation Complexity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As </a:t>
            </a:r>
            <a:r>
              <a:rPr lang="en-US" dirty="0" err="1" smtClean="0">
                <a:latin typeface="Garamond" panose="02020404030301010803" pitchFamily="18" charset="0"/>
              </a:rPr>
              <a:t>Aswath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Damodaran</a:t>
            </a:r>
            <a:r>
              <a:rPr lang="en-US" dirty="0" smtClean="0">
                <a:latin typeface="Garamond" panose="02020404030301010803" pitchFamily="18" charset="0"/>
              </a:rPr>
              <a:t> says: “</a:t>
            </a:r>
            <a:r>
              <a:rPr lang="en-US" b="1" i="1" dirty="0" smtClean="0">
                <a:latin typeface="Garamond" panose="02020404030301010803" pitchFamily="18" charset="0"/>
              </a:rPr>
              <a:t>if we value an asset with three inputs we should not use five. If we can value a company with three years of cash flow forecasts, forecasting 10 years of cash flows is asking for trouble.”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r>
              <a:rPr lang="en-US" dirty="0" smtClean="0">
                <a:latin typeface="Garamond" panose="02020404030301010803" pitchFamily="18" charset="0"/>
              </a:rPr>
              <a:t>In other words, keep it simple. 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The investment banking industry employs three basic valuation models for EV calculation of firm: Relative valuation (Trading Comps), Transaction multiples or Comps and DCF Valuation.</a:t>
            </a:r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36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Information Needed for 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aramond" panose="02020404030301010803" pitchFamily="18" charset="0"/>
              </a:rPr>
              <a:t>Industry and Competition:</a:t>
            </a:r>
            <a:r>
              <a:rPr lang="en-US" dirty="0" smtClean="0">
                <a:latin typeface="Garamond" panose="02020404030301010803" pitchFamily="18" charset="0"/>
              </a:rPr>
              <a:t> Market (Size, trends, structure), Characteristics of competitors and nature of competition.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Operations:</a:t>
            </a:r>
            <a:r>
              <a:rPr lang="en-US" dirty="0" smtClean="0">
                <a:latin typeface="Garamond" panose="02020404030301010803" pitchFamily="18" charset="0"/>
              </a:rPr>
              <a:t> Products and Services, Cost structure, suppliers, R&amp;D etc.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Marketing and Sales:</a:t>
            </a:r>
            <a:r>
              <a:rPr lang="en-US" dirty="0" smtClean="0">
                <a:latin typeface="Garamond" panose="02020404030301010803" pitchFamily="18" charset="0"/>
              </a:rPr>
              <a:t> Customer base, Sales trends, pricing policies etc.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Human Resources:</a:t>
            </a:r>
            <a:r>
              <a:rPr lang="en-US" dirty="0" smtClean="0">
                <a:latin typeface="Garamond" panose="02020404030301010803" pitchFamily="18" charset="0"/>
              </a:rPr>
              <a:t> Employee strength and compensation policies.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Historical Financial Information:</a:t>
            </a:r>
            <a:r>
              <a:rPr lang="en-US" dirty="0" smtClean="0">
                <a:latin typeface="Garamond" panose="02020404030301010803" pitchFamily="18" charset="0"/>
              </a:rPr>
              <a:t> Historical (IS, BS, CF), information about exceptional and extraordinary items.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Financial Projections: </a:t>
            </a:r>
            <a:r>
              <a:rPr lang="en-US" dirty="0" smtClean="0">
                <a:latin typeface="Garamond" panose="02020404030301010803" pitchFamily="18" charset="0"/>
              </a:rPr>
              <a:t>Projected (IS, BS and CF) and other assumptions.</a:t>
            </a:r>
            <a:endParaRPr lang="en-US" b="1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1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aramond" panose="02020404030301010803" pitchFamily="18" charset="0"/>
              </a:rPr>
              <a:t>Intrinsic Value (IV) Vs Market Value (MV)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Intrinsic Value based on fundamentals whereas market value is affected by emotions and market mispricing.</a:t>
            </a:r>
          </a:p>
          <a:p>
            <a:r>
              <a:rPr lang="en-US" b="1" dirty="0" smtClean="0">
                <a:latin typeface="Garamond" panose="02020404030301010803" pitchFamily="18" charset="0"/>
              </a:rPr>
              <a:t>Company exploits such deviations in IV and MV by: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Issuing additional share capital when MV greater than IV.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Buying back shares when MV is less than IV.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Paying for acquisitions with shares instead of cash, when share is overvalued.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Divesting particular business when market multiples are higher than justified by fundamentals.</a:t>
            </a: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3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455" y="2193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latin typeface="Garamond" panose="02020404030301010803" pitchFamily="18" charset="0"/>
              </a:rPr>
              <a:t>Thank You</a:t>
            </a:r>
            <a:endParaRPr lang="en-US" sz="60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00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1163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Garamond</vt:lpstr>
      <vt:lpstr>Office Theme</vt:lpstr>
      <vt:lpstr>Business Analysis and Valuation (BAV)</vt:lpstr>
      <vt:lpstr>Corporate Valuation or Firm Valuation or Business Valuation</vt:lpstr>
      <vt:lpstr>Corporate Valuation or Firm Valuation or Business Valuation</vt:lpstr>
      <vt:lpstr>Purpose of corporate valuation</vt:lpstr>
      <vt:lpstr>Context of Valuation – Why Valuation is done</vt:lpstr>
      <vt:lpstr>Context of Valuation – Why Valuation is done</vt:lpstr>
      <vt:lpstr>Approaches to Valuation</vt:lpstr>
      <vt:lpstr>Approaches to Valuation</vt:lpstr>
      <vt:lpstr>Approaches to Valuation</vt:lpstr>
      <vt:lpstr>Approaches to Valuation</vt:lpstr>
      <vt:lpstr>Bias and Uncertainty in Valuation</vt:lpstr>
      <vt:lpstr>Valuation Complexity</vt:lpstr>
      <vt:lpstr>Information Needed for Valuation</vt:lpstr>
      <vt:lpstr>Intrinsic Value (IV) Vs Market Value (MV)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Analysis and Valuation (BAV)</dc:title>
  <dc:creator>Dell</dc:creator>
  <cp:lastModifiedBy>Dell</cp:lastModifiedBy>
  <cp:revision>61</cp:revision>
  <dcterms:created xsi:type="dcterms:W3CDTF">2017-08-02T07:05:53Z</dcterms:created>
  <dcterms:modified xsi:type="dcterms:W3CDTF">2017-08-02T10:20:15Z</dcterms:modified>
</cp:coreProperties>
</file>