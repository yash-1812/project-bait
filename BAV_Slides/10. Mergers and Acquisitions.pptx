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4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03DC603-C5F6-4A82-B252-8D9BD6F91242}" type="datetimeFigureOut">
              <a:rPr lang="en-US" smtClean="0"/>
              <a:pPr/>
              <a:t>10-Nov-17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172200" cy="1524000"/>
          </a:xfrm>
        </p:spPr>
        <p:txBody>
          <a:bodyPr/>
          <a:lstStyle/>
          <a:p>
            <a:r>
              <a:rPr lang="en-US" sz="4000" dirty="0"/>
              <a:t>Mergers and Acquisitions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smtClean="0"/>
              <a:t>By:</a:t>
            </a:r>
          </a:p>
          <a:p>
            <a:r>
              <a:rPr lang="en-US" b="1" dirty="0" smtClean="0"/>
              <a:t>Dr. Saurabh Chadha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Mergers and acquisitions have long been a popular form of </a:t>
            </a:r>
            <a:r>
              <a:rPr lang="en-US" dirty="0" smtClean="0"/>
              <a:t>corporate </a:t>
            </a:r>
            <a:r>
              <a:rPr lang="en-US" dirty="0"/>
              <a:t>investment that </a:t>
            </a:r>
            <a:r>
              <a:rPr lang="en-US" dirty="0" smtClean="0"/>
              <a:t>provides </a:t>
            </a:r>
            <a:r>
              <a:rPr lang="en-US" dirty="0"/>
              <a:t>a healthy return to target </a:t>
            </a:r>
            <a:r>
              <a:rPr lang="en-US" dirty="0" smtClean="0"/>
              <a:t>stockholders.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However, their value to acquiring shareholders is less understood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Many skeptics point </a:t>
            </a:r>
            <a:r>
              <a:rPr lang="en-US" dirty="0"/>
              <a:t>out that given the hefty premiums paid to target stockholders, acquisitions tend </a:t>
            </a:r>
            <a:r>
              <a:rPr lang="en-US" dirty="0" smtClean="0"/>
              <a:t>to be </a:t>
            </a:r>
            <a:r>
              <a:rPr lang="en-US" dirty="0"/>
              <a:t>negative-valued investments for acquiring stockholders.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1600200"/>
            <a:ext cx="8714509" cy="45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0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this chapter we focus primarily on the use of financial statement data and </a:t>
            </a:r>
            <a:r>
              <a:rPr lang="en-US" dirty="0" smtClean="0"/>
              <a:t>analysis: 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Directed </a:t>
            </a:r>
            <a:r>
              <a:rPr lang="en-US" sz="2000" b="1" dirty="0"/>
              <a:t>at evaluating whether a merger creates value for the acquiring firm’s stockholders</a:t>
            </a:r>
            <a:r>
              <a:rPr lang="en-US" sz="2000" b="1" dirty="0" smtClean="0"/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The topic of whether acquisitions create value for acquirers focuses on evaluating 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b="1" dirty="0" smtClean="0">
                <a:solidFill>
                  <a:srgbClr val="FF0000"/>
                </a:solidFill>
              </a:rPr>
              <a:t>Motivations for Acquisitions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b="1" dirty="0" smtClean="0">
                <a:solidFill>
                  <a:srgbClr val="FF0000"/>
                </a:solidFill>
              </a:rPr>
              <a:t>Pricing of offers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b="1" dirty="0" smtClean="0">
                <a:solidFill>
                  <a:srgbClr val="FF0000"/>
                </a:solidFill>
              </a:rPr>
              <a:t>Forms of payments</a:t>
            </a:r>
          </a:p>
          <a:p>
            <a:pPr marL="1428750" lvl="2" indent="-514350" algn="just">
              <a:buFont typeface="+mj-lt"/>
              <a:buAutoNum type="arabicPeriod"/>
            </a:pPr>
            <a:r>
              <a:rPr lang="en-US" sz="2000" b="1" dirty="0" smtClean="0">
                <a:solidFill>
                  <a:srgbClr val="FF0000"/>
                </a:solidFill>
              </a:rPr>
              <a:t>Likelihood that an offer will be successful</a:t>
            </a:r>
            <a:endParaRPr lang="en-US" sz="2000" b="1" dirty="0">
              <a:solidFill>
                <a:srgbClr val="FF0000"/>
              </a:solidFill>
            </a:endParaRPr>
          </a:p>
          <a:p>
            <a:pPr marL="1428750" lvl="2" indent="-514350" algn="just">
              <a:buFont typeface="+mj-lt"/>
              <a:buAutoNum type="arabicPeriod"/>
            </a:pPr>
            <a:endParaRPr lang="en-US" sz="2000" b="1" dirty="0">
              <a:solidFill>
                <a:srgbClr val="FF0000"/>
              </a:solidFill>
            </a:endParaRPr>
          </a:p>
          <a:p>
            <a:pPr marL="114300" indent="0" algn="just"/>
            <a:r>
              <a:rPr lang="en-US" sz="2000" b="1" dirty="0" smtClean="0"/>
              <a:t>Example:</a:t>
            </a:r>
            <a:r>
              <a:rPr lang="en-US" sz="2000" dirty="0" smtClean="0"/>
              <a:t> Pfizer Inc’s acquisition of Wyeth in 2009 (cash and stock deal approx. $68 billion</a:t>
            </a:r>
            <a:r>
              <a:rPr lang="en-US" sz="2000" dirty="0"/>
              <a:t>), </a:t>
            </a:r>
            <a:r>
              <a:rPr lang="en-US" sz="2000" b="1" dirty="0" smtClean="0"/>
              <a:t>Strategy:</a:t>
            </a:r>
            <a:r>
              <a:rPr lang="en-US" sz="2000" dirty="0" smtClean="0"/>
              <a:t> Creating </a:t>
            </a:r>
            <a:r>
              <a:rPr lang="en-US" sz="2000" dirty="0"/>
              <a:t>the World's Premier Biopharmaceutical Company</a:t>
            </a:r>
            <a:endParaRPr lang="en-US" sz="200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76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Taking Advantage of Economies of </a:t>
            </a:r>
            <a:r>
              <a:rPr lang="en-US" b="1" dirty="0" smtClean="0"/>
              <a:t>Scale or Synergy </a:t>
            </a:r>
            <a:r>
              <a:rPr lang="en-US" dirty="0" smtClean="0"/>
              <a:t>(Pfizer did not consider this the primary reason for Wyeth’s acquisition, management did forecast potential operational savings of $4 billion from combining the operations of the two firms)</a:t>
            </a: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Improving Target </a:t>
            </a:r>
            <a:r>
              <a:rPr lang="en-US" b="1" dirty="0" smtClean="0"/>
              <a:t>Management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Combining Complementary </a:t>
            </a:r>
            <a:r>
              <a:rPr lang="en-US" b="1" dirty="0" smtClean="0"/>
              <a:t>Resources </a:t>
            </a:r>
            <a:r>
              <a:rPr lang="en-US" dirty="0" smtClean="0"/>
              <a:t>(Pfizer viewed Wyeth’s strong presence in biotech drugs, vaccines and consumer health products as complementary to its own primarily prescription medicine focus, with the combination resulting in a broadly diversified health care company)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Motivation for M&amp;A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0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Capturing Tax </a:t>
            </a:r>
            <a:r>
              <a:rPr lang="en-US" b="1" dirty="0" smtClean="0"/>
              <a:t>Benefits (</a:t>
            </a:r>
            <a:r>
              <a:rPr lang="en-US" dirty="0" smtClean="0"/>
              <a:t>Operating </a:t>
            </a:r>
            <a:r>
              <a:rPr lang="en-US" dirty="0"/>
              <a:t>tax </a:t>
            </a:r>
            <a:r>
              <a:rPr lang="en-US" dirty="0" smtClean="0"/>
              <a:t>losses and loss carryforwards can be </a:t>
            </a:r>
            <a:r>
              <a:rPr lang="en-US" dirty="0"/>
              <a:t>offset against </a:t>
            </a:r>
            <a:r>
              <a:rPr lang="en-US" dirty="0" smtClean="0"/>
              <a:t>the target’s </a:t>
            </a:r>
            <a:r>
              <a:rPr lang="en-US" dirty="0"/>
              <a:t>taxable income / tax shield that comes from increasing leverage for the target </a:t>
            </a:r>
            <a:r>
              <a:rPr lang="en-US" dirty="0" smtClean="0"/>
              <a:t>firm)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Providing Low-Cost Financing to a Financially Constrained </a:t>
            </a:r>
            <a:r>
              <a:rPr lang="en-US" b="1" dirty="0" smtClean="0"/>
              <a:t>Target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Creating value through restructuring and break –ups.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Penetrating new geographies (</a:t>
            </a:r>
            <a:r>
              <a:rPr lang="en-US" dirty="0" smtClean="0"/>
              <a:t>Cross-border acquisitions)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Motivation for M&amp;A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0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Increasing Product-Market Rents </a:t>
            </a:r>
            <a:r>
              <a:rPr lang="en-US" b="1" dirty="0" smtClean="0"/>
              <a:t>(</a:t>
            </a:r>
            <a:r>
              <a:rPr lang="en-US" dirty="0" smtClean="0"/>
              <a:t>By </a:t>
            </a:r>
            <a:r>
              <a:rPr lang="en-US" dirty="0"/>
              <a:t>merging and becoming a dominant firm in the industry</a:t>
            </a:r>
            <a:r>
              <a:rPr lang="en-US" dirty="0" smtClean="0"/>
              <a:t>, two </a:t>
            </a:r>
            <a:r>
              <a:rPr lang="en-US" dirty="0"/>
              <a:t>smaller firms can collude to restrict their output and raise prices</a:t>
            </a:r>
            <a:r>
              <a:rPr lang="en-US" dirty="0" smtClean="0"/>
              <a:t>, thereby </a:t>
            </a:r>
            <a:r>
              <a:rPr lang="en-US" dirty="0"/>
              <a:t>increasing their </a:t>
            </a:r>
            <a:r>
              <a:rPr lang="en-US" dirty="0" smtClean="0"/>
              <a:t>profits</a:t>
            </a:r>
            <a:r>
              <a:rPr lang="en-US" b="1" dirty="0" smtClean="0"/>
              <a:t>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/>
              <a:t>This circumvents problems that arise in cartels </a:t>
            </a:r>
            <a:r>
              <a:rPr lang="en-US" sz="2000" dirty="0" smtClean="0"/>
              <a:t>of independent </a:t>
            </a:r>
            <a:r>
              <a:rPr lang="en-US" sz="2000" dirty="0"/>
              <a:t>firms, where firms have incentives to cheat on the cartel and </a:t>
            </a:r>
            <a:r>
              <a:rPr lang="en-US" sz="2000" dirty="0" smtClean="0"/>
              <a:t>increase their output.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/>
              <a:t>While product-market rents make sense for firms as a motive for merging, </a:t>
            </a:r>
            <a:r>
              <a:rPr lang="en-US" sz="2000" dirty="0" smtClean="0"/>
              <a:t>the two </a:t>
            </a:r>
            <a:r>
              <a:rPr lang="en-US" sz="2000" dirty="0"/>
              <a:t>partners are unlikely to announce their intentions when they explain the </a:t>
            </a:r>
            <a:r>
              <a:rPr lang="en-US" sz="2000" dirty="0" smtClean="0"/>
              <a:t>merger to </a:t>
            </a:r>
            <a:r>
              <a:rPr lang="en-US" sz="2000" dirty="0"/>
              <a:t>their investors, since most countries have antitrust laws which </a:t>
            </a:r>
            <a:r>
              <a:rPr lang="en-US" sz="2000" dirty="0" smtClean="0"/>
              <a:t>regulate mergers </a:t>
            </a:r>
            <a:r>
              <a:rPr lang="en-US" sz="2000" dirty="0"/>
              <a:t>between two firms in the same industry.</a:t>
            </a:r>
            <a:endParaRPr lang="en-US" sz="20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Motivation for M&amp;A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8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Increasing Product-Market Rents </a:t>
            </a:r>
            <a:r>
              <a:rPr lang="en-US" b="1" dirty="0" smtClean="0"/>
              <a:t>(</a:t>
            </a:r>
            <a:r>
              <a:rPr lang="en-US" dirty="0" smtClean="0"/>
              <a:t>By </a:t>
            </a:r>
            <a:r>
              <a:rPr lang="en-US" dirty="0"/>
              <a:t>merging and becoming a dominant firm in the industry</a:t>
            </a:r>
            <a:r>
              <a:rPr lang="en-US" dirty="0" smtClean="0"/>
              <a:t>, two </a:t>
            </a:r>
            <a:r>
              <a:rPr lang="en-US" dirty="0"/>
              <a:t>smaller firms can collude to restrict their output and raise prices</a:t>
            </a:r>
            <a:r>
              <a:rPr lang="en-US" dirty="0" smtClean="0"/>
              <a:t>, thereby </a:t>
            </a:r>
            <a:r>
              <a:rPr lang="en-US" dirty="0"/>
              <a:t>increasing their </a:t>
            </a:r>
            <a:r>
              <a:rPr lang="en-US" dirty="0" smtClean="0"/>
              <a:t>profits</a:t>
            </a:r>
            <a:r>
              <a:rPr lang="en-US" b="1" dirty="0" smtClean="0"/>
              <a:t>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Anti-competitive concerns were potentially significant for Pfizer’s acquisition of Wyeth, since at the time of announcement, Pfizer and Wyeth were the largest and twelfth largest pharmaceutical companies in the world.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Merger approval was required by the US federal Trade commission, European commission and regulatory bodies in China, Australia and Canada.</a:t>
            </a:r>
          </a:p>
          <a:p>
            <a:pPr marL="514350" indent="-457200" algn="just">
              <a:buFont typeface="Arial" panose="020B0604020202020204" pitchFamily="34" charset="0"/>
              <a:buChar char="•"/>
            </a:pPr>
            <a:r>
              <a:rPr lang="en-US" sz="2200" dirty="0" smtClean="0"/>
              <a:t>Cash rich companies goes for M&amp;A to deploy their funds as they have pressure from shareholders to distribute surplus funds as dividends. Another excuse is diversification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Motivation for M&amp;A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Industry-wide and company-specific factors in 2009 that motivated Pfizer to acquire Wyeth.</a:t>
            </a:r>
          </a:p>
          <a:p>
            <a:pPr marL="0" indent="0" algn="just"/>
            <a:r>
              <a:rPr lang="en-US" sz="2800" b="1" dirty="0" smtClean="0"/>
              <a:t>Industry-wide factors: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Competition from generic drugs increasing and increased demand from lower-priced generics.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traditional strategy of relying on a few blockbuster drugs became obsolete due to increased competition from generics.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Specialty manufacturers are successful in gaining approval for drugs that closely replicated the blockbuster drugs without infringing on its patent.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Motivation for Pfizer’s Acquisition of Wyeth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915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sz="2800" b="1" dirty="0" smtClean="0"/>
              <a:t>Industry-wide factors: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Tougher regulatory approval climate made in-house development of new ground breaking drugs more expensive, time-consuming and risky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Made Pfizer to acquire proven products rather to develop them in-house.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Increase in global demand-high growth opportunities in Latin America, Middle East and China.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rapidly growing biotech segment represented an attractive diversification option for large pharmaceutical companies. 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Motivation for Pfizer’s Acquisition of Wyeth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212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/>
            <a:r>
              <a:rPr lang="en-US" sz="2800" b="1" dirty="0" smtClean="0"/>
              <a:t>Company-specific factors: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impending loss of patent protection for the blockbuster drug Lipitor (the world’s top selling drug, which accounted for 29% of Pfizer’s pharmaceutical revenues in 2008).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Combined with the Pfizer inability to create a successful follow-up drug threatened to create a huge revenue hole for the company in the next five years.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Also, torcetrapib, a promising potential replacement, had recently failed in late-stage testing.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This approaching issue, along with failed high quality pipeline, weakening company stock pressuring management to make a big move.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Motivation for Pfizer’s Acquisition of Wyeth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7130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Historically, as well, Pfizer had grown by acquisition rather than by developing its own blockbuster drugs.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Major Acquisitions like Warner Lambert (2000 $89 billion) and Pharmacia (2003 $60 billion) keeping its product line full and giving it status as the world's largest pharmaceutical company.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Operationally through Wyeth’s acquisition, in the combined company no drug would represent more than 10% of total revenue cushioning sudden future loss of blockbuster like Lipitor.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Global presence in both developed and emerging markets.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Potential cost savings of $4 billion from increased economies of scale (layoffs (20,000 jobs) and deploying redundant operations.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Motivation for Pfizer’s Acquisition of Wyeth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935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smtClean="0"/>
              <a:t>acquirer must </a:t>
            </a:r>
            <a:r>
              <a:rPr lang="en-US" dirty="0"/>
              <a:t>be careful to avoid overpaying for the target.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Overpayment </a:t>
            </a:r>
            <a:r>
              <a:rPr lang="en-US" dirty="0"/>
              <a:t>makes the </a:t>
            </a:r>
            <a:r>
              <a:rPr lang="en-US" dirty="0" smtClean="0"/>
              <a:t>transaction highly </a:t>
            </a:r>
            <a:r>
              <a:rPr lang="en-US" dirty="0"/>
              <a:t>desirable and profitable for target </a:t>
            </a:r>
            <a:r>
              <a:rPr lang="en-US" dirty="0" smtClean="0"/>
              <a:t>stockholders.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But </a:t>
            </a:r>
            <a:r>
              <a:rPr lang="en-US" sz="2400" dirty="0"/>
              <a:t>it diminishes the value of </a:t>
            </a:r>
            <a:r>
              <a:rPr lang="en-US" sz="2400" dirty="0" smtClean="0"/>
              <a:t>the deal </a:t>
            </a:r>
            <a:r>
              <a:rPr lang="en-US" sz="2400" dirty="0"/>
              <a:t>to acquiring stockholders</a:t>
            </a:r>
            <a:r>
              <a:rPr lang="en-US" sz="2400" dirty="0" smtClean="0"/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0" indent="0" algn="just"/>
            <a:r>
              <a:rPr lang="en-US" dirty="0" smtClean="0"/>
              <a:t>A </a:t>
            </a:r>
            <a:r>
              <a:rPr lang="en-US" dirty="0"/>
              <a:t>financial analyst can use the following methods to </a:t>
            </a:r>
            <a:r>
              <a:rPr lang="en-US" dirty="0" smtClean="0"/>
              <a:t>assess whether </a:t>
            </a:r>
            <a:r>
              <a:rPr lang="en-US" dirty="0"/>
              <a:t>the acquiring firm is overpaying for the </a:t>
            </a:r>
            <a:r>
              <a:rPr lang="en-US" dirty="0" smtClean="0"/>
              <a:t>target:</a:t>
            </a:r>
            <a:endParaRPr lang="en-US" sz="2200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52253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Premium Offered to Target </a:t>
            </a:r>
            <a:r>
              <a:rPr lang="en-US" b="1" dirty="0" smtClean="0"/>
              <a:t>Stockholders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To </a:t>
            </a:r>
            <a:r>
              <a:rPr lang="en-US" dirty="0"/>
              <a:t>assess whether the acquirer is overpaying for a target is to </a:t>
            </a:r>
            <a:r>
              <a:rPr lang="en-US" dirty="0" smtClean="0"/>
              <a:t>compare the </a:t>
            </a:r>
            <a:r>
              <a:rPr lang="en-US" dirty="0"/>
              <a:t>premium offered to target stockholders to premiums offered in similar transactions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If the acquirer offers a relatively high premium, the analyst is typically led to </a:t>
            </a:r>
            <a:r>
              <a:rPr lang="en-US" dirty="0" smtClean="0"/>
              <a:t>conclude that </a:t>
            </a:r>
            <a:r>
              <a:rPr lang="en-US" dirty="0"/>
              <a:t>the transaction is less likely to create value for acquiring stockholders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354851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799"/>
            <a:ext cx="6629400" cy="510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0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above figure shows </a:t>
            </a:r>
            <a:r>
              <a:rPr lang="en-US" dirty="0"/>
              <a:t>the mean and median </a:t>
            </a:r>
            <a:r>
              <a:rPr lang="en-US" dirty="0" smtClean="0"/>
              <a:t>premiums paid </a:t>
            </a:r>
            <a:r>
              <a:rPr lang="en-US" dirty="0"/>
              <a:t>for U.S. targets between </a:t>
            </a:r>
            <a:r>
              <a:rPr lang="en-US" dirty="0" smtClean="0"/>
              <a:t>1980 </a:t>
            </a:r>
            <a:r>
              <a:rPr lang="en-US" dirty="0"/>
              <a:t>and </a:t>
            </a:r>
            <a:r>
              <a:rPr lang="en-US" dirty="0" smtClean="0"/>
              <a:t>2010 </a:t>
            </a:r>
            <a:r>
              <a:rPr lang="en-US" dirty="0"/>
              <a:t>relative to stock prices one week prior </a:t>
            </a:r>
            <a:r>
              <a:rPr lang="en-US" dirty="0" smtClean="0"/>
              <a:t>to the </a:t>
            </a:r>
            <a:r>
              <a:rPr lang="en-US" dirty="0"/>
              <a:t>first acquisition announcement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Mean and Median premiums have to be interpreted with caution since there is considerable variation across transactions, making it difficult to use these estimates as a benchmark.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67155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Premiums can be misleading if an offer is anticipated by investors.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As a result, the stock price run-up for the target will then tend to make estimates of the premium appear relatively low. 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This limitation can be partially offset by using </a:t>
            </a:r>
            <a:r>
              <a:rPr lang="en-US" sz="2400" dirty="0" smtClean="0"/>
              <a:t>target stock </a:t>
            </a:r>
            <a:r>
              <a:rPr lang="en-US" sz="2400" dirty="0"/>
              <a:t>prices one month prior to the acquisition </a:t>
            </a:r>
            <a:r>
              <a:rPr lang="en-US" sz="2400" dirty="0" smtClean="0"/>
              <a:t>offer.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However, in some cases offers may have been anticipated for even longer </a:t>
            </a:r>
            <a:r>
              <a:rPr lang="en-US" sz="2400" dirty="0" smtClean="0"/>
              <a:t>than one month.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225474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Finally, using target premiums to assess whether an acquirer overpaid ignores </a:t>
            </a:r>
            <a:r>
              <a:rPr lang="en-US" dirty="0" smtClean="0"/>
              <a:t>the value </a:t>
            </a:r>
            <a:r>
              <a:rPr lang="en-US" dirty="0"/>
              <a:t>of the target to the acquirer after the acquisition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indent="0" algn="just"/>
            <a:r>
              <a:rPr lang="en-US" b="1" dirty="0">
                <a:solidFill>
                  <a:srgbClr val="FF0000"/>
                </a:solidFill>
              </a:rPr>
              <a:t>i.e.</a:t>
            </a:r>
            <a:r>
              <a:rPr lang="en-US" dirty="0"/>
              <a:t> </a:t>
            </a:r>
            <a:r>
              <a:rPr lang="en-US" b="1" dirty="0"/>
              <a:t>Value of target after acquisition = Value as independent firm + Value of </a:t>
            </a:r>
            <a:r>
              <a:rPr lang="en-US" b="1" dirty="0" smtClean="0"/>
              <a:t>merger benefits</a:t>
            </a:r>
          </a:p>
          <a:p>
            <a:pPr marL="0" indent="0" algn="just"/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value of the target before acquisition is the present value of the free cash </a:t>
            </a:r>
            <a:r>
              <a:rPr lang="en-US" dirty="0" smtClean="0"/>
              <a:t>flows for </a:t>
            </a:r>
            <a:r>
              <a:rPr lang="en-US" dirty="0"/>
              <a:t>the target if it were to remain an independent </a:t>
            </a:r>
            <a:r>
              <a:rPr lang="en-US" dirty="0" smtClean="0"/>
              <a:t>entity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26368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benefits of the merger include such effects </a:t>
            </a:r>
            <a:r>
              <a:rPr lang="en-US" dirty="0" smtClean="0"/>
              <a:t>as improvements </a:t>
            </a:r>
            <a:r>
              <a:rPr lang="en-US" dirty="0"/>
              <a:t>in target operating performance from economies of scale, improved management</a:t>
            </a:r>
            <a:r>
              <a:rPr lang="en-US" dirty="0" smtClean="0"/>
              <a:t>, or </a:t>
            </a:r>
            <a:r>
              <a:rPr lang="en-US" dirty="0"/>
              <a:t>tax benefits, as well as any spillover benefits to the acquirer from the acquisition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Clearly, acquirers will be willing to pay higher premiums for targets which </a:t>
            </a:r>
            <a:r>
              <a:rPr lang="en-US" dirty="0" smtClean="0"/>
              <a:t>are expected </a:t>
            </a:r>
            <a:r>
              <a:rPr lang="en-US" dirty="0"/>
              <a:t>to generate higher merger benefits.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Thus</a:t>
            </a:r>
            <a:r>
              <a:rPr lang="en-US" b="1" dirty="0"/>
              <a:t>, examining the premium alone </a:t>
            </a:r>
            <a:r>
              <a:rPr lang="en-US" b="1" dirty="0" smtClean="0"/>
              <a:t>cannot determine </a:t>
            </a:r>
            <a:r>
              <a:rPr lang="en-US" b="1" dirty="0"/>
              <a:t>whether the acquisition creates value for acquiring stockholders.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401913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Whether </a:t>
            </a:r>
            <a:r>
              <a:rPr lang="en-US" dirty="0"/>
              <a:t>the acquirer has overpaid for </a:t>
            </a:r>
            <a:r>
              <a:rPr lang="en-US" dirty="0" smtClean="0"/>
              <a:t>the target </a:t>
            </a:r>
            <a:r>
              <a:rPr lang="en-US" dirty="0"/>
              <a:t>is to compare the offer price to the estimated value of the target to the </a:t>
            </a:r>
            <a:r>
              <a:rPr lang="en-US" dirty="0" smtClean="0"/>
              <a:t>acquirer.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most popular methods of valuation used for mergers and acquisitions </a:t>
            </a:r>
            <a:r>
              <a:rPr lang="en-US" dirty="0" smtClean="0"/>
              <a:t>are earnings </a:t>
            </a:r>
            <a:r>
              <a:rPr lang="en-US" dirty="0"/>
              <a:t>multiples and discounted cash </a:t>
            </a:r>
            <a:r>
              <a:rPr lang="en-US" dirty="0" smtClean="0"/>
              <a:t>flows.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56510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First compute the </a:t>
            </a:r>
            <a:r>
              <a:rPr lang="en-US" dirty="0"/>
              <a:t>value of the target as an independent firm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provides a way of checking </a:t>
            </a:r>
            <a:r>
              <a:rPr lang="en-US" dirty="0" smtClean="0"/>
              <a:t>whether the </a:t>
            </a:r>
            <a:r>
              <a:rPr lang="en-US" dirty="0"/>
              <a:t>valuation assumptions are reasonable, since for publicly listed targets we can </a:t>
            </a:r>
            <a:r>
              <a:rPr lang="en-US" b="1" dirty="0" smtClean="0"/>
              <a:t>compare our </a:t>
            </a:r>
            <a:r>
              <a:rPr lang="en-US" b="1" dirty="0"/>
              <a:t>estimate with premerger market prices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also provides a useful benchmark </a:t>
            </a:r>
            <a:r>
              <a:rPr lang="en-US" dirty="0" smtClean="0"/>
              <a:t>for thinking </a:t>
            </a:r>
            <a:r>
              <a:rPr lang="en-US" dirty="0"/>
              <a:t>about how the target’s performance, and hence its value, is likely to </a:t>
            </a:r>
            <a:r>
              <a:rPr lang="en-US" dirty="0" smtClean="0"/>
              <a:t>change once </a:t>
            </a:r>
            <a:r>
              <a:rPr lang="en-US" dirty="0"/>
              <a:t>it is acquired.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287765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marL="0" indent="0" algn="just"/>
            <a:r>
              <a:rPr lang="en-US" u="sng" dirty="0" smtClean="0"/>
              <a:t>“Earnings Multiples Approach or P/E Multiple Approach”</a:t>
            </a:r>
          </a:p>
          <a:p>
            <a:pPr marL="0" indent="0" algn="just"/>
            <a:r>
              <a:rPr lang="en-US" b="1" dirty="0"/>
              <a:t>Step One: Forecasting </a:t>
            </a:r>
            <a:r>
              <a:rPr lang="en-US" b="1" dirty="0" smtClean="0"/>
              <a:t>Earnings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Earnings forecasts are usually made by first </a:t>
            </a:r>
            <a:r>
              <a:rPr lang="en-US" dirty="0" smtClean="0"/>
              <a:t>forecasting next </a:t>
            </a:r>
            <a:r>
              <a:rPr lang="en-US" dirty="0"/>
              <a:t>year’s net income for the target, assuming no </a:t>
            </a:r>
            <a:r>
              <a:rPr lang="en-US" dirty="0" smtClean="0"/>
              <a:t>acquisition.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other words, </a:t>
            </a:r>
            <a:r>
              <a:rPr lang="en-US" dirty="0" smtClean="0"/>
              <a:t>build </a:t>
            </a:r>
            <a:r>
              <a:rPr lang="en-US" dirty="0"/>
              <a:t>a pro </a:t>
            </a:r>
            <a:r>
              <a:rPr lang="en-US" dirty="0" smtClean="0"/>
              <a:t>forma income model for the next year for the target before acquisition.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Then, build </a:t>
            </a:r>
            <a:r>
              <a:rPr lang="en-US" dirty="0"/>
              <a:t>a pro forma income model for the next year for the target </a:t>
            </a:r>
            <a:r>
              <a:rPr lang="en-US" dirty="0" smtClean="0"/>
              <a:t>after </a:t>
            </a:r>
            <a:r>
              <a:rPr lang="en-US" dirty="0"/>
              <a:t>acquisition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Forecasted Net Income before and after Acquisition.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105675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marL="0" indent="0" algn="just"/>
            <a:r>
              <a:rPr lang="en-US" u="sng" dirty="0" smtClean="0"/>
              <a:t>“Earnings Multiples Approach or P/E Multiple Approach”</a:t>
            </a:r>
          </a:p>
          <a:p>
            <a:pPr marL="0" indent="0" algn="just"/>
            <a:r>
              <a:rPr lang="en-US" b="1" dirty="0"/>
              <a:t>Step Two: Determining Price-Earnings </a:t>
            </a:r>
            <a:r>
              <a:rPr lang="en-US" b="1" dirty="0" smtClean="0"/>
              <a:t>Multiple</a:t>
            </a:r>
          </a:p>
          <a:p>
            <a:pPr marL="0" indent="0" algn="just"/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23732"/>
              </p:ext>
            </p:extLst>
          </p:nvPr>
        </p:nvGraphicFramePr>
        <p:xfrm>
          <a:off x="533400" y="2939717"/>
          <a:ext cx="8305800" cy="2516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982">
                  <a:extLst>
                    <a:ext uri="{9D8B030D-6E8A-4147-A177-3AD203B41FA5}">
                      <a16:colId xmlns:a16="http://schemas.microsoft.com/office/drawing/2014/main" val="3770654625"/>
                    </a:ext>
                  </a:extLst>
                </a:gridCol>
                <a:gridCol w="6011818">
                  <a:extLst>
                    <a:ext uri="{9D8B030D-6E8A-4147-A177-3AD203B41FA5}">
                      <a16:colId xmlns:a16="http://schemas.microsoft.com/office/drawing/2014/main" val="1182721624"/>
                    </a:ext>
                  </a:extLst>
                </a:gridCol>
              </a:tblGrid>
              <a:tr h="41308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Summary of Price-Earnings Valuation for Targets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15711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Value of target as an</a:t>
                      </a:r>
                    </a:p>
                    <a:p>
                      <a:r>
                        <a:rPr lang="en-US" b="1" dirty="0" smtClean="0"/>
                        <a:t>independent firm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earnings forecast for the next year, assuming no change in ownership, multiplied by its premerger PE multiple. Make sure for pre-merger PE multiple, the price is before the date of announcement.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87847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Value of target to</a:t>
                      </a:r>
                    </a:p>
                    <a:p>
                      <a:r>
                        <a:rPr lang="en-US" b="1" dirty="0" smtClean="0"/>
                        <a:t>potential acquirer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revised earnings forecast for the next year,  incorporating the effect of any operational changes made by the acquirer, multiplied by its post-merger PE multiple.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40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63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marL="0" indent="0" algn="just"/>
            <a:r>
              <a:rPr lang="en-US" u="sng" dirty="0" smtClean="0"/>
              <a:t>“Earnings Multiples Approach or P/E Multiple Approach”</a:t>
            </a:r>
          </a:p>
          <a:p>
            <a:pPr marL="0" indent="0" algn="just"/>
            <a:r>
              <a:rPr lang="en-US" b="1" dirty="0" smtClean="0"/>
              <a:t>Limitation of PE Valuation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/>
              <a:t>PE multiples assume that merger performance improvements come either from </a:t>
            </a:r>
            <a:r>
              <a:rPr lang="en-US" sz="2000" dirty="0" smtClean="0"/>
              <a:t>an immediate </a:t>
            </a:r>
            <a:r>
              <a:rPr lang="en-US" sz="2000" dirty="0"/>
              <a:t>increase in earnings or from an increase in earnings </a:t>
            </a:r>
            <a:r>
              <a:rPr lang="en-US" sz="2000" dirty="0" smtClean="0"/>
              <a:t>growth.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Thereby, ignoring the </a:t>
            </a:r>
            <a:r>
              <a:rPr lang="en-US" sz="2000" dirty="0"/>
              <a:t>fact that the improvements and savings </a:t>
            </a:r>
            <a:r>
              <a:rPr lang="en-US" sz="2000" dirty="0" smtClean="0"/>
              <a:t>can come </a:t>
            </a:r>
            <a:r>
              <a:rPr lang="en-US" sz="2000" dirty="0"/>
              <a:t>in many </a:t>
            </a:r>
            <a:r>
              <a:rPr lang="en-US" sz="2000" dirty="0" smtClean="0"/>
              <a:t>forms.</a:t>
            </a:r>
          </a:p>
          <a:p>
            <a:pPr marL="857250" lvl="2" indent="0" algn="just">
              <a:buNone/>
            </a:pPr>
            <a:r>
              <a:rPr lang="en-US" sz="1800" dirty="0" smtClean="0"/>
              <a:t>—Gradual </a:t>
            </a:r>
            <a:r>
              <a:rPr lang="en-US" sz="1800" dirty="0"/>
              <a:t>increases in earnings from implementing new </a:t>
            </a:r>
            <a:r>
              <a:rPr lang="en-US" sz="1800" dirty="0" smtClean="0"/>
              <a:t>operating policies</a:t>
            </a:r>
            <a:r>
              <a:rPr lang="en-US" sz="1800" dirty="0"/>
              <a:t>, elimination of overinvestment, better management of </a:t>
            </a:r>
            <a:r>
              <a:rPr lang="en-US" sz="1800" dirty="0" smtClean="0"/>
              <a:t>working capital etc.</a:t>
            </a:r>
          </a:p>
          <a:p>
            <a:pPr marL="51435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PE models do not easily incorporate any spillover benefits from an acquisition </a:t>
            </a:r>
            <a:r>
              <a:rPr lang="en-US" sz="2000" dirty="0" smtClean="0"/>
              <a:t>for the acquirer.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260667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 lnSpcReduction="10000"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marL="0" indent="0" algn="just"/>
            <a:r>
              <a:rPr lang="en-US" u="sng" dirty="0" smtClean="0"/>
              <a:t>“Discounted Cash Flows (DCF) Approach”</a:t>
            </a:r>
          </a:p>
          <a:p>
            <a:pPr marL="0" indent="0" algn="just"/>
            <a:r>
              <a:rPr lang="en-US" b="1" dirty="0"/>
              <a:t>Step One: Forecasting </a:t>
            </a:r>
            <a:r>
              <a:rPr lang="en-US" b="1" dirty="0" smtClean="0"/>
              <a:t>Free Cash Flows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Earnings forecasts are usually made by first </a:t>
            </a:r>
            <a:r>
              <a:rPr lang="en-US" dirty="0" smtClean="0"/>
              <a:t>forecasting FCF </a:t>
            </a:r>
            <a:r>
              <a:rPr lang="en-US" dirty="0"/>
              <a:t>for the target, assuming no </a:t>
            </a:r>
            <a:r>
              <a:rPr lang="en-US" dirty="0" smtClean="0"/>
              <a:t>acquisition.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other words, </a:t>
            </a:r>
            <a:r>
              <a:rPr lang="en-US" dirty="0" smtClean="0"/>
              <a:t>build </a:t>
            </a:r>
            <a:r>
              <a:rPr lang="en-US" dirty="0"/>
              <a:t>a pro forma model of </a:t>
            </a:r>
            <a:r>
              <a:rPr lang="en-US" dirty="0" smtClean="0"/>
              <a:t>expected future </a:t>
            </a:r>
            <a:r>
              <a:rPr lang="en-US" dirty="0"/>
              <a:t>income and cash flows </a:t>
            </a:r>
            <a:r>
              <a:rPr lang="en-US" dirty="0" smtClean="0"/>
              <a:t>for the target before acquisition.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Then, </a:t>
            </a:r>
            <a:r>
              <a:rPr lang="en-US" dirty="0"/>
              <a:t>build a pro forma model of expected future income and cash flows for the target</a:t>
            </a:r>
            <a:r>
              <a:rPr lang="en-US" dirty="0" smtClean="0"/>
              <a:t> after </a:t>
            </a:r>
            <a:r>
              <a:rPr lang="en-US" dirty="0"/>
              <a:t>acquisition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Forecasted FCF before and after Acquisition.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 typical forecast period is from 5 to 10 years.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42173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dirty="0"/>
              <a:t>Analyzing Value of the Target to the </a:t>
            </a:r>
            <a:r>
              <a:rPr lang="en-US" b="1" dirty="0" smtClean="0"/>
              <a:t>Acquirer</a:t>
            </a:r>
          </a:p>
          <a:p>
            <a:pPr marL="0" indent="0" algn="just"/>
            <a:r>
              <a:rPr lang="en-US" u="sng" dirty="0" smtClean="0"/>
              <a:t>“Discounted Cash Flows (DCF) Approach”</a:t>
            </a:r>
          </a:p>
          <a:p>
            <a:pPr marL="0" indent="0" algn="just"/>
            <a:r>
              <a:rPr lang="en-US" b="1" dirty="0"/>
              <a:t>Step Two: Compute the Discount </a:t>
            </a:r>
            <a:r>
              <a:rPr lang="en-US" b="1" dirty="0" smtClean="0"/>
              <a:t>Rate</a:t>
            </a:r>
          </a:p>
          <a:p>
            <a:pPr marL="0" indent="0" algn="just"/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593421"/>
              </p:ext>
            </p:extLst>
          </p:nvPr>
        </p:nvGraphicFramePr>
        <p:xfrm>
          <a:off x="304800" y="2819401"/>
          <a:ext cx="8686800" cy="32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211">
                  <a:extLst>
                    <a:ext uri="{9D8B030D-6E8A-4147-A177-3AD203B41FA5}">
                      <a16:colId xmlns:a16="http://schemas.microsoft.com/office/drawing/2014/main" val="3770654625"/>
                    </a:ext>
                  </a:extLst>
                </a:gridCol>
                <a:gridCol w="6287589">
                  <a:extLst>
                    <a:ext uri="{9D8B030D-6E8A-4147-A177-3AD203B41FA5}">
                      <a16:colId xmlns:a16="http://schemas.microsoft.com/office/drawing/2014/main" val="1182721624"/>
                    </a:ext>
                  </a:extLst>
                </a:gridCol>
              </a:tblGrid>
              <a:tr h="525406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Summary of DCF Valuation for Targets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157115"/>
                  </a:ext>
                </a:extLst>
              </a:tr>
              <a:tr h="151195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Value of target as an</a:t>
                      </a:r>
                    </a:p>
                    <a:p>
                      <a:r>
                        <a:rPr lang="en-US" b="1" dirty="0" smtClean="0"/>
                        <a:t>independent firm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Present value of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FCFE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assuming no acquisition, discounted at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pre-merger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</a:p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Present value of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FCFF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assuming no acquisition, discounted at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pre-merger WACC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value of debt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878472"/>
                  </a:ext>
                </a:extLst>
              </a:tr>
              <a:tr h="11630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Value of target to</a:t>
                      </a:r>
                    </a:p>
                    <a:p>
                      <a:r>
                        <a:rPr lang="en-US" b="1" dirty="0" smtClean="0"/>
                        <a:t>potential acquirer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Present value of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FCFE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including benefits from merger, discounted at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post-merger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</a:p>
                    <a:p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(b)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Present value of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FCFF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including benefits from merger, discounted at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post-merger WACC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value of debt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40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07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u="sng" dirty="0" smtClean="0"/>
              <a:t>Pfizer’s Pricing of Wyeth (2009)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Deal Price:</a:t>
            </a:r>
            <a:r>
              <a:rPr lang="en-US" dirty="0" smtClean="0"/>
              <a:t> $68 billion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Premium Analysis:</a:t>
            </a:r>
            <a:r>
              <a:rPr lang="en-US" dirty="0" smtClean="0"/>
              <a:t> 29 percent premium to Wyeth’s stockholders over the market price on Jan 22, 2009 one day before the announcement of possible deal in Wall Street Journal.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This was below the mean (58%) and median (40%) reported for all acquisitions during that year in the US.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May be due to timing as this was the first major deal announcement since the beginning of the global financial crisis.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en-US" sz="1800" b="1" dirty="0" smtClean="0"/>
          </a:p>
          <a:p>
            <a:pPr lvl="1" algn="just">
              <a:buFont typeface="Arial" panose="020B0604020202020204" pitchFamily="34" charset="0"/>
              <a:buChar char="•"/>
            </a:pPr>
            <a:endParaRPr lang="en-US" sz="18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296435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83163"/>
          </a:xfrm>
        </p:spPr>
        <p:txBody>
          <a:bodyPr>
            <a:normAutofit/>
          </a:bodyPr>
          <a:lstStyle/>
          <a:p>
            <a:pPr marL="0" indent="0" algn="just"/>
            <a:r>
              <a:rPr lang="en-US" b="1" u="sng" dirty="0" smtClean="0"/>
              <a:t>Pfizer’s Pricing of Wyeth (2009)</a:t>
            </a:r>
          </a:p>
          <a:p>
            <a:pPr marL="0" indent="0" algn="just"/>
            <a:r>
              <a:rPr lang="en-US" b="1" dirty="0" smtClean="0"/>
              <a:t>P/E Multiple Approach: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Pfizer’s pricing of Wyeth appears to be reasonable.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At the time of announcement, the P/E multiple for others firms in the pharmaceutical and bio-tech industries that were comparable to Wyeth ranged from 13.7 to 18.6.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Pfizer’s offer valued Wyeth at 15.4 times current earnings.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ACQUISITION PRICING</a:t>
            </a:r>
          </a:p>
        </p:txBody>
      </p:sp>
    </p:spTree>
    <p:extLst>
      <p:ext uri="{BB962C8B-B14F-4D97-AF65-F5344CB8AC3E}">
        <p14:creationId xmlns:p14="http://schemas.microsoft.com/office/powerpoint/2010/main" val="5267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409700" y="2667000"/>
            <a:ext cx="6324600" cy="1143000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407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1925</TotalTime>
  <Words>2117</Words>
  <Application>Microsoft Office PowerPoint</Application>
  <PresentationFormat>On-screen Show (4:3)</PresentationFormat>
  <Paragraphs>178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Mergers and Acquisitions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Dell</cp:lastModifiedBy>
  <cp:revision>496</cp:revision>
  <dcterms:created xsi:type="dcterms:W3CDTF">2011-09-14T09:42:05Z</dcterms:created>
  <dcterms:modified xsi:type="dcterms:W3CDTF">2017-11-10T07:13:40Z</dcterms:modified>
</cp:coreProperties>
</file>