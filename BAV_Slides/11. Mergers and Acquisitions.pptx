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343" r:id="rId4"/>
    <p:sldId id="344" r:id="rId5"/>
    <p:sldId id="345" r:id="rId6"/>
    <p:sldId id="346" r:id="rId7"/>
    <p:sldId id="347" r:id="rId8"/>
    <p:sldId id="348" r:id="rId9"/>
    <p:sldId id="349" r:id="rId10"/>
    <p:sldId id="350" r:id="rId11"/>
    <p:sldId id="351"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6" r:id="rId27"/>
    <p:sldId id="367" r:id="rId28"/>
    <p:sldId id="368" r:id="rId29"/>
    <p:sldId id="369" r:id="rId30"/>
    <p:sldId id="370" r:id="rId31"/>
    <p:sldId id="371" r:id="rId32"/>
    <p:sldId id="372" r:id="rId33"/>
    <p:sldId id="373" r:id="rId34"/>
    <p:sldId id="374" r:id="rId35"/>
    <p:sldId id="375" r:id="rId36"/>
    <p:sldId id="376" r:id="rId37"/>
    <p:sldId id="377" r:id="rId38"/>
    <p:sldId id="378" r:id="rId39"/>
    <p:sldId id="379" r:id="rId40"/>
    <p:sldId id="380" r:id="rId41"/>
    <p:sldId id="381" r:id="rId42"/>
    <p:sldId id="382" r:id="rId43"/>
    <p:sldId id="383" r:id="rId44"/>
    <p:sldId id="384" r:id="rId45"/>
    <p:sldId id="385" r:id="rId46"/>
    <p:sldId id="386" r:id="rId47"/>
    <p:sldId id="387" r:id="rId48"/>
    <p:sldId id="388" r:id="rId49"/>
    <p:sldId id="389" r:id="rId50"/>
    <p:sldId id="390" r:id="rId51"/>
    <p:sldId id="391" r:id="rId52"/>
    <p:sldId id="392" r:id="rId53"/>
    <p:sldId id="342"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31" name="TextBox 30"/>
          <p:cNvSpPr txBox="1"/>
          <p:nvPr userDrawn="1"/>
        </p:nvSpPr>
        <p:spPr>
          <a:xfrm>
            <a:off x="152400" y="5666601"/>
            <a:ext cx="1905000" cy="276999"/>
          </a:xfrm>
          <a:prstGeom prst="rect">
            <a:avLst/>
          </a:prstGeom>
          <a:noFill/>
        </p:spPr>
        <p:txBody>
          <a:bodyPr wrap="square" rtlCol="0">
            <a:spAutoFit/>
          </a:bodyPr>
          <a:lstStyle/>
          <a:p>
            <a:pPr algn="l"/>
            <a:r>
              <a:rPr lang="en-US" sz="1200" spc="0" dirty="0" smtClean="0">
                <a:solidFill>
                  <a:srgbClr val="FFFFFF"/>
                </a:solidFill>
                <a:latin typeface="Arial"/>
                <a:cs typeface="Arial"/>
              </a:rPr>
              <a:t>Pilani</a:t>
            </a:r>
            <a:r>
              <a:rPr lang="en-US" sz="1200" spc="0" baseline="0" dirty="0" smtClean="0">
                <a:solidFill>
                  <a:srgbClr val="FFFFFF"/>
                </a:solidFill>
                <a:latin typeface="Arial"/>
                <a:cs typeface="Arial"/>
              </a:rPr>
              <a:t> Campus</a:t>
            </a:r>
            <a:endParaRPr lang="en-US" sz="1200" spc="0" dirty="0">
              <a:solidFill>
                <a:srgbClr val="FFFFFF"/>
              </a:solidFill>
              <a:latin typeface="Arial"/>
              <a:cs typeface="Arial"/>
            </a:endParaRP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15" name="TextBox 14"/>
          <p:cNvSpPr txBox="1"/>
          <p:nvPr userDrawn="1"/>
        </p:nvSpPr>
        <p:spPr>
          <a:xfrm>
            <a:off x="152400" y="5666601"/>
            <a:ext cx="1905000" cy="276999"/>
          </a:xfrm>
          <a:prstGeom prst="rect">
            <a:avLst/>
          </a:prstGeom>
          <a:noFill/>
        </p:spPr>
        <p:txBody>
          <a:bodyPr wrap="square" rtlCol="0">
            <a:spAutoFit/>
          </a:bodyPr>
          <a:lstStyle/>
          <a:p>
            <a:pPr algn="l"/>
            <a:r>
              <a:rPr lang="en-US" sz="1200" spc="0" dirty="0" smtClean="0">
                <a:solidFill>
                  <a:srgbClr val="FFFFFF"/>
                </a:solidFill>
                <a:latin typeface="Arial"/>
                <a:cs typeface="Arial"/>
              </a:rPr>
              <a:t>Pilani</a:t>
            </a:r>
            <a:r>
              <a:rPr lang="en-US" sz="1200" spc="0" baseline="0" dirty="0" smtClean="0">
                <a:solidFill>
                  <a:srgbClr val="FFFFFF"/>
                </a:solidFill>
                <a:latin typeface="Arial"/>
                <a:cs typeface="Arial"/>
              </a:rPr>
              <a:t> Campus</a:t>
            </a:r>
            <a:endParaRPr lang="en-US" sz="1200" spc="0" dirty="0">
              <a:solidFill>
                <a:srgbClr val="FFFFFF"/>
              </a:solidFill>
              <a:latin typeface="Arial"/>
              <a:cs typeface="Arial"/>
            </a:endParaRP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pPr algn="l"/>
            <a:r>
              <a:rPr lang="en-US" sz="1200" spc="0" dirty="0" smtClean="0">
                <a:solidFill>
                  <a:srgbClr val="FFFFFF"/>
                </a:solidFill>
                <a:latin typeface="Arial"/>
                <a:cs typeface="Arial"/>
              </a:rPr>
              <a:t>Pilani</a:t>
            </a:r>
            <a:r>
              <a:rPr lang="en-US" sz="1200" spc="0" baseline="0" dirty="0" smtClean="0">
                <a:solidFill>
                  <a:srgbClr val="FFFFFF"/>
                </a:solidFill>
                <a:latin typeface="Arial"/>
                <a:cs typeface="Arial"/>
              </a:rPr>
              <a:t> Campus</a:t>
            </a:r>
            <a:endParaRPr lang="en-US" sz="1200" spc="0" dirty="0">
              <a:solidFill>
                <a:srgbClr val="FFFFFF"/>
              </a:solidFill>
              <a:latin typeface="Arial"/>
              <a:cs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Deemed</a:t>
            </a:r>
            <a:r>
              <a:rPr lang="en-US" sz="1100" baseline="0" dirty="0" smtClean="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Deemed</a:t>
            </a:r>
            <a:r>
              <a:rPr lang="en-US" sz="1100" baseline="0" dirty="0" smtClean="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smtClean="0">
                <a:solidFill>
                  <a:srgbClr val="101141"/>
                </a:solidFill>
                <a:latin typeface="Arial"/>
                <a:cs typeface="Arial"/>
              </a:rPr>
              <a:t>BITS </a:t>
            </a:r>
            <a:r>
              <a:rPr lang="en-US" sz="900" dirty="0" smtClean="0">
                <a:solidFill>
                  <a:srgbClr val="101141"/>
                </a:solidFill>
                <a:latin typeface="Arial"/>
                <a:cs typeface="Arial"/>
              </a:rPr>
              <a:t>Pilani, Pilani Campus</a:t>
            </a:r>
            <a:endParaRPr lang="en-US" sz="900" dirty="0">
              <a:solidFill>
                <a:srgbClr val="101141"/>
              </a:solidFill>
              <a:latin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D03DC603-C5F6-4A82-B252-8D9BD6F91242}" type="datetimeFigureOut">
              <a:rPr lang="en-US" smtClean="0"/>
              <a:pPr/>
              <a:t>17-Nov-17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4600" y="3810000"/>
            <a:ext cx="6172200" cy="1524000"/>
          </a:xfrm>
        </p:spPr>
        <p:txBody>
          <a:bodyPr/>
          <a:lstStyle/>
          <a:p>
            <a:r>
              <a:rPr lang="en-US" sz="4000" dirty="0"/>
              <a:t>Mergers and Acquisitions</a:t>
            </a:r>
          </a:p>
        </p:txBody>
      </p:sp>
      <p:sp>
        <p:nvSpPr>
          <p:cNvPr id="6" name="Content Placeholder 5"/>
          <p:cNvSpPr>
            <a:spLocks noGrp="1"/>
          </p:cNvSpPr>
          <p:nvPr>
            <p:ph sz="quarter" idx="13"/>
          </p:nvPr>
        </p:nvSpPr>
        <p:spPr/>
        <p:txBody>
          <a:bodyPr/>
          <a:lstStyle/>
          <a:p>
            <a:r>
              <a:rPr lang="en-US" b="1" dirty="0" smtClean="0"/>
              <a:t>By:</a:t>
            </a:r>
          </a:p>
          <a:p>
            <a:r>
              <a:rPr lang="en-US" b="1" dirty="0" smtClean="0"/>
              <a:t>Dr. Saurabh Chadha</a:t>
            </a:r>
            <a:endParaRPr lang="en-US" b="1" dirty="0"/>
          </a:p>
        </p:txBody>
      </p:sp>
    </p:spTree>
    <p:extLst>
      <p:ext uri="{BB962C8B-B14F-4D97-AF65-F5344CB8AC3E}">
        <p14:creationId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t>Mergers and acquisitions have long been a popular form of </a:t>
            </a:r>
            <a:r>
              <a:rPr lang="en-US" dirty="0" smtClean="0"/>
              <a:t>corporate </a:t>
            </a:r>
            <a:r>
              <a:rPr lang="en-US" dirty="0"/>
              <a:t>investment that </a:t>
            </a:r>
            <a:r>
              <a:rPr lang="en-US" dirty="0" smtClean="0"/>
              <a:t>provides </a:t>
            </a:r>
            <a:r>
              <a:rPr lang="en-US" dirty="0"/>
              <a:t>a healthy return to target </a:t>
            </a:r>
            <a:r>
              <a:rPr lang="en-US" dirty="0" smtClean="0"/>
              <a:t>stockholders.</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a:t>However, their value to acquiring shareholders is less understood</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smtClean="0"/>
              <a:t>Many skeptics point </a:t>
            </a:r>
            <a:r>
              <a:rPr lang="en-US" dirty="0"/>
              <a:t>out that given the hefty premiums paid to target stockholders, acquisitions tend </a:t>
            </a:r>
            <a:r>
              <a:rPr lang="en-US" dirty="0" smtClean="0"/>
              <a:t>to be </a:t>
            </a:r>
            <a:r>
              <a:rPr lang="en-US" dirty="0"/>
              <a:t>negative-valued investments for acquiring stockholders.</a:t>
            </a:r>
          </a:p>
        </p:txBody>
      </p:sp>
      <p:sp>
        <p:nvSpPr>
          <p:cNvPr id="4" name="Content Placeholder 3"/>
          <p:cNvSpPr>
            <a:spLocks noGrp="1"/>
          </p:cNvSpPr>
          <p:nvPr>
            <p:ph sz="quarter" idx="10"/>
          </p:nvPr>
        </p:nvSpPr>
        <p:spPr/>
        <p:txBody>
          <a:bodyPr/>
          <a:lstStyle/>
          <a:p>
            <a:r>
              <a:rPr lang="en-US" dirty="0" smtClean="0"/>
              <a:t>Introduction</a:t>
            </a:r>
            <a:endParaRPr lang="en-US" dirty="0"/>
          </a:p>
        </p:txBody>
      </p:sp>
    </p:spTree>
    <p:extLst>
      <p:ext uri="{BB962C8B-B14F-4D97-AF65-F5344CB8AC3E}">
        <p14:creationId xmlns:p14="http://schemas.microsoft.com/office/powerpoint/2010/main" val="1987644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US" dirty="0" smtClean="0"/>
              <a:t>Introduction</a:t>
            </a:r>
            <a:endParaRPr lang="en-US" dirty="0"/>
          </a:p>
        </p:txBody>
      </p:sp>
      <p:pic>
        <p:nvPicPr>
          <p:cNvPr id="5" name="Picture 4"/>
          <p:cNvPicPr>
            <a:picLocks noChangeAspect="1"/>
          </p:cNvPicPr>
          <p:nvPr/>
        </p:nvPicPr>
        <p:blipFill>
          <a:blip r:embed="rId2"/>
          <a:stretch>
            <a:fillRect/>
          </a:stretch>
        </p:blipFill>
        <p:spPr>
          <a:xfrm>
            <a:off x="277091" y="1600200"/>
            <a:ext cx="8714509" cy="4560281"/>
          </a:xfrm>
          <a:prstGeom prst="rect">
            <a:avLst/>
          </a:prstGeom>
        </p:spPr>
      </p:pic>
    </p:spTree>
    <p:extLst>
      <p:ext uri="{BB962C8B-B14F-4D97-AF65-F5344CB8AC3E}">
        <p14:creationId xmlns:p14="http://schemas.microsoft.com/office/powerpoint/2010/main" val="3135300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buFont typeface="Arial" panose="020B0604020202020204" pitchFamily="34" charset="0"/>
              <a:buChar char="•"/>
            </a:pPr>
            <a:r>
              <a:rPr lang="en-US" dirty="0"/>
              <a:t>In this chapter we focus primarily on the use of financial statement data and </a:t>
            </a:r>
            <a:r>
              <a:rPr lang="en-US" dirty="0" smtClean="0"/>
              <a:t>analysis: </a:t>
            </a:r>
            <a:endParaRPr lang="en-US" dirty="0"/>
          </a:p>
          <a:p>
            <a:pPr lvl="1" algn="just">
              <a:buFont typeface="Arial" panose="020B0604020202020204" pitchFamily="34" charset="0"/>
              <a:buChar char="•"/>
            </a:pPr>
            <a:r>
              <a:rPr lang="en-US" sz="2000" b="1" dirty="0" smtClean="0"/>
              <a:t>Directed </a:t>
            </a:r>
            <a:r>
              <a:rPr lang="en-US" sz="2000" b="1" dirty="0"/>
              <a:t>at evaluating whether a merger creates value for the acquiring firm’s stockholders</a:t>
            </a:r>
            <a:r>
              <a:rPr lang="en-US" sz="2000" b="1" dirty="0" smtClean="0"/>
              <a:t>.</a:t>
            </a:r>
          </a:p>
          <a:p>
            <a:pPr lvl="1" algn="just">
              <a:buFont typeface="Arial" panose="020B0604020202020204" pitchFamily="34" charset="0"/>
              <a:buChar char="•"/>
            </a:pPr>
            <a:r>
              <a:rPr lang="en-US" sz="2000" b="1" dirty="0" smtClean="0"/>
              <a:t>The topic of whether acquisitions create value for acquirers focuses on evaluating </a:t>
            </a:r>
          </a:p>
          <a:p>
            <a:pPr marL="1428750" lvl="2" indent="-514350" algn="just">
              <a:buFont typeface="+mj-lt"/>
              <a:buAutoNum type="arabicPeriod"/>
            </a:pPr>
            <a:r>
              <a:rPr lang="en-US" sz="2000" b="1" dirty="0" smtClean="0">
                <a:solidFill>
                  <a:srgbClr val="FF0000"/>
                </a:solidFill>
              </a:rPr>
              <a:t>Motivations for Acquisitions</a:t>
            </a:r>
          </a:p>
          <a:p>
            <a:pPr marL="1428750" lvl="2" indent="-514350" algn="just">
              <a:buFont typeface="+mj-lt"/>
              <a:buAutoNum type="arabicPeriod"/>
            </a:pPr>
            <a:r>
              <a:rPr lang="en-US" sz="2000" b="1" dirty="0" smtClean="0">
                <a:solidFill>
                  <a:srgbClr val="FF0000"/>
                </a:solidFill>
              </a:rPr>
              <a:t>Pricing of offers</a:t>
            </a:r>
          </a:p>
          <a:p>
            <a:pPr marL="1428750" lvl="2" indent="-514350" algn="just">
              <a:buFont typeface="+mj-lt"/>
              <a:buAutoNum type="arabicPeriod"/>
            </a:pPr>
            <a:r>
              <a:rPr lang="en-US" sz="2000" b="1" dirty="0" smtClean="0">
                <a:solidFill>
                  <a:srgbClr val="FF0000"/>
                </a:solidFill>
              </a:rPr>
              <a:t>Forms of payments</a:t>
            </a:r>
          </a:p>
          <a:p>
            <a:pPr marL="1428750" lvl="2" indent="-514350" algn="just">
              <a:buFont typeface="+mj-lt"/>
              <a:buAutoNum type="arabicPeriod"/>
            </a:pPr>
            <a:r>
              <a:rPr lang="en-US" sz="2000" b="1" dirty="0" smtClean="0">
                <a:solidFill>
                  <a:srgbClr val="FF0000"/>
                </a:solidFill>
              </a:rPr>
              <a:t>Likelihood that an offer will be successful</a:t>
            </a:r>
            <a:endParaRPr lang="en-US" sz="2000" b="1" dirty="0">
              <a:solidFill>
                <a:srgbClr val="FF0000"/>
              </a:solidFill>
            </a:endParaRPr>
          </a:p>
          <a:p>
            <a:pPr marL="1428750" lvl="2" indent="-514350" algn="just">
              <a:buFont typeface="+mj-lt"/>
              <a:buAutoNum type="arabicPeriod"/>
            </a:pPr>
            <a:endParaRPr lang="en-US" sz="2000" b="1" dirty="0">
              <a:solidFill>
                <a:srgbClr val="FF0000"/>
              </a:solidFill>
            </a:endParaRPr>
          </a:p>
          <a:p>
            <a:pPr marL="114300" indent="0" algn="just"/>
            <a:r>
              <a:rPr lang="en-US" sz="2000" b="1" dirty="0" smtClean="0"/>
              <a:t>Example:</a:t>
            </a:r>
            <a:r>
              <a:rPr lang="en-US" sz="2000" dirty="0" smtClean="0"/>
              <a:t> Pfizer Inc’s acquisition of Wyeth in 2009 (cash and stock deal approx. $68 billion</a:t>
            </a:r>
            <a:r>
              <a:rPr lang="en-US" sz="2000" dirty="0"/>
              <a:t>), </a:t>
            </a:r>
            <a:r>
              <a:rPr lang="en-US" sz="2000" b="1" dirty="0" smtClean="0"/>
              <a:t>Strategy:</a:t>
            </a:r>
            <a:r>
              <a:rPr lang="en-US" sz="2000" dirty="0" smtClean="0"/>
              <a:t> Creating </a:t>
            </a:r>
            <a:r>
              <a:rPr lang="en-US" sz="2000" dirty="0"/>
              <a:t>the World's Premier Biopharmaceutical </a:t>
            </a:r>
            <a:r>
              <a:rPr lang="en-US" sz="2000" dirty="0" smtClean="0"/>
              <a:t>Company. Announcement date: Jan 26, 2009 and Closing date: Oct 15, 2009</a:t>
            </a:r>
          </a:p>
        </p:txBody>
      </p:sp>
      <p:sp>
        <p:nvSpPr>
          <p:cNvPr id="4" name="Content Placeholder 3"/>
          <p:cNvSpPr>
            <a:spLocks noGrp="1"/>
          </p:cNvSpPr>
          <p:nvPr>
            <p:ph sz="quarter" idx="10"/>
          </p:nvPr>
        </p:nvSpPr>
        <p:spPr/>
        <p:txBody>
          <a:bodyPr/>
          <a:lstStyle/>
          <a:p>
            <a:r>
              <a:rPr lang="en-US" dirty="0" smtClean="0"/>
              <a:t>Introduction</a:t>
            </a:r>
            <a:endParaRPr lang="en-US" dirty="0"/>
          </a:p>
        </p:txBody>
      </p:sp>
    </p:spTree>
    <p:extLst>
      <p:ext uri="{BB962C8B-B14F-4D97-AF65-F5344CB8AC3E}">
        <p14:creationId xmlns:p14="http://schemas.microsoft.com/office/powerpoint/2010/main" val="37727608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buFont typeface="Arial" panose="020B0604020202020204" pitchFamily="34" charset="0"/>
              <a:buChar char="•"/>
            </a:pPr>
            <a:r>
              <a:rPr lang="en-US" b="1" dirty="0"/>
              <a:t>Taking Advantage of Economies of </a:t>
            </a:r>
            <a:r>
              <a:rPr lang="en-US" b="1" dirty="0" smtClean="0"/>
              <a:t>Scale or Synergy </a:t>
            </a:r>
            <a:r>
              <a:rPr lang="en-US" dirty="0" smtClean="0"/>
              <a:t>(Pfizer did not consider this the primary reason for Wyeth’s acquisition, management did forecast potential operational savings of $4 billion from combining the operations of the two firms)</a:t>
            </a:r>
            <a:endParaRPr lang="en-US" b="1" dirty="0" smtClean="0"/>
          </a:p>
          <a:p>
            <a:pPr algn="just">
              <a:buFont typeface="Arial" panose="020B0604020202020204" pitchFamily="34" charset="0"/>
              <a:buChar char="•"/>
            </a:pPr>
            <a:r>
              <a:rPr lang="en-US" b="1" dirty="0"/>
              <a:t>Improving Target </a:t>
            </a:r>
            <a:r>
              <a:rPr lang="en-US" b="1" dirty="0" smtClean="0"/>
              <a:t>Management</a:t>
            </a:r>
          </a:p>
          <a:p>
            <a:pPr algn="just">
              <a:buFont typeface="Arial" panose="020B0604020202020204" pitchFamily="34" charset="0"/>
              <a:buChar char="•"/>
            </a:pPr>
            <a:r>
              <a:rPr lang="en-US" b="1" dirty="0"/>
              <a:t>Combining Complementary </a:t>
            </a:r>
            <a:r>
              <a:rPr lang="en-US" b="1" dirty="0" smtClean="0"/>
              <a:t>Resources </a:t>
            </a:r>
            <a:r>
              <a:rPr lang="en-US" dirty="0" smtClean="0"/>
              <a:t>(Pfizer viewed Wyeth’s strong presence in biotech drugs, vaccines and consumer health products as complementary to its own primarily prescription medicine focus, with the combination resulting in a broadly diversified health care company)</a:t>
            </a:r>
            <a:endParaRPr lang="en-US" dirty="0"/>
          </a:p>
        </p:txBody>
      </p:sp>
      <p:sp>
        <p:nvSpPr>
          <p:cNvPr id="4" name="Content Placeholder 3"/>
          <p:cNvSpPr>
            <a:spLocks noGrp="1"/>
          </p:cNvSpPr>
          <p:nvPr>
            <p:ph sz="quarter" idx="10"/>
          </p:nvPr>
        </p:nvSpPr>
        <p:spPr/>
        <p:txBody>
          <a:bodyPr/>
          <a:lstStyle/>
          <a:p>
            <a:r>
              <a:rPr lang="en-US" dirty="0" smtClean="0"/>
              <a:t>Motivation for M&amp;A</a:t>
            </a:r>
            <a:endParaRPr lang="en-US" dirty="0"/>
          </a:p>
        </p:txBody>
      </p:sp>
    </p:spTree>
    <p:extLst>
      <p:ext uri="{BB962C8B-B14F-4D97-AF65-F5344CB8AC3E}">
        <p14:creationId xmlns:p14="http://schemas.microsoft.com/office/powerpoint/2010/main" val="29096002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b="1" dirty="0"/>
              <a:t>Capturing Tax </a:t>
            </a:r>
            <a:r>
              <a:rPr lang="en-US" b="1" dirty="0" smtClean="0"/>
              <a:t>Benefits (</a:t>
            </a:r>
            <a:r>
              <a:rPr lang="en-US" dirty="0" smtClean="0"/>
              <a:t>Operating </a:t>
            </a:r>
            <a:r>
              <a:rPr lang="en-US" dirty="0"/>
              <a:t>tax </a:t>
            </a:r>
            <a:r>
              <a:rPr lang="en-US" dirty="0" smtClean="0"/>
              <a:t>losses and loss carryforwards can be </a:t>
            </a:r>
            <a:r>
              <a:rPr lang="en-US" dirty="0"/>
              <a:t>offset against </a:t>
            </a:r>
            <a:r>
              <a:rPr lang="en-US" dirty="0" smtClean="0"/>
              <a:t>the target’s </a:t>
            </a:r>
            <a:r>
              <a:rPr lang="en-US" dirty="0"/>
              <a:t>taxable income / tax shield that comes from increasing leverage for the target </a:t>
            </a:r>
            <a:r>
              <a:rPr lang="en-US" dirty="0" smtClean="0"/>
              <a:t>firm)</a:t>
            </a:r>
          </a:p>
          <a:p>
            <a:pPr algn="just">
              <a:buFont typeface="Arial" panose="020B0604020202020204" pitchFamily="34" charset="0"/>
              <a:buChar char="•"/>
            </a:pPr>
            <a:r>
              <a:rPr lang="en-US" b="1" dirty="0"/>
              <a:t>Providing Low-Cost Financing to a Financially Constrained </a:t>
            </a:r>
            <a:r>
              <a:rPr lang="en-US" b="1" dirty="0" smtClean="0"/>
              <a:t>Target</a:t>
            </a:r>
          </a:p>
          <a:p>
            <a:pPr algn="just">
              <a:buFont typeface="Arial" panose="020B0604020202020204" pitchFamily="34" charset="0"/>
              <a:buChar char="•"/>
            </a:pPr>
            <a:r>
              <a:rPr lang="en-US" b="1" dirty="0" smtClean="0"/>
              <a:t>Creating value through restructuring and break –ups. </a:t>
            </a:r>
          </a:p>
          <a:p>
            <a:pPr algn="just">
              <a:buFont typeface="Arial" panose="020B0604020202020204" pitchFamily="34" charset="0"/>
              <a:buChar char="•"/>
            </a:pPr>
            <a:r>
              <a:rPr lang="en-US" b="1" dirty="0" smtClean="0"/>
              <a:t>Penetrating new geographies (</a:t>
            </a:r>
            <a:r>
              <a:rPr lang="en-US" dirty="0" smtClean="0"/>
              <a:t>Cross-border acquisitions)</a:t>
            </a:r>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lstStyle/>
          <a:p>
            <a:r>
              <a:rPr lang="en-US" dirty="0" smtClean="0"/>
              <a:t>Motivation for M&amp;A</a:t>
            </a:r>
            <a:endParaRPr lang="en-US" dirty="0"/>
          </a:p>
        </p:txBody>
      </p:sp>
    </p:spTree>
    <p:extLst>
      <p:ext uri="{BB962C8B-B14F-4D97-AF65-F5344CB8AC3E}">
        <p14:creationId xmlns:p14="http://schemas.microsoft.com/office/powerpoint/2010/main" val="29222088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b="1" dirty="0"/>
              <a:t>Increasing Product-Market Rents </a:t>
            </a:r>
            <a:r>
              <a:rPr lang="en-US" b="1" dirty="0" smtClean="0"/>
              <a:t>(</a:t>
            </a:r>
            <a:r>
              <a:rPr lang="en-US" dirty="0" smtClean="0"/>
              <a:t>By </a:t>
            </a:r>
            <a:r>
              <a:rPr lang="en-US" dirty="0"/>
              <a:t>merging and becoming a dominant firm in the industry</a:t>
            </a:r>
            <a:r>
              <a:rPr lang="en-US" dirty="0" smtClean="0"/>
              <a:t>, two </a:t>
            </a:r>
            <a:r>
              <a:rPr lang="en-US" dirty="0"/>
              <a:t>smaller firms can collude to restrict their output and raise prices</a:t>
            </a:r>
            <a:r>
              <a:rPr lang="en-US" dirty="0" smtClean="0"/>
              <a:t>, thereby </a:t>
            </a:r>
            <a:r>
              <a:rPr lang="en-US" dirty="0"/>
              <a:t>increasing their </a:t>
            </a:r>
            <a:r>
              <a:rPr lang="en-US" dirty="0" smtClean="0"/>
              <a:t>profits</a:t>
            </a:r>
            <a:r>
              <a:rPr lang="en-US" b="1" dirty="0" smtClean="0"/>
              <a:t>)</a:t>
            </a:r>
          </a:p>
          <a:p>
            <a:pPr lvl="1" algn="just">
              <a:buFont typeface="Arial" panose="020B0604020202020204" pitchFamily="34" charset="0"/>
              <a:buChar char="•"/>
            </a:pPr>
            <a:r>
              <a:rPr lang="en-US" sz="2000" dirty="0"/>
              <a:t>This circumvents problems that arise in cartels </a:t>
            </a:r>
            <a:r>
              <a:rPr lang="en-US" sz="2000" dirty="0" smtClean="0"/>
              <a:t>of independent </a:t>
            </a:r>
            <a:r>
              <a:rPr lang="en-US" sz="2000" dirty="0"/>
              <a:t>firms, where firms have incentives to cheat on the cartel and </a:t>
            </a:r>
            <a:r>
              <a:rPr lang="en-US" sz="2000" dirty="0" smtClean="0"/>
              <a:t>increase their output.</a:t>
            </a:r>
          </a:p>
          <a:p>
            <a:pPr lvl="1" algn="just">
              <a:buFont typeface="Arial" panose="020B0604020202020204" pitchFamily="34" charset="0"/>
              <a:buChar char="•"/>
            </a:pPr>
            <a:r>
              <a:rPr lang="en-US" sz="2000" dirty="0"/>
              <a:t>While product-market rents make sense for firms as a motive for merging, </a:t>
            </a:r>
            <a:r>
              <a:rPr lang="en-US" sz="2000" dirty="0" smtClean="0"/>
              <a:t>the two </a:t>
            </a:r>
            <a:r>
              <a:rPr lang="en-US" sz="2000" dirty="0"/>
              <a:t>partners are unlikely to announce their intentions when they explain the </a:t>
            </a:r>
            <a:r>
              <a:rPr lang="en-US" sz="2000" dirty="0" smtClean="0"/>
              <a:t>merger to </a:t>
            </a:r>
            <a:r>
              <a:rPr lang="en-US" sz="2000" dirty="0"/>
              <a:t>their investors, since most countries have antitrust laws which </a:t>
            </a:r>
            <a:r>
              <a:rPr lang="en-US" sz="2000" dirty="0" smtClean="0"/>
              <a:t>regulate mergers </a:t>
            </a:r>
            <a:r>
              <a:rPr lang="en-US" sz="2000" dirty="0"/>
              <a:t>between two firms in the same industry.</a:t>
            </a:r>
            <a:endParaRPr lang="en-US" sz="2000"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lstStyle/>
          <a:p>
            <a:r>
              <a:rPr lang="en-US" dirty="0" smtClean="0"/>
              <a:t>Motivation for M&amp;A</a:t>
            </a:r>
            <a:endParaRPr lang="en-US" dirty="0"/>
          </a:p>
        </p:txBody>
      </p:sp>
    </p:spTree>
    <p:extLst>
      <p:ext uri="{BB962C8B-B14F-4D97-AF65-F5344CB8AC3E}">
        <p14:creationId xmlns:p14="http://schemas.microsoft.com/office/powerpoint/2010/main" val="30463887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buFont typeface="Arial" panose="020B0604020202020204" pitchFamily="34" charset="0"/>
              <a:buChar char="•"/>
            </a:pPr>
            <a:r>
              <a:rPr lang="en-US" b="1" dirty="0"/>
              <a:t>Increasing Product-Market Rents </a:t>
            </a:r>
            <a:r>
              <a:rPr lang="en-US" b="1" dirty="0" smtClean="0"/>
              <a:t>(</a:t>
            </a:r>
            <a:r>
              <a:rPr lang="en-US" dirty="0" smtClean="0"/>
              <a:t>By </a:t>
            </a:r>
            <a:r>
              <a:rPr lang="en-US" dirty="0"/>
              <a:t>merging and becoming a dominant firm in the industry</a:t>
            </a:r>
            <a:r>
              <a:rPr lang="en-US" dirty="0" smtClean="0"/>
              <a:t>, two </a:t>
            </a:r>
            <a:r>
              <a:rPr lang="en-US" dirty="0"/>
              <a:t>smaller firms can collude to restrict their output and raise prices</a:t>
            </a:r>
            <a:r>
              <a:rPr lang="en-US" dirty="0" smtClean="0"/>
              <a:t>, thereby </a:t>
            </a:r>
            <a:r>
              <a:rPr lang="en-US" dirty="0"/>
              <a:t>increasing their </a:t>
            </a:r>
            <a:r>
              <a:rPr lang="en-US" dirty="0" smtClean="0"/>
              <a:t>profits</a:t>
            </a:r>
            <a:r>
              <a:rPr lang="en-US" b="1" dirty="0" smtClean="0"/>
              <a:t>)</a:t>
            </a:r>
          </a:p>
          <a:p>
            <a:pPr lvl="1" algn="just">
              <a:buFont typeface="Arial" panose="020B0604020202020204" pitchFamily="34" charset="0"/>
              <a:buChar char="•"/>
            </a:pPr>
            <a:r>
              <a:rPr lang="en-US" sz="2000" dirty="0" smtClean="0"/>
              <a:t>Anti-competitive concerns were potentially significant for Pfizer’s acquisition of Wyeth, since at the time of announcement, Pfizer and Wyeth were the largest and twelfth largest pharmaceutical companies in the world.</a:t>
            </a:r>
          </a:p>
          <a:p>
            <a:pPr lvl="1" algn="just">
              <a:buFont typeface="Arial" panose="020B0604020202020204" pitchFamily="34" charset="0"/>
              <a:buChar char="•"/>
            </a:pPr>
            <a:r>
              <a:rPr lang="en-US" sz="2000" dirty="0" smtClean="0"/>
              <a:t>Merger approval was required by the US federal Trade commission, European commission and regulatory bodies in China, Australia and Canada.</a:t>
            </a:r>
          </a:p>
          <a:p>
            <a:pPr marL="514350" indent="-457200" algn="just">
              <a:buFont typeface="Arial" panose="020B0604020202020204" pitchFamily="34" charset="0"/>
              <a:buChar char="•"/>
            </a:pPr>
            <a:r>
              <a:rPr lang="en-US" sz="2200" dirty="0" smtClean="0"/>
              <a:t>Cash rich companies goes for M&amp;A to deploy their funds as they have pressure from shareholders to distribute surplus funds as dividends. Another excuse is diversification</a:t>
            </a:r>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lstStyle/>
          <a:p>
            <a:r>
              <a:rPr lang="en-US" dirty="0" smtClean="0"/>
              <a:t>Motivation for M&amp;A</a:t>
            </a:r>
            <a:endParaRPr lang="en-US" dirty="0"/>
          </a:p>
        </p:txBody>
      </p:sp>
    </p:spTree>
    <p:extLst>
      <p:ext uri="{BB962C8B-B14F-4D97-AF65-F5344CB8AC3E}">
        <p14:creationId xmlns:p14="http://schemas.microsoft.com/office/powerpoint/2010/main" val="3190743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smtClean="0"/>
              <a:t>Industry-wide and company-specific factors in 2009 that motivated Pfizer to acquire Wyeth.</a:t>
            </a:r>
          </a:p>
          <a:p>
            <a:pPr marL="0" indent="0" algn="just"/>
            <a:r>
              <a:rPr lang="en-US" sz="2800" b="1" dirty="0" smtClean="0"/>
              <a:t>Industry-wide factors:</a:t>
            </a:r>
          </a:p>
          <a:p>
            <a:pPr algn="just">
              <a:buFont typeface="Arial" panose="020B0604020202020204" pitchFamily="34" charset="0"/>
              <a:buChar char="•"/>
            </a:pPr>
            <a:r>
              <a:rPr lang="en-US" dirty="0" smtClean="0"/>
              <a:t>Competition from generic drugs increasing and increased demand from lower-priced generics.</a:t>
            </a:r>
          </a:p>
          <a:p>
            <a:pPr algn="just">
              <a:buFont typeface="Arial" panose="020B0604020202020204" pitchFamily="34" charset="0"/>
              <a:buChar char="•"/>
            </a:pPr>
            <a:r>
              <a:rPr lang="en-US" dirty="0" smtClean="0"/>
              <a:t>The traditional strategy of relying on a few blockbuster drugs became obsolete due to increased competition from generics.</a:t>
            </a:r>
          </a:p>
          <a:p>
            <a:pPr algn="just">
              <a:buFont typeface="Arial" panose="020B0604020202020204" pitchFamily="34" charset="0"/>
              <a:buChar char="•"/>
            </a:pPr>
            <a:r>
              <a:rPr lang="en-US" dirty="0" smtClean="0"/>
              <a:t>Specialty manufacturers are successful in gaining approval for drugs that closely replicated the blockbuster drugs without infringing on its patent.</a:t>
            </a:r>
          </a:p>
          <a:p>
            <a:pPr algn="just">
              <a:buFont typeface="Arial" panose="020B0604020202020204" pitchFamily="34" charset="0"/>
              <a:buChar char="•"/>
            </a:pPr>
            <a:endParaRPr lang="en-US" sz="2200"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smtClean="0"/>
              <a:t>Motivation for Pfizer’s Acquisition of Wyeth</a:t>
            </a:r>
            <a:endParaRPr lang="en-US" sz="3200" dirty="0"/>
          </a:p>
        </p:txBody>
      </p:sp>
    </p:spTree>
    <p:extLst>
      <p:ext uri="{BB962C8B-B14F-4D97-AF65-F5344CB8AC3E}">
        <p14:creationId xmlns:p14="http://schemas.microsoft.com/office/powerpoint/2010/main" val="2491502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r>
              <a:rPr lang="en-US" sz="2800" b="1" dirty="0" smtClean="0"/>
              <a:t>Industry-wide factors:</a:t>
            </a:r>
          </a:p>
          <a:p>
            <a:pPr algn="just">
              <a:buFont typeface="Arial" panose="020B0604020202020204" pitchFamily="34" charset="0"/>
              <a:buChar char="•"/>
            </a:pPr>
            <a:r>
              <a:rPr lang="en-US" dirty="0" smtClean="0"/>
              <a:t>Tougher regulatory approval climate made in-house development of new ground breaking drugs more expensive, time-consuming and risky</a:t>
            </a:r>
          </a:p>
          <a:p>
            <a:pPr lvl="1" algn="just">
              <a:buFont typeface="Arial" panose="020B0604020202020204" pitchFamily="34" charset="0"/>
              <a:buChar char="•"/>
            </a:pPr>
            <a:r>
              <a:rPr lang="en-US" sz="2000" dirty="0" smtClean="0"/>
              <a:t>Made Pfizer to acquire proven products rather to develop them in-house.</a:t>
            </a:r>
          </a:p>
          <a:p>
            <a:pPr algn="just">
              <a:buFont typeface="Arial" panose="020B0604020202020204" pitchFamily="34" charset="0"/>
              <a:buChar char="•"/>
            </a:pPr>
            <a:r>
              <a:rPr lang="en-US" dirty="0" smtClean="0"/>
              <a:t>Increase in global demand-high growth opportunities in Latin America, Middle East and China.</a:t>
            </a:r>
          </a:p>
          <a:p>
            <a:pPr algn="just">
              <a:buFont typeface="Arial" panose="020B0604020202020204" pitchFamily="34" charset="0"/>
              <a:buChar char="•"/>
            </a:pPr>
            <a:r>
              <a:rPr lang="en-US" dirty="0" smtClean="0"/>
              <a:t>The rapidly growing biotech segment represented an attractive diversification option for large pharmaceutical companies.  </a:t>
            </a:r>
          </a:p>
          <a:p>
            <a:pPr algn="just">
              <a:buFont typeface="Arial" panose="020B0604020202020204" pitchFamily="34" charset="0"/>
              <a:buChar char="•"/>
            </a:pPr>
            <a:endParaRPr lang="en-US" sz="2200"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smtClean="0"/>
              <a:t>Motivation for Pfizer’s Acquisition of Wyeth</a:t>
            </a:r>
            <a:endParaRPr lang="en-US" sz="3200" dirty="0"/>
          </a:p>
        </p:txBody>
      </p:sp>
    </p:spTree>
    <p:extLst>
      <p:ext uri="{BB962C8B-B14F-4D97-AF65-F5344CB8AC3E}">
        <p14:creationId xmlns:p14="http://schemas.microsoft.com/office/powerpoint/2010/main" val="12921224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0" indent="0" algn="just"/>
            <a:r>
              <a:rPr lang="en-US" sz="2800" b="1" dirty="0" smtClean="0"/>
              <a:t>Company-specific factors:</a:t>
            </a:r>
          </a:p>
          <a:p>
            <a:pPr algn="just">
              <a:buFont typeface="Arial" panose="020B0604020202020204" pitchFamily="34" charset="0"/>
              <a:buChar char="•"/>
            </a:pPr>
            <a:r>
              <a:rPr lang="en-US" dirty="0" smtClean="0"/>
              <a:t>The impending loss of patent protection for the blockbuster drug Lipitor (the world’s top selling drug, which accounted for 29% of Pfizer’s pharmaceutical revenues in 2008).</a:t>
            </a:r>
          </a:p>
          <a:p>
            <a:pPr algn="just">
              <a:buFont typeface="Arial" panose="020B0604020202020204" pitchFamily="34" charset="0"/>
              <a:buChar char="•"/>
            </a:pPr>
            <a:r>
              <a:rPr lang="en-US" dirty="0" smtClean="0"/>
              <a:t>Combined with the Pfizer inability to create a successful follow-up drug threatened to create a huge revenue hole for the company in the next five years.</a:t>
            </a:r>
          </a:p>
          <a:p>
            <a:pPr algn="just">
              <a:buFont typeface="Arial" panose="020B0604020202020204" pitchFamily="34" charset="0"/>
              <a:buChar char="•"/>
            </a:pPr>
            <a:r>
              <a:rPr lang="en-US" dirty="0" smtClean="0"/>
              <a:t>Also, torcetrapib, a promising potential replacement, had recently failed in late-stage testing.</a:t>
            </a:r>
          </a:p>
          <a:p>
            <a:pPr algn="just">
              <a:buFont typeface="Arial" panose="020B0604020202020204" pitchFamily="34" charset="0"/>
              <a:buChar char="•"/>
            </a:pPr>
            <a:r>
              <a:rPr lang="en-US" dirty="0" smtClean="0"/>
              <a:t>This approaching issue, along with failed high quality pipeline, weakening company stock pressuring management to make a big move.</a:t>
            </a:r>
          </a:p>
          <a:p>
            <a:pPr algn="just">
              <a:buFont typeface="Arial" panose="020B0604020202020204" pitchFamily="34" charset="0"/>
              <a:buChar char="•"/>
            </a:pPr>
            <a:endParaRPr lang="en-US" sz="2200"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smtClean="0"/>
              <a:t>Motivation for Pfizer’s Acquisition of Wyeth</a:t>
            </a:r>
            <a:endParaRPr lang="en-US" sz="3200" dirty="0"/>
          </a:p>
        </p:txBody>
      </p:sp>
    </p:spTree>
    <p:extLst>
      <p:ext uri="{BB962C8B-B14F-4D97-AF65-F5344CB8AC3E}">
        <p14:creationId xmlns:p14="http://schemas.microsoft.com/office/powerpoint/2010/main" val="4171308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fontScale="92500" lnSpcReduction="10000"/>
          </a:bodyPr>
          <a:lstStyle/>
          <a:p>
            <a:pPr algn="just">
              <a:buFont typeface="Arial" panose="020B0604020202020204" pitchFamily="34" charset="0"/>
              <a:buChar char="•"/>
            </a:pPr>
            <a:r>
              <a:rPr lang="en-US" dirty="0" smtClean="0"/>
              <a:t>Historically, as well, Pfizer had grown by acquisition rather than by developing its own blockbuster drugs.</a:t>
            </a:r>
          </a:p>
          <a:p>
            <a:pPr algn="just">
              <a:buFont typeface="Arial" panose="020B0604020202020204" pitchFamily="34" charset="0"/>
              <a:buChar char="•"/>
            </a:pPr>
            <a:r>
              <a:rPr lang="en-US" dirty="0" smtClean="0"/>
              <a:t>Major Acquisitions like Warner Lambert (2000 $89 billion) and Pharmacia (2003 $60 billion) keeping its product line full and giving it status as the world's largest pharmaceutical company. </a:t>
            </a:r>
          </a:p>
          <a:p>
            <a:pPr algn="just">
              <a:buFont typeface="Arial" panose="020B0604020202020204" pitchFamily="34" charset="0"/>
              <a:buChar char="•"/>
            </a:pPr>
            <a:r>
              <a:rPr lang="en-US" dirty="0" smtClean="0"/>
              <a:t>Operationally through Wyeth’s acquisition, in the combined company no drug would represent more than 10% of total revenue cushioning sudden future loss of blockbuster like Lipitor.</a:t>
            </a:r>
          </a:p>
          <a:p>
            <a:pPr algn="just">
              <a:buFont typeface="Arial" panose="020B0604020202020204" pitchFamily="34" charset="0"/>
              <a:buChar char="•"/>
            </a:pPr>
            <a:r>
              <a:rPr lang="en-US" dirty="0" smtClean="0"/>
              <a:t>Global presence in both developed and emerging markets.</a:t>
            </a:r>
          </a:p>
          <a:p>
            <a:pPr algn="just">
              <a:buFont typeface="Arial" panose="020B0604020202020204" pitchFamily="34" charset="0"/>
              <a:buChar char="•"/>
            </a:pPr>
            <a:r>
              <a:rPr lang="en-US" dirty="0" smtClean="0"/>
              <a:t>Potential cost savings of $4 billion from increased economies of scale (layoffs (20,000 jobs) and deploying redundant operations.</a:t>
            </a:r>
          </a:p>
          <a:p>
            <a:pPr algn="just">
              <a:buFont typeface="Arial" panose="020B0604020202020204" pitchFamily="34" charset="0"/>
              <a:buChar char="•"/>
            </a:pPr>
            <a:endParaRPr lang="en-US" sz="2200"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smtClean="0"/>
              <a:t>Motivation for Pfizer’s Acquisition of Wyeth</a:t>
            </a:r>
            <a:endParaRPr lang="en-US" sz="3200" dirty="0"/>
          </a:p>
        </p:txBody>
      </p:sp>
    </p:spTree>
    <p:extLst>
      <p:ext uri="{BB962C8B-B14F-4D97-AF65-F5344CB8AC3E}">
        <p14:creationId xmlns:p14="http://schemas.microsoft.com/office/powerpoint/2010/main" val="13993583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algn="just">
              <a:buFont typeface="Arial" panose="020B0604020202020204" pitchFamily="34" charset="0"/>
              <a:buChar char="•"/>
            </a:pPr>
            <a:r>
              <a:rPr lang="en-US" dirty="0"/>
              <a:t>The </a:t>
            </a:r>
            <a:r>
              <a:rPr lang="en-US" dirty="0" smtClean="0"/>
              <a:t>acquirer must </a:t>
            </a:r>
            <a:r>
              <a:rPr lang="en-US" dirty="0"/>
              <a:t>be careful to avoid overpaying for the target. </a:t>
            </a:r>
            <a:endParaRPr lang="en-US" dirty="0" smtClean="0"/>
          </a:p>
          <a:p>
            <a:pPr algn="just">
              <a:buFont typeface="Arial" panose="020B0604020202020204" pitchFamily="34" charset="0"/>
              <a:buChar char="•"/>
            </a:pPr>
            <a:r>
              <a:rPr lang="en-US" dirty="0" smtClean="0"/>
              <a:t>Overpayment </a:t>
            </a:r>
            <a:r>
              <a:rPr lang="en-US" dirty="0"/>
              <a:t>makes the </a:t>
            </a:r>
            <a:r>
              <a:rPr lang="en-US" dirty="0" smtClean="0"/>
              <a:t>transaction highly </a:t>
            </a:r>
            <a:r>
              <a:rPr lang="en-US" dirty="0"/>
              <a:t>desirable and profitable for target </a:t>
            </a:r>
            <a:r>
              <a:rPr lang="en-US" dirty="0" smtClean="0"/>
              <a:t>stockholders.</a:t>
            </a:r>
          </a:p>
          <a:p>
            <a:pPr lvl="1" algn="just">
              <a:buFont typeface="Arial" panose="020B0604020202020204" pitchFamily="34" charset="0"/>
              <a:buChar char="•"/>
            </a:pPr>
            <a:r>
              <a:rPr lang="en-US" sz="2400" dirty="0" smtClean="0"/>
              <a:t>But </a:t>
            </a:r>
            <a:r>
              <a:rPr lang="en-US" sz="2400" dirty="0"/>
              <a:t>it diminishes the value of </a:t>
            </a:r>
            <a:r>
              <a:rPr lang="en-US" sz="2400" dirty="0" smtClean="0"/>
              <a:t>the deal </a:t>
            </a:r>
            <a:r>
              <a:rPr lang="en-US" sz="2400" dirty="0"/>
              <a:t>to acquiring stockholders</a:t>
            </a:r>
            <a:r>
              <a:rPr lang="en-US" sz="2400" dirty="0" smtClean="0"/>
              <a:t>.</a:t>
            </a:r>
          </a:p>
          <a:p>
            <a:pPr lvl="1" algn="just">
              <a:buFont typeface="Arial" panose="020B0604020202020204" pitchFamily="34" charset="0"/>
              <a:buChar char="•"/>
            </a:pPr>
            <a:endParaRPr lang="en-US" sz="2400" dirty="0" smtClean="0"/>
          </a:p>
          <a:p>
            <a:pPr marL="0" indent="0" algn="just"/>
            <a:r>
              <a:rPr lang="en-US" dirty="0" smtClean="0"/>
              <a:t>A </a:t>
            </a:r>
            <a:r>
              <a:rPr lang="en-US" dirty="0"/>
              <a:t>financial analyst can use the following methods to </a:t>
            </a:r>
            <a:r>
              <a:rPr lang="en-US" dirty="0" smtClean="0"/>
              <a:t>assess whether </a:t>
            </a:r>
            <a:r>
              <a:rPr lang="en-US" dirty="0"/>
              <a:t>the acquiring firm is overpaying for the </a:t>
            </a:r>
            <a:r>
              <a:rPr lang="en-US" dirty="0" smtClean="0"/>
              <a:t>target:</a:t>
            </a:r>
            <a:endParaRPr lang="en-US" sz="2200" dirty="0" smtClean="0"/>
          </a:p>
          <a:p>
            <a:pPr algn="just">
              <a:buFont typeface="Arial" panose="020B0604020202020204" pitchFamily="34" charset="0"/>
              <a:buChar char="•"/>
            </a:pPr>
            <a:endParaRPr lang="en-US" b="1"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5225309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Premium Offered to Target </a:t>
            </a:r>
            <a:r>
              <a:rPr lang="en-US" b="1" dirty="0" smtClean="0"/>
              <a:t>Stockholders</a:t>
            </a:r>
          </a:p>
          <a:p>
            <a:pPr algn="just">
              <a:buFont typeface="Arial" panose="020B0604020202020204" pitchFamily="34" charset="0"/>
              <a:buChar char="•"/>
            </a:pPr>
            <a:r>
              <a:rPr lang="en-US" dirty="0" smtClean="0"/>
              <a:t>To </a:t>
            </a:r>
            <a:r>
              <a:rPr lang="en-US" dirty="0"/>
              <a:t>assess whether the acquirer is overpaying for a target is to </a:t>
            </a:r>
            <a:r>
              <a:rPr lang="en-US" dirty="0" smtClean="0"/>
              <a:t>compare the </a:t>
            </a:r>
            <a:r>
              <a:rPr lang="en-US" dirty="0"/>
              <a:t>premium offered to target stockholders to premiums offered in similar transactions</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a:t>If the acquirer offers a relatively high premium, the analyst is typically led to </a:t>
            </a:r>
            <a:r>
              <a:rPr lang="en-US" dirty="0" smtClean="0"/>
              <a:t>conclude that </a:t>
            </a:r>
            <a:r>
              <a:rPr lang="en-US" dirty="0"/>
              <a:t>the transaction is less likely to create value for acquiring stockholders</a:t>
            </a:r>
            <a:endParaRPr lang="en-US" dirty="0" smtClean="0"/>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35485188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normAutofit/>
          </a:bodyPr>
          <a:lstStyle/>
          <a:p>
            <a:r>
              <a:rPr lang="en-US" sz="3200" dirty="0"/>
              <a:t>ACQUISITION PRICING</a:t>
            </a:r>
          </a:p>
        </p:txBody>
      </p:sp>
      <p:pic>
        <p:nvPicPr>
          <p:cNvPr id="5" name="Picture 4"/>
          <p:cNvPicPr>
            <a:picLocks noChangeAspect="1"/>
          </p:cNvPicPr>
          <p:nvPr/>
        </p:nvPicPr>
        <p:blipFill>
          <a:blip r:embed="rId2"/>
          <a:stretch>
            <a:fillRect/>
          </a:stretch>
        </p:blipFill>
        <p:spPr>
          <a:xfrm>
            <a:off x="838200" y="1447799"/>
            <a:ext cx="6629400" cy="5105661"/>
          </a:xfrm>
          <a:prstGeom prst="rect">
            <a:avLst/>
          </a:prstGeom>
        </p:spPr>
      </p:pic>
    </p:spTree>
    <p:extLst>
      <p:ext uri="{BB962C8B-B14F-4D97-AF65-F5344CB8AC3E}">
        <p14:creationId xmlns:p14="http://schemas.microsoft.com/office/powerpoint/2010/main" val="19962040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algn="just">
              <a:buFont typeface="Arial" panose="020B0604020202020204" pitchFamily="34" charset="0"/>
              <a:buChar char="•"/>
            </a:pPr>
            <a:r>
              <a:rPr lang="en-US" dirty="0" smtClean="0"/>
              <a:t>The above figure shows </a:t>
            </a:r>
            <a:r>
              <a:rPr lang="en-US" dirty="0"/>
              <a:t>the mean and median </a:t>
            </a:r>
            <a:r>
              <a:rPr lang="en-US" dirty="0" smtClean="0"/>
              <a:t>premiums paid </a:t>
            </a:r>
            <a:r>
              <a:rPr lang="en-US" dirty="0"/>
              <a:t>for U.S. targets between </a:t>
            </a:r>
            <a:r>
              <a:rPr lang="en-US" dirty="0" smtClean="0"/>
              <a:t>1980 </a:t>
            </a:r>
            <a:r>
              <a:rPr lang="en-US" dirty="0"/>
              <a:t>and </a:t>
            </a:r>
            <a:r>
              <a:rPr lang="en-US" dirty="0" smtClean="0"/>
              <a:t>2010 </a:t>
            </a:r>
            <a:r>
              <a:rPr lang="en-US" dirty="0"/>
              <a:t>relative to stock prices one week prior </a:t>
            </a:r>
            <a:r>
              <a:rPr lang="en-US" dirty="0" smtClean="0"/>
              <a:t>to the </a:t>
            </a:r>
            <a:r>
              <a:rPr lang="en-US" dirty="0"/>
              <a:t>first acquisition announcement</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smtClean="0"/>
              <a:t>Mean and Median premiums have to be interpreted with caution since there is considerable variation across transactions, making it difficult to use these estimates as a benchmark.</a:t>
            </a:r>
          </a:p>
          <a:p>
            <a:pPr algn="just">
              <a:buFont typeface="Arial" panose="020B0604020202020204" pitchFamily="34" charset="0"/>
              <a:buChar char="•"/>
            </a:pPr>
            <a:endParaRPr lang="en-US" b="1" dirty="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6715548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algn="just">
              <a:buFont typeface="Arial" panose="020B0604020202020204" pitchFamily="34" charset="0"/>
              <a:buChar char="•"/>
            </a:pPr>
            <a:r>
              <a:rPr lang="en-US" dirty="0" smtClean="0"/>
              <a:t>Premiums can be misleading if an offer is anticipated by investors.</a:t>
            </a:r>
          </a:p>
          <a:p>
            <a:pPr lvl="1" algn="just">
              <a:buFont typeface="Arial" panose="020B0604020202020204" pitchFamily="34" charset="0"/>
              <a:buChar char="•"/>
            </a:pPr>
            <a:r>
              <a:rPr lang="en-US" sz="2400" dirty="0" smtClean="0"/>
              <a:t>As a result, the stock price run-up for the target will then tend to make estimates of the premium appear relatively low. </a:t>
            </a:r>
          </a:p>
          <a:p>
            <a:pPr lvl="1" algn="just">
              <a:buFont typeface="Arial" panose="020B0604020202020204" pitchFamily="34" charset="0"/>
              <a:buChar char="•"/>
            </a:pPr>
            <a:endParaRPr lang="en-US" sz="2400" dirty="0" smtClean="0"/>
          </a:p>
          <a:p>
            <a:pPr lvl="1" algn="just">
              <a:buFont typeface="Arial" panose="020B0604020202020204" pitchFamily="34" charset="0"/>
              <a:buChar char="•"/>
            </a:pPr>
            <a:r>
              <a:rPr lang="en-US" sz="2400" dirty="0"/>
              <a:t>This limitation can be partially offset by using </a:t>
            </a:r>
            <a:r>
              <a:rPr lang="en-US" sz="2400" dirty="0" smtClean="0"/>
              <a:t>target stock </a:t>
            </a:r>
            <a:r>
              <a:rPr lang="en-US" sz="2400" dirty="0"/>
              <a:t>prices one month prior to the acquisition </a:t>
            </a:r>
            <a:r>
              <a:rPr lang="en-US" sz="2400" dirty="0" smtClean="0"/>
              <a:t>offer.</a:t>
            </a:r>
          </a:p>
          <a:p>
            <a:pPr lvl="1" algn="just">
              <a:buFont typeface="Arial" panose="020B0604020202020204" pitchFamily="34" charset="0"/>
              <a:buChar char="•"/>
            </a:pPr>
            <a:endParaRPr lang="en-US" sz="2400" dirty="0" smtClean="0"/>
          </a:p>
          <a:p>
            <a:pPr lvl="1" algn="just">
              <a:buFont typeface="Arial" panose="020B0604020202020204" pitchFamily="34" charset="0"/>
              <a:buChar char="•"/>
            </a:pPr>
            <a:r>
              <a:rPr lang="en-US" sz="2400" dirty="0"/>
              <a:t>However, in some cases offers may have been anticipated for even longer </a:t>
            </a:r>
            <a:r>
              <a:rPr lang="en-US" sz="2400" dirty="0" smtClean="0"/>
              <a:t>than one month.</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22547497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algn="just">
              <a:buFont typeface="Arial" panose="020B0604020202020204" pitchFamily="34" charset="0"/>
              <a:buChar char="•"/>
            </a:pPr>
            <a:r>
              <a:rPr lang="en-US" dirty="0"/>
              <a:t>Finally, using target premiums to assess whether an acquirer overpaid ignores </a:t>
            </a:r>
            <a:r>
              <a:rPr lang="en-US" dirty="0" smtClean="0"/>
              <a:t>the value </a:t>
            </a:r>
            <a:r>
              <a:rPr lang="en-US" dirty="0"/>
              <a:t>of the target to the acquirer after the acquisition</a:t>
            </a:r>
            <a:r>
              <a:rPr lang="en-US" dirty="0" smtClean="0"/>
              <a:t>.</a:t>
            </a:r>
          </a:p>
          <a:p>
            <a:pPr algn="just">
              <a:buFont typeface="Arial" panose="020B0604020202020204" pitchFamily="34" charset="0"/>
              <a:buChar char="•"/>
            </a:pPr>
            <a:endParaRPr lang="en-US" dirty="0" smtClean="0"/>
          </a:p>
          <a:p>
            <a:pPr marL="0" indent="0" algn="just"/>
            <a:r>
              <a:rPr lang="en-US" b="1" dirty="0">
                <a:solidFill>
                  <a:srgbClr val="FF0000"/>
                </a:solidFill>
              </a:rPr>
              <a:t>i.e.</a:t>
            </a:r>
            <a:r>
              <a:rPr lang="en-US" dirty="0"/>
              <a:t> </a:t>
            </a:r>
            <a:r>
              <a:rPr lang="en-US" b="1" dirty="0"/>
              <a:t>Value of target after acquisition = Value as independent firm + Value of </a:t>
            </a:r>
            <a:r>
              <a:rPr lang="en-US" b="1" dirty="0" smtClean="0"/>
              <a:t>merger benefits</a:t>
            </a:r>
          </a:p>
          <a:p>
            <a:pPr marL="0" indent="0" algn="just"/>
            <a:endParaRPr lang="en-US" b="1" dirty="0" smtClean="0"/>
          </a:p>
          <a:p>
            <a:pPr algn="just">
              <a:buFont typeface="Arial" panose="020B0604020202020204" pitchFamily="34" charset="0"/>
              <a:buChar char="•"/>
            </a:pPr>
            <a:r>
              <a:rPr lang="en-US" dirty="0"/>
              <a:t>The value of the target before acquisition is the present value of the free cash </a:t>
            </a:r>
            <a:r>
              <a:rPr lang="en-US" dirty="0" smtClean="0"/>
              <a:t>flows for </a:t>
            </a:r>
            <a:r>
              <a:rPr lang="en-US" dirty="0"/>
              <a:t>the target if it were to remain an independent </a:t>
            </a:r>
            <a:r>
              <a:rPr lang="en-US" dirty="0" smtClean="0"/>
              <a:t>entity</a:t>
            </a:r>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2636845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algn="just">
              <a:buFont typeface="Arial" panose="020B0604020202020204" pitchFamily="34" charset="0"/>
              <a:buChar char="•"/>
            </a:pPr>
            <a:r>
              <a:rPr lang="en-US" dirty="0" smtClean="0"/>
              <a:t>The </a:t>
            </a:r>
            <a:r>
              <a:rPr lang="en-US" dirty="0"/>
              <a:t>benefits of the merger include such effects </a:t>
            </a:r>
            <a:r>
              <a:rPr lang="en-US" dirty="0" smtClean="0"/>
              <a:t>as improvements </a:t>
            </a:r>
            <a:r>
              <a:rPr lang="en-US" dirty="0"/>
              <a:t>in target operating performance from economies of scale, improved management</a:t>
            </a:r>
            <a:r>
              <a:rPr lang="en-US" dirty="0" smtClean="0"/>
              <a:t>, or </a:t>
            </a:r>
            <a:r>
              <a:rPr lang="en-US" dirty="0"/>
              <a:t>tax benefits, as well as any spillover benefits to the acquirer from the acquisition</a:t>
            </a:r>
            <a:r>
              <a:rPr lang="en-US" dirty="0" smtClean="0"/>
              <a:t>.</a:t>
            </a:r>
          </a:p>
          <a:p>
            <a:pPr algn="just">
              <a:buFont typeface="Arial" panose="020B0604020202020204" pitchFamily="34" charset="0"/>
              <a:buChar char="•"/>
            </a:pPr>
            <a:r>
              <a:rPr lang="en-US" dirty="0"/>
              <a:t>Clearly, acquirers will be willing to pay higher premiums for targets which </a:t>
            </a:r>
            <a:r>
              <a:rPr lang="en-US" dirty="0" smtClean="0"/>
              <a:t>are expected </a:t>
            </a:r>
            <a:r>
              <a:rPr lang="en-US" dirty="0"/>
              <a:t>to generate higher merger benefits. </a:t>
            </a:r>
            <a:endParaRPr lang="en-US" dirty="0" smtClean="0"/>
          </a:p>
          <a:p>
            <a:pPr algn="just">
              <a:buFont typeface="Arial" panose="020B0604020202020204" pitchFamily="34" charset="0"/>
              <a:buChar char="•"/>
            </a:pPr>
            <a:r>
              <a:rPr lang="en-US" b="1" dirty="0" smtClean="0"/>
              <a:t>Thus</a:t>
            </a:r>
            <a:r>
              <a:rPr lang="en-US" b="1" dirty="0"/>
              <a:t>, examining the premium alone </a:t>
            </a:r>
            <a:r>
              <a:rPr lang="en-US" b="1" dirty="0" smtClean="0"/>
              <a:t>cannot determine </a:t>
            </a:r>
            <a:r>
              <a:rPr lang="en-US" b="1" dirty="0"/>
              <a:t>whether the acquisition creates value for acquiring stockholders.</a:t>
            </a:r>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40191319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Value of the Target to the </a:t>
            </a:r>
            <a:r>
              <a:rPr lang="en-US" b="1" dirty="0" smtClean="0"/>
              <a:t>Acquirer</a:t>
            </a:r>
          </a:p>
          <a:p>
            <a:pPr algn="just">
              <a:buFont typeface="Arial" panose="020B0604020202020204" pitchFamily="34" charset="0"/>
              <a:buChar char="•"/>
            </a:pPr>
            <a:r>
              <a:rPr lang="en-US" dirty="0" smtClean="0"/>
              <a:t>Whether </a:t>
            </a:r>
            <a:r>
              <a:rPr lang="en-US" dirty="0"/>
              <a:t>the acquirer has overpaid for </a:t>
            </a:r>
            <a:r>
              <a:rPr lang="en-US" dirty="0" smtClean="0"/>
              <a:t>the target </a:t>
            </a:r>
            <a:r>
              <a:rPr lang="en-US" dirty="0"/>
              <a:t>is to compare the offer price to the estimated value of the target to the </a:t>
            </a:r>
            <a:r>
              <a:rPr lang="en-US" dirty="0" smtClean="0"/>
              <a:t>acquirer.</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a:t>The most popular methods of valuation used for mergers and acquisitions </a:t>
            </a:r>
            <a:r>
              <a:rPr lang="en-US" dirty="0" smtClean="0"/>
              <a:t>are earnings </a:t>
            </a:r>
            <a:r>
              <a:rPr lang="en-US" dirty="0"/>
              <a:t>multiples and discounted cash </a:t>
            </a:r>
            <a:r>
              <a:rPr lang="en-US" dirty="0" smtClean="0"/>
              <a:t>flows.</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5651059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Value of the Target to the </a:t>
            </a:r>
            <a:r>
              <a:rPr lang="en-US" b="1" dirty="0" smtClean="0"/>
              <a:t>Acquirer</a:t>
            </a:r>
          </a:p>
          <a:p>
            <a:pPr algn="just">
              <a:buFont typeface="Arial" panose="020B0604020202020204" pitchFamily="34" charset="0"/>
              <a:buChar char="•"/>
            </a:pPr>
            <a:r>
              <a:rPr lang="en-US" dirty="0" smtClean="0"/>
              <a:t>First compute the </a:t>
            </a:r>
            <a:r>
              <a:rPr lang="en-US" dirty="0"/>
              <a:t>value of the target as an independent firm</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smtClean="0"/>
              <a:t>This </a:t>
            </a:r>
            <a:r>
              <a:rPr lang="en-US" dirty="0"/>
              <a:t>provides a way of checking </a:t>
            </a:r>
            <a:r>
              <a:rPr lang="en-US" dirty="0" smtClean="0"/>
              <a:t>whether the </a:t>
            </a:r>
            <a:r>
              <a:rPr lang="en-US" dirty="0"/>
              <a:t>valuation assumptions are reasonable, since for publicly listed targets we can </a:t>
            </a:r>
            <a:r>
              <a:rPr lang="en-US" b="1" dirty="0" smtClean="0"/>
              <a:t>compare our </a:t>
            </a:r>
            <a:r>
              <a:rPr lang="en-US" b="1" dirty="0"/>
              <a:t>estimate with premerger market prices</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smtClean="0"/>
              <a:t>It </a:t>
            </a:r>
            <a:r>
              <a:rPr lang="en-US" dirty="0"/>
              <a:t>also provides a useful benchmark </a:t>
            </a:r>
            <a:r>
              <a:rPr lang="en-US" dirty="0" smtClean="0"/>
              <a:t>for thinking </a:t>
            </a:r>
            <a:r>
              <a:rPr lang="en-US" dirty="0"/>
              <a:t>about how the target’s performance, and hence its value, is likely to </a:t>
            </a:r>
            <a:r>
              <a:rPr lang="en-US" dirty="0" smtClean="0"/>
              <a:t>change once </a:t>
            </a:r>
            <a:r>
              <a:rPr lang="en-US" dirty="0"/>
              <a:t>it is acquired.</a:t>
            </a:r>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28776598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Value of the Target to the </a:t>
            </a:r>
            <a:r>
              <a:rPr lang="en-US" b="1" dirty="0" smtClean="0"/>
              <a:t>Acquirer</a:t>
            </a:r>
          </a:p>
          <a:p>
            <a:pPr marL="0" indent="0" algn="just"/>
            <a:r>
              <a:rPr lang="en-US" u="sng" dirty="0" smtClean="0"/>
              <a:t>“Earnings Multiples Approach or P/E Multiple Approach”</a:t>
            </a:r>
          </a:p>
          <a:p>
            <a:pPr marL="0" indent="0" algn="just"/>
            <a:r>
              <a:rPr lang="en-US" b="1" dirty="0"/>
              <a:t>Step One: Forecasting </a:t>
            </a:r>
            <a:r>
              <a:rPr lang="en-US" b="1" dirty="0" smtClean="0"/>
              <a:t>Earnings</a:t>
            </a:r>
          </a:p>
          <a:p>
            <a:pPr algn="just">
              <a:buFont typeface="Arial" panose="020B0604020202020204" pitchFamily="34" charset="0"/>
              <a:buChar char="•"/>
            </a:pPr>
            <a:r>
              <a:rPr lang="en-US" dirty="0"/>
              <a:t>Earnings forecasts are usually made by first </a:t>
            </a:r>
            <a:r>
              <a:rPr lang="en-US" dirty="0" smtClean="0"/>
              <a:t>forecasting next </a:t>
            </a:r>
            <a:r>
              <a:rPr lang="en-US" dirty="0"/>
              <a:t>year’s net income for the target, assuming no </a:t>
            </a:r>
            <a:r>
              <a:rPr lang="en-US" dirty="0" smtClean="0"/>
              <a:t>acquisition.</a:t>
            </a:r>
          </a:p>
          <a:p>
            <a:pPr algn="just">
              <a:buFont typeface="Arial" panose="020B0604020202020204" pitchFamily="34" charset="0"/>
              <a:buChar char="•"/>
            </a:pPr>
            <a:r>
              <a:rPr lang="en-US" dirty="0" smtClean="0"/>
              <a:t>In </a:t>
            </a:r>
            <a:r>
              <a:rPr lang="en-US" dirty="0"/>
              <a:t>other words, </a:t>
            </a:r>
            <a:r>
              <a:rPr lang="en-US" dirty="0" smtClean="0"/>
              <a:t>build </a:t>
            </a:r>
            <a:r>
              <a:rPr lang="en-US" dirty="0"/>
              <a:t>a pro </a:t>
            </a:r>
            <a:r>
              <a:rPr lang="en-US" dirty="0" smtClean="0"/>
              <a:t>forma income model for the next year for the target before acquisition.</a:t>
            </a:r>
          </a:p>
          <a:p>
            <a:pPr algn="just">
              <a:buFont typeface="Arial" panose="020B0604020202020204" pitchFamily="34" charset="0"/>
              <a:buChar char="•"/>
            </a:pPr>
            <a:r>
              <a:rPr lang="en-US" dirty="0" smtClean="0"/>
              <a:t>Then, build </a:t>
            </a:r>
            <a:r>
              <a:rPr lang="en-US" dirty="0"/>
              <a:t>a pro forma income model for the next year for the target </a:t>
            </a:r>
            <a:r>
              <a:rPr lang="en-US" dirty="0" smtClean="0"/>
              <a:t>after </a:t>
            </a:r>
            <a:r>
              <a:rPr lang="en-US" dirty="0"/>
              <a:t>acquisition</a:t>
            </a:r>
            <a:r>
              <a:rPr lang="en-US" dirty="0" smtClean="0"/>
              <a:t>.</a:t>
            </a:r>
          </a:p>
          <a:p>
            <a:pPr algn="just">
              <a:buFont typeface="Arial" panose="020B0604020202020204" pitchFamily="34" charset="0"/>
              <a:buChar char="•"/>
            </a:pPr>
            <a:r>
              <a:rPr lang="en-US" b="1" dirty="0" smtClean="0"/>
              <a:t>Forecasted Net Income before and after Acquisition.</a:t>
            </a:r>
            <a:endParaRPr lang="en-US" b="1" dirty="0"/>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10567558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Value of the Target to the </a:t>
            </a:r>
            <a:r>
              <a:rPr lang="en-US" b="1" dirty="0" smtClean="0"/>
              <a:t>Acquirer</a:t>
            </a:r>
          </a:p>
          <a:p>
            <a:pPr marL="0" indent="0" algn="just"/>
            <a:r>
              <a:rPr lang="en-US" u="sng" dirty="0" smtClean="0"/>
              <a:t>“Earnings Multiples Approach or P/E Multiple Approach”</a:t>
            </a:r>
          </a:p>
          <a:p>
            <a:pPr marL="0" indent="0" algn="just"/>
            <a:r>
              <a:rPr lang="en-US" b="1" dirty="0"/>
              <a:t>Step Two: Determining Price-Earnings </a:t>
            </a:r>
            <a:r>
              <a:rPr lang="en-US" b="1" dirty="0" smtClean="0"/>
              <a:t>Multiple</a:t>
            </a:r>
          </a:p>
          <a:p>
            <a:pPr marL="0" indent="0" algn="just"/>
            <a:endParaRPr lang="en-US" dirty="0" smtClean="0"/>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graphicFrame>
        <p:nvGraphicFramePr>
          <p:cNvPr id="2" name="Table 1"/>
          <p:cNvGraphicFramePr>
            <a:graphicFrameLocks noGrp="1"/>
          </p:cNvGraphicFramePr>
          <p:nvPr>
            <p:extLst>
              <p:ext uri="{D42A27DB-BD31-4B8C-83A1-F6EECF244321}">
                <p14:modId xmlns:p14="http://schemas.microsoft.com/office/powerpoint/2010/main" val="2328223732"/>
              </p:ext>
            </p:extLst>
          </p:nvPr>
        </p:nvGraphicFramePr>
        <p:xfrm>
          <a:off x="533400" y="2939717"/>
          <a:ext cx="8305800" cy="2516203"/>
        </p:xfrm>
        <a:graphic>
          <a:graphicData uri="http://schemas.openxmlformats.org/drawingml/2006/table">
            <a:tbl>
              <a:tblPr firstRow="1" bandRow="1">
                <a:tableStyleId>{5C22544A-7EE6-4342-B048-85BDC9FD1C3A}</a:tableStyleId>
              </a:tblPr>
              <a:tblGrid>
                <a:gridCol w="2293982">
                  <a:extLst>
                    <a:ext uri="{9D8B030D-6E8A-4147-A177-3AD203B41FA5}">
                      <a16:colId xmlns:a16="http://schemas.microsoft.com/office/drawing/2014/main" val="3770654625"/>
                    </a:ext>
                  </a:extLst>
                </a:gridCol>
                <a:gridCol w="6011818">
                  <a:extLst>
                    <a:ext uri="{9D8B030D-6E8A-4147-A177-3AD203B41FA5}">
                      <a16:colId xmlns:a16="http://schemas.microsoft.com/office/drawing/2014/main" val="1182721624"/>
                    </a:ext>
                  </a:extLst>
                </a:gridCol>
              </a:tblGrid>
              <a:tr h="413083">
                <a:tc gridSpan="2">
                  <a:txBody>
                    <a:bodyPr/>
                    <a:lstStyle/>
                    <a:p>
                      <a:pPr algn="ctr"/>
                      <a:r>
                        <a:rPr lang="en-US" dirty="0" smtClean="0"/>
                        <a:t>Summary of Price-Earnings Valuation for Targets</a:t>
                      </a:r>
                      <a:endParaRPr lang="en-US" dirty="0"/>
                    </a:p>
                  </a:txBody>
                  <a:tcPr/>
                </a:tc>
                <a:tc hMerge="1">
                  <a:txBody>
                    <a:bodyPr/>
                    <a:lstStyle/>
                    <a:p>
                      <a:endParaRPr lang="en-US" dirty="0"/>
                    </a:p>
                  </a:txBody>
                  <a:tcPr/>
                </a:tc>
                <a:extLst>
                  <a:ext uri="{0D108BD9-81ED-4DB2-BD59-A6C34878D82A}">
                    <a16:rowId xmlns:a16="http://schemas.microsoft.com/office/drawing/2014/main" val="1833157115"/>
                  </a:ext>
                </a:extLst>
              </a:tr>
              <a:tr h="685800">
                <a:tc>
                  <a:txBody>
                    <a:bodyPr/>
                    <a:lstStyle/>
                    <a:p>
                      <a:r>
                        <a:rPr lang="en-US" b="1" dirty="0" smtClean="0"/>
                        <a:t>Value of target as an</a:t>
                      </a:r>
                    </a:p>
                    <a:p>
                      <a:r>
                        <a:rPr lang="en-US" b="1" dirty="0" smtClean="0"/>
                        <a:t>independent firm</a:t>
                      </a:r>
                      <a:endParaRPr lang="en-US" b="1" dirty="0"/>
                    </a:p>
                  </a:txBody>
                  <a:tcPr/>
                </a:tc>
                <a:tc>
                  <a:txBody>
                    <a:bodyPr/>
                    <a:lstStyle/>
                    <a:p>
                      <a:r>
                        <a:rPr lang="en-US" dirty="0" smtClean="0"/>
                        <a:t>Target earnings forecast for the next year, assuming no change in ownership, multiplied by its premerger PE multiple. Make sure for pre-merger PE multiple, the price is before the date of announcement.</a:t>
                      </a:r>
                      <a:endParaRPr lang="en-US" dirty="0"/>
                    </a:p>
                  </a:txBody>
                  <a:tcPr/>
                </a:tc>
                <a:extLst>
                  <a:ext uri="{0D108BD9-81ED-4DB2-BD59-A6C34878D82A}">
                    <a16:rowId xmlns:a16="http://schemas.microsoft.com/office/drawing/2014/main" val="2659878472"/>
                  </a:ext>
                </a:extLst>
              </a:tr>
              <a:tr h="685800">
                <a:tc>
                  <a:txBody>
                    <a:bodyPr/>
                    <a:lstStyle/>
                    <a:p>
                      <a:r>
                        <a:rPr lang="en-US" b="1" dirty="0" smtClean="0"/>
                        <a:t>Value of target to</a:t>
                      </a:r>
                    </a:p>
                    <a:p>
                      <a:r>
                        <a:rPr lang="en-US" b="1" dirty="0" smtClean="0"/>
                        <a:t>potential acquirer</a:t>
                      </a:r>
                      <a:endParaRPr lang="en-US" b="1" dirty="0"/>
                    </a:p>
                  </a:txBody>
                  <a:tcPr/>
                </a:tc>
                <a:tc>
                  <a:txBody>
                    <a:bodyPr/>
                    <a:lstStyle/>
                    <a:p>
                      <a:r>
                        <a:rPr lang="en-US" dirty="0" smtClean="0"/>
                        <a:t>Target revised earnings forecast for the next year,  incorporating the effect of any operational changes made by the acquirer, multiplied by its post-merger PE multiple.</a:t>
                      </a:r>
                      <a:endParaRPr lang="en-US" dirty="0"/>
                    </a:p>
                  </a:txBody>
                  <a:tcPr/>
                </a:tc>
                <a:extLst>
                  <a:ext uri="{0D108BD9-81ED-4DB2-BD59-A6C34878D82A}">
                    <a16:rowId xmlns:a16="http://schemas.microsoft.com/office/drawing/2014/main" val="3149405546"/>
                  </a:ext>
                </a:extLst>
              </a:tr>
            </a:tbl>
          </a:graphicData>
        </a:graphic>
      </p:graphicFrame>
    </p:spTree>
    <p:extLst>
      <p:ext uri="{BB962C8B-B14F-4D97-AF65-F5344CB8AC3E}">
        <p14:creationId xmlns:p14="http://schemas.microsoft.com/office/powerpoint/2010/main" val="34716386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Value of the Target to the </a:t>
            </a:r>
            <a:r>
              <a:rPr lang="en-US" b="1" dirty="0" smtClean="0"/>
              <a:t>Acquirer</a:t>
            </a:r>
          </a:p>
          <a:p>
            <a:pPr marL="0" indent="0" algn="just"/>
            <a:r>
              <a:rPr lang="en-US" u="sng" dirty="0" smtClean="0"/>
              <a:t>“Earnings Multiples Approach or P/E Multiple Approach”</a:t>
            </a:r>
          </a:p>
          <a:p>
            <a:pPr marL="0" indent="0" algn="just"/>
            <a:r>
              <a:rPr lang="en-US" b="1" dirty="0" smtClean="0"/>
              <a:t>Limitation of PE Valuation</a:t>
            </a:r>
          </a:p>
          <a:p>
            <a:pPr algn="just">
              <a:buFont typeface="Arial" panose="020B0604020202020204" pitchFamily="34" charset="0"/>
              <a:buChar char="•"/>
            </a:pPr>
            <a:r>
              <a:rPr lang="en-US" sz="2000" dirty="0"/>
              <a:t>PE multiples assume that merger performance improvements come either from </a:t>
            </a:r>
            <a:r>
              <a:rPr lang="en-US" sz="2000" dirty="0" smtClean="0"/>
              <a:t>an immediate </a:t>
            </a:r>
            <a:r>
              <a:rPr lang="en-US" sz="2000" dirty="0"/>
              <a:t>increase in earnings or from an increase in earnings </a:t>
            </a:r>
            <a:r>
              <a:rPr lang="en-US" sz="2000" dirty="0" smtClean="0"/>
              <a:t>growth. </a:t>
            </a:r>
          </a:p>
          <a:p>
            <a:pPr algn="just">
              <a:buFont typeface="Arial" panose="020B0604020202020204" pitchFamily="34" charset="0"/>
              <a:buChar char="•"/>
            </a:pPr>
            <a:r>
              <a:rPr lang="en-US" sz="2000" dirty="0" smtClean="0"/>
              <a:t>Thereby, ignoring the </a:t>
            </a:r>
            <a:r>
              <a:rPr lang="en-US" sz="2000" dirty="0"/>
              <a:t>fact that the improvements and savings </a:t>
            </a:r>
            <a:r>
              <a:rPr lang="en-US" sz="2000" dirty="0" smtClean="0"/>
              <a:t>can come </a:t>
            </a:r>
            <a:r>
              <a:rPr lang="en-US" sz="2000" dirty="0"/>
              <a:t>in many </a:t>
            </a:r>
            <a:r>
              <a:rPr lang="en-US" sz="2000" dirty="0" smtClean="0"/>
              <a:t>forms.</a:t>
            </a:r>
          </a:p>
          <a:p>
            <a:pPr marL="857250" lvl="2" indent="0" algn="just">
              <a:buNone/>
            </a:pPr>
            <a:r>
              <a:rPr lang="en-US" sz="1800" dirty="0" smtClean="0"/>
              <a:t>—Gradual </a:t>
            </a:r>
            <a:r>
              <a:rPr lang="en-US" sz="1800" dirty="0"/>
              <a:t>increases in earnings from implementing new </a:t>
            </a:r>
            <a:r>
              <a:rPr lang="en-US" sz="1800" dirty="0" smtClean="0"/>
              <a:t>operating policies</a:t>
            </a:r>
            <a:r>
              <a:rPr lang="en-US" sz="1800" dirty="0"/>
              <a:t>, elimination of overinvestment, better management of </a:t>
            </a:r>
            <a:r>
              <a:rPr lang="en-US" sz="1800" dirty="0" smtClean="0"/>
              <a:t>working capital etc.</a:t>
            </a:r>
          </a:p>
          <a:p>
            <a:pPr marL="514350" indent="-457200" algn="just">
              <a:buFont typeface="Arial" panose="020B0604020202020204" pitchFamily="34" charset="0"/>
              <a:buChar char="•"/>
            </a:pPr>
            <a:r>
              <a:rPr lang="en-US" sz="2000" dirty="0"/>
              <a:t>PE models do not easily incorporate any spillover benefits from an acquisition </a:t>
            </a:r>
            <a:r>
              <a:rPr lang="en-US" sz="2000" dirty="0" smtClean="0"/>
              <a:t>for the acquirer.</a:t>
            </a:r>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26066737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lnSpcReduction="10000"/>
          </a:bodyPr>
          <a:lstStyle/>
          <a:p>
            <a:pPr marL="0" indent="0" algn="just"/>
            <a:r>
              <a:rPr lang="en-US" b="1" dirty="0"/>
              <a:t>Analyzing Value of the Target to the </a:t>
            </a:r>
            <a:r>
              <a:rPr lang="en-US" b="1" dirty="0" smtClean="0"/>
              <a:t>Acquirer</a:t>
            </a:r>
          </a:p>
          <a:p>
            <a:pPr marL="0" indent="0" algn="just"/>
            <a:r>
              <a:rPr lang="en-US" u="sng" dirty="0" smtClean="0"/>
              <a:t>“Discounted Cash Flows (DCF) Approach”</a:t>
            </a:r>
          </a:p>
          <a:p>
            <a:pPr marL="0" indent="0" algn="just"/>
            <a:r>
              <a:rPr lang="en-US" b="1" dirty="0"/>
              <a:t>Step One: Forecasting </a:t>
            </a:r>
            <a:r>
              <a:rPr lang="en-US" b="1" dirty="0" smtClean="0"/>
              <a:t>Free Cash Flows</a:t>
            </a:r>
          </a:p>
          <a:p>
            <a:pPr algn="just">
              <a:buFont typeface="Arial" panose="020B0604020202020204" pitchFamily="34" charset="0"/>
              <a:buChar char="•"/>
            </a:pPr>
            <a:r>
              <a:rPr lang="en-US" dirty="0"/>
              <a:t>Earnings forecasts are usually made by first </a:t>
            </a:r>
            <a:r>
              <a:rPr lang="en-US" dirty="0" smtClean="0"/>
              <a:t>forecasting FCF </a:t>
            </a:r>
            <a:r>
              <a:rPr lang="en-US" dirty="0"/>
              <a:t>for the target, assuming no </a:t>
            </a:r>
            <a:r>
              <a:rPr lang="en-US" dirty="0" smtClean="0"/>
              <a:t>acquisition.</a:t>
            </a:r>
          </a:p>
          <a:p>
            <a:pPr algn="just">
              <a:buFont typeface="Arial" panose="020B0604020202020204" pitchFamily="34" charset="0"/>
              <a:buChar char="•"/>
            </a:pPr>
            <a:r>
              <a:rPr lang="en-US" dirty="0" smtClean="0"/>
              <a:t>In </a:t>
            </a:r>
            <a:r>
              <a:rPr lang="en-US" dirty="0"/>
              <a:t>other words, </a:t>
            </a:r>
            <a:r>
              <a:rPr lang="en-US" dirty="0" smtClean="0"/>
              <a:t>build </a:t>
            </a:r>
            <a:r>
              <a:rPr lang="en-US" dirty="0"/>
              <a:t>a pro forma model of </a:t>
            </a:r>
            <a:r>
              <a:rPr lang="en-US" dirty="0" smtClean="0"/>
              <a:t>expected future </a:t>
            </a:r>
            <a:r>
              <a:rPr lang="en-US" dirty="0"/>
              <a:t>income and cash flows </a:t>
            </a:r>
            <a:r>
              <a:rPr lang="en-US" dirty="0" smtClean="0"/>
              <a:t>for the target before acquisition.</a:t>
            </a:r>
          </a:p>
          <a:p>
            <a:pPr algn="just">
              <a:buFont typeface="Arial" panose="020B0604020202020204" pitchFamily="34" charset="0"/>
              <a:buChar char="•"/>
            </a:pPr>
            <a:r>
              <a:rPr lang="en-US" dirty="0" smtClean="0"/>
              <a:t>Then, </a:t>
            </a:r>
            <a:r>
              <a:rPr lang="en-US" dirty="0"/>
              <a:t>build a pro forma model of expected future income and cash flows for the target</a:t>
            </a:r>
            <a:r>
              <a:rPr lang="en-US" dirty="0" smtClean="0"/>
              <a:t> after </a:t>
            </a:r>
            <a:r>
              <a:rPr lang="en-US" dirty="0"/>
              <a:t>acquisition</a:t>
            </a:r>
            <a:r>
              <a:rPr lang="en-US" dirty="0" smtClean="0"/>
              <a:t>.</a:t>
            </a:r>
          </a:p>
          <a:p>
            <a:pPr algn="just">
              <a:buFont typeface="Arial" panose="020B0604020202020204" pitchFamily="34" charset="0"/>
              <a:buChar char="•"/>
            </a:pPr>
            <a:r>
              <a:rPr lang="en-US" b="1" dirty="0" smtClean="0"/>
              <a:t>Forecasted FCF before and after Acquisition.</a:t>
            </a:r>
          </a:p>
          <a:p>
            <a:pPr algn="just">
              <a:buFont typeface="Arial" panose="020B0604020202020204" pitchFamily="34" charset="0"/>
              <a:buChar char="•"/>
            </a:pPr>
            <a:r>
              <a:rPr lang="en-US" b="1" dirty="0" smtClean="0"/>
              <a:t>A typical forecast period is from 5 to 10 years.</a:t>
            </a:r>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4217316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dirty="0"/>
              <a:t>Analyzing Value of the Target to the </a:t>
            </a:r>
            <a:r>
              <a:rPr lang="en-US" b="1" dirty="0" smtClean="0"/>
              <a:t>Acquirer</a:t>
            </a:r>
          </a:p>
          <a:p>
            <a:pPr marL="0" indent="0" algn="just"/>
            <a:r>
              <a:rPr lang="en-US" u="sng" dirty="0" smtClean="0"/>
              <a:t>“Discounted Cash Flows (DCF) Approach”</a:t>
            </a:r>
          </a:p>
          <a:p>
            <a:pPr marL="0" indent="0" algn="just"/>
            <a:r>
              <a:rPr lang="en-US" b="1" dirty="0"/>
              <a:t>Step Two: Compute the Discount </a:t>
            </a:r>
            <a:r>
              <a:rPr lang="en-US" b="1" dirty="0" smtClean="0"/>
              <a:t>Rate</a:t>
            </a:r>
          </a:p>
          <a:p>
            <a:pPr marL="0" indent="0" algn="just"/>
            <a:endParaRPr lang="en-US" dirty="0" smtClean="0"/>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graphicFrame>
        <p:nvGraphicFramePr>
          <p:cNvPr id="5" name="Table 4"/>
          <p:cNvGraphicFramePr>
            <a:graphicFrameLocks noGrp="1"/>
          </p:cNvGraphicFramePr>
          <p:nvPr>
            <p:extLst>
              <p:ext uri="{D42A27DB-BD31-4B8C-83A1-F6EECF244321}">
                <p14:modId xmlns:p14="http://schemas.microsoft.com/office/powerpoint/2010/main" val="655593421"/>
              </p:ext>
            </p:extLst>
          </p:nvPr>
        </p:nvGraphicFramePr>
        <p:xfrm>
          <a:off x="304800" y="2819401"/>
          <a:ext cx="8686800" cy="3226078"/>
        </p:xfrm>
        <a:graphic>
          <a:graphicData uri="http://schemas.openxmlformats.org/drawingml/2006/table">
            <a:tbl>
              <a:tblPr firstRow="1" bandRow="1">
                <a:tableStyleId>{5C22544A-7EE6-4342-B048-85BDC9FD1C3A}</a:tableStyleId>
              </a:tblPr>
              <a:tblGrid>
                <a:gridCol w="2399211">
                  <a:extLst>
                    <a:ext uri="{9D8B030D-6E8A-4147-A177-3AD203B41FA5}">
                      <a16:colId xmlns:a16="http://schemas.microsoft.com/office/drawing/2014/main" val="3770654625"/>
                    </a:ext>
                  </a:extLst>
                </a:gridCol>
                <a:gridCol w="6287589">
                  <a:extLst>
                    <a:ext uri="{9D8B030D-6E8A-4147-A177-3AD203B41FA5}">
                      <a16:colId xmlns:a16="http://schemas.microsoft.com/office/drawing/2014/main" val="1182721624"/>
                    </a:ext>
                  </a:extLst>
                </a:gridCol>
              </a:tblGrid>
              <a:tr h="525406">
                <a:tc gridSpan="2">
                  <a:txBody>
                    <a:bodyPr/>
                    <a:lstStyle/>
                    <a:p>
                      <a:pPr algn="ctr"/>
                      <a:r>
                        <a:rPr lang="en-US" dirty="0" smtClean="0"/>
                        <a:t>Summary of DCF Valuation for Targets</a:t>
                      </a:r>
                      <a:endParaRPr lang="en-US" dirty="0"/>
                    </a:p>
                  </a:txBody>
                  <a:tcPr/>
                </a:tc>
                <a:tc hMerge="1">
                  <a:txBody>
                    <a:bodyPr/>
                    <a:lstStyle/>
                    <a:p>
                      <a:endParaRPr lang="en-US" dirty="0"/>
                    </a:p>
                  </a:txBody>
                  <a:tcPr/>
                </a:tc>
                <a:extLst>
                  <a:ext uri="{0D108BD9-81ED-4DB2-BD59-A6C34878D82A}">
                    <a16:rowId xmlns:a16="http://schemas.microsoft.com/office/drawing/2014/main" val="1833157115"/>
                  </a:ext>
                </a:extLst>
              </a:tr>
              <a:tr h="1511952">
                <a:tc>
                  <a:txBody>
                    <a:bodyPr/>
                    <a:lstStyle/>
                    <a:p>
                      <a:r>
                        <a:rPr lang="en-US" b="1" dirty="0" smtClean="0"/>
                        <a:t>Value of target as an</a:t>
                      </a:r>
                    </a:p>
                    <a:p>
                      <a:r>
                        <a:rPr lang="en-US" b="1" dirty="0" smtClean="0"/>
                        <a:t>independent firm</a:t>
                      </a:r>
                      <a:endParaRPr lang="en-US" b="1" dirty="0"/>
                    </a:p>
                  </a:txBody>
                  <a:tcPr/>
                </a:tc>
                <a:tc>
                  <a:txBody>
                    <a:bodyPr/>
                    <a:lstStyle/>
                    <a:p>
                      <a:r>
                        <a:rPr lang="en-US" sz="1800" b="1" i="0" u="none" strike="noStrike" kern="1200" baseline="0" dirty="0" smtClean="0">
                          <a:solidFill>
                            <a:schemeClr val="dk1"/>
                          </a:solidFill>
                          <a:latin typeface="+mn-lt"/>
                          <a:ea typeface="+mn-ea"/>
                          <a:cs typeface="+mn-cs"/>
                        </a:rPr>
                        <a:t>(a)</a:t>
                      </a:r>
                      <a:r>
                        <a:rPr lang="en-US" sz="1800" b="0" i="0" u="none" strike="noStrike" kern="1200" baseline="0" dirty="0" smtClean="0">
                          <a:solidFill>
                            <a:schemeClr val="dk1"/>
                          </a:solidFill>
                          <a:latin typeface="+mn-lt"/>
                          <a:ea typeface="+mn-ea"/>
                          <a:cs typeface="+mn-cs"/>
                        </a:rPr>
                        <a:t> Present value of </a:t>
                      </a:r>
                      <a:r>
                        <a:rPr lang="en-US" sz="1800" b="1" i="0" u="none" strike="noStrike" kern="1200" baseline="0" dirty="0" smtClean="0">
                          <a:solidFill>
                            <a:schemeClr val="dk1"/>
                          </a:solidFill>
                          <a:latin typeface="+mn-lt"/>
                          <a:ea typeface="+mn-ea"/>
                          <a:cs typeface="+mn-cs"/>
                        </a:rPr>
                        <a:t>Target FCFE</a:t>
                      </a:r>
                      <a:r>
                        <a:rPr lang="en-US" sz="1800" b="0" i="0" u="none" strike="noStrike" kern="1200" baseline="0" dirty="0" smtClean="0">
                          <a:solidFill>
                            <a:schemeClr val="dk1"/>
                          </a:solidFill>
                          <a:latin typeface="+mn-lt"/>
                          <a:ea typeface="+mn-ea"/>
                          <a:cs typeface="+mn-cs"/>
                        </a:rPr>
                        <a:t> assuming no acquisition, discounted at </a:t>
                      </a:r>
                      <a:r>
                        <a:rPr lang="en-US" sz="1800" b="1" i="0" u="none" strike="noStrike" kern="1200" baseline="0" dirty="0" smtClean="0">
                          <a:solidFill>
                            <a:schemeClr val="dk1"/>
                          </a:solidFill>
                          <a:latin typeface="+mn-lt"/>
                          <a:ea typeface="+mn-ea"/>
                          <a:cs typeface="+mn-cs"/>
                        </a:rPr>
                        <a:t>pre-merger</a:t>
                      </a:r>
                      <a:r>
                        <a:rPr lang="en-US" sz="1800" b="0"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Ke</a:t>
                      </a:r>
                      <a:r>
                        <a:rPr lang="en-US" sz="1800" b="0"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or</a:t>
                      </a:r>
                    </a:p>
                    <a:p>
                      <a:r>
                        <a:rPr lang="en-US" sz="1800" b="1" i="0" u="none" strike="noStrike" kern="1200" baseline="0" dirty="0" smtClean="0">
                          <a:solidFill>
                            <a:schemeClr val="dk1"/>
                          </a:solidFill>
                          <a:latin typeface="+mn-lt"/>
                          <a:ea typeface="+mn-ea"/>
                          <a:cs typeface="+mn-cs"/>
                        </a:rPr>
                        <a:t>(b)</a:t>
                      </a:r>
                      <a:r>
                        <a:rPr lang="en-US" sz="1800" b="0" i="0" u="none" strike="noStrike" kern="1200" baseline="0" dirty="0" smtClean="0">
                          <a:solidFill>
                            <a:schemeClr val="dk1"/>
                          </a:solidFill>
                          <a:latin typeface="+mn-lt"/>
                          <a:ea typeface="+mn-ea"/>
                          <a:cs typeface="+mn-cs"/>
                        </a:rPr>
                        <a:t> Present value of </a:t>
                      </a:r>
                      <a:r>
                        <a:rPr lang="en-US" sz="1800" b="1" i="0" u="none" strike="noStrike" kern="1200" baseline="0" dirty="0" smtClean="0">
                          <a:solidFill>
                            <a:schemeClr val="dk1"/>
                          </a:solidFill>
                          <a:latin typeface="+mn-lt"/>
                          <a:ea typeface="+mn-ea"/>
                          <a:cs typeface="+mn-cs"/>
                        </a:rPr>
                        <a:t>Target FCFF</a:t>
                      </a:r>
                      <a:r>
                        <a:rPr lang="en-US" sz="1800" b="0" i="0" u="none" strike="noStrike" kern="1200" baseline="0" dirty="0" smtClean="0">
                          <a:solidFill>
                            <a:schemeClr val="dk1"/>
                          </a:solidFill>
                          <a:latin typeface="+mn-lt"/>
                          <a:ea typeface="+mn-ea"/>
                          <a:cs typeface="+mn-cs"/>
                        </a:rPr>
                        <a:t> assuming no acquisition, discounted at </a:t>
                      </a:r>
                      <a:r>
                        <a:rPr lang="en-US" sz="1800" b="1" i="0" u="none" strike="noStrike" kern="1200" baseline="0" dirty="0" smtClean="0">
                          <a:solidFill>
                            <a:schemeClr val="dk1"/>
                          </a:solidFill>
                          <a:latin typeface="+mn-lt"/>
                          <a:ea typeface="+mn-ea"/>
                          <a:cs typeface="+mn-cs"/>
                        </a:rPr>
                        <a:t>pre-merger WACC</a:t>
                      </a:r>
                      <a:r>
                        <a:rPr lang="en-US" sz="1800" b="0"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less value of debt</a:t>
                      </a:r>
                      <a:r>
                        <a:rPr lang="en-US" sz="1800" b="0" i="0" u="none" strike="noStrike" kern="1200" baseline="0" dirty="0" smtClean="0">
                          <a:solidFill>
                            <a:schemeClr val="dk1"/>
                          </a:solidFill>
                          <a:latin typeface="+mn-lt"/>
                          <a:ea typeface="+mn-ea"/>
                          <a:cs typeface="+mn-cs"/>
                        </a:rPr>
                        <a:t>; </a:t>
                      </a:r>
                      <a:endParaRPr lang="en-US" i="0" dirty="0"/>
                    </a:p>
                  </a:txBody>
                  <a:tcPr/>
                </a:tc>
                <a:extLst>
                  <a:ext uri="{0D108BD9-81ED-4DB2-BD59-A6C34878D82A}">
                    <a16:rowId xmlns:a16="http://schemas.microsoft.com/office/drawing/2014/main" val="2659878472"/>
                  </a:ext>
                </a:extLst>
              </a:tr>
              <a:tr h="1163040">
                <a:tc>
                  <a:txBody>
                    <a:bodyPr/>
                    <a:lstStyle/>
                    <a:p>
                      <a:r>
                        <a:rPr lang="en-US" b="1" dirty="0" smtClean="0"/>
                        <a:t>Value of target to</a:t>
                      </a:r>
                    </a:p>
                    <a:p>
                      <a:r>
                        <a:rPr lang="en-US" b="1" dirty="0" smtClean="0"/>
                        <a:t>potential acquirer</a:t>
                      </a:r>
                      <a:endParaRPr lang="en-US" b="1" dirty="0"/>
                    </a:p>
                  </a:txBody>
                  <a:tcPr/>
                </a:tc>
                <a:tc>
                  <a:txBody>
                    <a:bodyPr/>
                    <a:lstStyle/>
                    <a:p>
                      <a:r>
                        <a:rPr lang="en-US" sz="1800" b="1" i="0" u="none" strike="noStrike" kern="1200" baseline="0" dirty="0" smtClean="0">
                          <a:solidFill>
                            <a:schemeClr val="dk1"/>
                          </a:solidFill>
                          <a:latin typeface="+mn-lt"/>
                          <a:ea typeface="+mn-ea"/>
                          <a:cs typeface="+mn-cs"/>
                        </a:rPr>
                        <a:t>(a)</a:t>
                      </a:r>
                      <a:r>
                        <a:rPr lang="en-US" sz="1800" b="0" i="0" u="none" strike="noStrike" kern="1200" baseline="0" dirty="0" smtClean="0">
                          <a:solidFill>
                            <a:schemeClr val="dk1"/>
                          </a:solidFill>
                          <a:latin typeface="+mn-lt"/>
                          <a:ea typeface="+mn-ea"/>
                          <a:cs typeface="+mn-cs"/>
                        </a:rPr>
                        <a:t> Present value of </a:t>
                      </a:r>
                      <a:r>
                        <a:rPr lang="en-US" sz="1800" b="1" i="0" u="none" strike="noStrike" kern="1200" baseline="0" dirty="0" smtClean="0">
                          <a:solidFill>
                            <a:schemeClr val="dk1"/>
                          </a:solidFill>
                          <a:latin typeface="+mn-lt"/>
                          <a:ea typeface="+mn-ea"/>
                          <a:cs typeface="+mn-cs"/>
                        </a:rPr>
                        <a:t>Target FCFE</a:t>
                      </a:r>
                      <a:r>
                        <a:rPr lang="en-US" sz="1800" b="0" i="0" u="none" strike="noStrike" kern="1200" baseline="0" dirty="0" smtClean="0">
                          <a:solidFill>
                            <a:schemeClr val="dk1"/>
                          </a:solidFill>
                          <a:latin typeface="+mn-lt"/>
                          <a:ea typeface="+mn-ea"/>
                          <a:cs typeface="+mn-cs"/>
                        </a:rPr>
                        <a:t> including benefits from merger, discounted at </a:t>
                      </a:r>
                      <a:r>
                        <a:rPr lang="en-US" sz="1800" b="1" i="0" u="none" strike="noStrike" kern="1200" baseline="0" dirty="0" smtClean="0">
                          <a:solidFill>
                            <a:schemeClr val="dk1"/>
                          </a:solidFill>
                          <a:latin typeface="+mn-lt"/>
                          <a:ea typeface="+mn-ea"/>
                          <a:cs typeface="+mn-cs"/>
                        </a:rPr>
                        <a:t>post-merger</a:t>
                      </a:r>
                      <a:r>
                        <a:rPr lang="en-US" sz="1800" b="0"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Ke</a:t>
                      </a:r>
                      <a:r>
                        <a:rPr lang="en-US" sz="1800" b="0"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or</a:t>
                      </a:r>
                    </a:p>
                    <a:p>
                      <a:r>
                        <a:rPr lang="en-US" sz="1800" b="1" i="0" u="none" strike="noStrike" kern="1200" baseline="0" dirty="0" smtClean="0">
                          <a:solidFill>
                            <a:schemeClr val="dk1"/>
                          </a:solidFill>
                          <a:latin typeface="+mn-lt"/>
                          <a:ea typeface="+mn-ea"/>
                          <a:cs typeface="+mn-cs"/>
                        </a:rPr>
                        <a:t>(b)</a:t>
                      </a:r>
                      <a:r>
                        <a:rPr lang="en-US" sz="1800" b="0" i="0" u="none" strike="noStrike" kern="1200" baseline="0" dirty="0" smtClean="0">
                          <a:solidFill>
                            <a:schemeClr val="dk1"/>
                          </a:solidFill>
                          <a:latin typeface="+mn-lt"/>
                          <a:ea typeface="+mn-ea"/>
                          <a:cs typeface="+mn-cs"/>
                        </a:rPr>
                        <a:t> Present value of </a:t>
                      </a:r>
                      <a:r>
                        <a:rPr lang="en-US" sz="1800" b="1" i="0" u="none" strike="noStrike" kern="1200" baseline="0" dirty="0" smtClean="0">
                          <a:solidFill>
                            <a:schemeClr val="dk1"/>
                          </a:solidFill>
                          <a:latin typeface="+mn-lt"/>
                          <a:ea typeface="+mn-ea"/>
                          <a:cs typeface="+mn-cs"/>
                        </a:rPr>
                        <a:t>Target FCFF</a:t>
                      </a:r>
                      <a:r>
                        <a:rPr lang="en-US" sz="1800" b="0" i="0" u="none" strike="noStrike" kern="1200" baseline="0" dirty="0" smtClean="0">
                          <a:solidFill>
                            <a:schemeClr val="dk1"/>
                          </a:solidFill>
                          <a:latin typeface="+mn-lt"/>
                          <a:ea typeface="+mn-ea"/>
                          <a:cs typeface="+mn-cs"/>
                        </a:rPr>
                        <a:t> including benefits from merger, discounted at </a:t>
                      </a:r>
                      <a:r>
                        <a:rPr lang="en-US" sz="1800" b="1" i="0" u="none" strike="noStrike" kern="1200" baseline="0" dirty="0" smtClean="0">
                          <a:solidFill>
                            <a:schemeClr val="dk1"/>
                          </a:solidFill>
                          <a:latin typeface="+mn-lt"/>
                          <a:ea typeface="+mn-ea"/>
                          <a:cs typeface="+mn-cs"/>
                        </a:rPr>
                        <a:t>post-merger WACC</a:t>
                      </a:r>
                      <a:r>
                        <a:rPr lang="en-US" sz="1800" b="0" i="0" u="none" strike="noStrike" kern="1200" baseline="0" dirty="0" smtClean="0">
                          <a:solidFill>
                            <a:schemeClr val="dk1"/>
                          </a:solidFill>
                          <a:latin typeface="+mn-lt"/>
                          <a:ea typeface="+mn-ea"/>
                          <a:cs typeface="+mn-cs"/>
                        </a:rPr>
                        <a:t>, </a:t>
                      </a:r>
                      <a:r>
                        <a:rPr lang="en-US" sz="1800" b="1" i="0" u="none" strike="noStrike" kern="1200" baseline="0" dirty="0" smtClean="0">
                          <a:solidFill>
                            <a:schemeClr val="dk1"/>
                          </a:solidFill>
                          <a:latin typeface="+mn-lt"/>
                          <a:ea typeface="+mn-ea"/>
                          <a:cs typeface="+mn-cs"/>
                        </a:rPr>
                        <a:t>less value of debt</a:t>
                      </a:r>
                      <a:r>
                        <a:rPr lang="en-US" sz="1800" b="0" i="0" u="none" strike="noStrike" kern="1200" baseline="0" dirty="0" smtClean="0">
                          <a:solidFill>
                            <a:schemeClr val="dk1"/>
                          </a:solidFill>
                          <a:latin typeface="+mn-lt"/>
                          <a:ea typeface="+mn-ea"/>
                          <a:cs typeface="+mn-cs"/>
                        </a:rPr>
                        <a:t>; </a:t>
                      </a:r>
                      <a:endParaRPr lang="en-US" i="0" dirty="0"/>
                    </a:p>
                  </a:txBody>
                  <a:tcPr/>
                </a:tc>
                <a:extLst>
                  <a:ext uri="{0D108BD9-81ED-4DB2-BD59-A6C34878D82A}">
                    <a16:rowId xmlns:a16="http://schemas.microsoft.com/office/drawing/2014/main" val="3149405546"/>
                  </a:ext>
                </a:extLst>
              </a:tr>
            </a:tbl>
          </a:graphicData>
        </a:graphic>
      </p:graphicFrame>
    </p:spTree>
    <p:extLst>
      <p:ext uri="{BB962C8B-B14F-4D97-AF65-F5344CB8AC3E}">
        <p14:creationId xmlns:p14="http://schemas.microsoft.com/office/powerpoint/2010/main" val="35140722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Pfizer’s Pricing of Wyeth (2009)</a:t>
            </a:r>
          </a:p>
          <a:p>
            <a:pPr algn="just">
              <a:buFont typeface="Arial" panose="020B0604020202020204" pitchFamily="34" charset="0"/>
              <a:buChar char="•"/>
            </a:pPr>
            <a:r>
              <a:rPr lang="en-US" b="1" dirty="0" smtClean="0"/>
              <a:t>Deal Price:</a:t>
            </a:r>
            <a:r>
              <a:rPr lang="en-US" dirty="0" smtClean="0"/>
              <a:t> $68 billion</a:t>
            </a:r>
          </a:p>
          <a:p>
            <a:pPr algn="just">
              <a:buFont typeface="Arial" panose="020B0604020202020204" pitchFamily="34" charset="0"/>
              <a:buChar char="•"/>
            </a:pPr>
            <a:r>
              <a:rPr lang="en-US" b="1" dirty="0" smtClean="0"/>
              <a:t>Premium Analysis:</a:t>
            </a:r>
            <a:r>
              <a:rPr lang="en-US" dirty="0" smtClean="0"/>
              <a:t> 29 percent premium to Wyeth’s stockholders over the market price on Jan 22, 2009 one day before the announcement of possible deal in Wall Street Journal.</a:t>
            </a:r>
          </a:p>
          <a:p>
            <a:pPr lvl="1" algn="just">
              <a:buFont typeface="Arial" panose="020B0604020202020204" pitchFamily="34" charset="0"/>
              <a:buChar char="•"/>
            </a:pPr>
            <a:r>
              <a:rPr lang="en-US" sz="2400" dirty="0" smtClean="0"/>
              <a:t>This was below the mean (58%) and median (40%) reported for all acquisitions during that year in the US.</a:t>
            </a:r>
          </a:p>
          <a:p>
            <a:pPr lvl="1" algn="just">
              <a:buFont typeface="Arial" panose="020B0604020202020204" pitchFamily="34" charset="0"/>
              <a:buChar char="•"/>
            </a:pPr>
            <a:r>
              <a:rPr lang="en-US" sz="2400" dirty="0" smtClean="0"/>
              <a:t>May be due to timing as this was the first major deal announcement since the beginning of the global financial crisis.</a:t>
            </a:r>
          </a:p>
          <a:p>
            <a:pPr lvl="1" algn="just">
              <a:buFont typeface="Arial" panose="020B0604020202020204" pitchFamily="34" charset="0"/>
              <a:buChar char="•"/>
            </a:pPr>
            <a:endParaRPr lang="en-US" sz="1800" b="1" dirty="0" smtClean="0"/>
          </a:p>
          <a:p>
            <a:pPr lvl="1" algn="just">
              <a:buFont typeface="Arial" panose="020B0604020202020204" pitchFamily="34" charset="0"/>
              <a:buChar char="•"/>
            </a:pPr>
            <a:endParaRPr lang="en-US" sz="1800" b="1" dirty="0" smtClean="0"/>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29643545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Pfizer’s Pricing of Wyeth (2009)</a:t>
            </a:r>
          </a:p>
          <a:p>
            <a:pPr marL="0" indent="0" algn="just"/>
            <a:r>
              <a:rPr lang="en-US" b="1" dirty="0" smtClean="0"/>
              <a:t>P/E Multiple Approach:</a:t>
            </a:r>
          </a:p>
          <a:p>
            <a:pPr algn="just">
              <a:buFont typeface="Arial" panose="020B0604020202020204" pitchFamily="34" charset="0"/>
              <a:buChar char="•"/>
            </a:pPr>
            <a:r>
              <a:rPr lang="en-US" dirty="0" smtClean="0"/>
              <a:t>Pfizer’s pricing of Wyeth appears to be reasonable.</a:t>
            </a:r>
          </a:p>
          <a:p>
            <a:pPr algn="just">
              <a:buFont typeface="Arial" panose="020B0604020202020204" pitchFamily="34" charset="0"/>
              <a:buChar char="•"/>
            </a:pPr>
            <a:r>
              <a:rPr lang="en-US" dirty="0" smtClean="0"/>
              <a:t>At the time of announcement, the P/E multiple for others firms in the pharmaceutical and bio-tech industries that were comparable to Wyeth ranged from 13.7 to 18.6.</a:t>
            </a:r>
          </a:p>
          <a:p>
            <a:pPr algn="just">
              <a:buFont typeface="Arial" panose="020B0604020202020204" pitchFamily="34" charset="0"/>
              <a:buChar char="•"/>
            </a:pPr>
            <a:r>
              <a:rPr lang="en-US" b="1" dirty="0" smtClean="0"/>
              <a:t>Pfizer’s offer valued Wyeth at 15.4 times current earnings.</a:t>
            </a:r>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p:txBody>
      </p:sp>
      <p:sp>
        <p:nvSpPr>
          <p:cNvPr id="4" name="Content Placeholder 3"/>
          <p:cNvSpPr>
            <a:spLocks noGrp="1"/>
          </p:cNvSpPr>
          <p:nvPr>
            <p:ph sz="quarter" idx="10"/>
          </p:nvPr>
        </p:nvSpPr>
        <p:spPr/>
        <p:txBody>
          <a:bodyPr>
            <a:normAutofit/>
          </a:bodyPr>
          <a:lstStyle/>
          <a:p>
            <a:r>
              <a:rPr lang="en-US" sz="3200" dirty="0"/>
              <a:t>ACQUISITION PRICING</a:t>
            </a:r>
          </a:p>
        </p:txBody>
      </p:sp>
    </p:spTree>
    <p:extLst>
      <p:ext uri="{BB962C8B-B14F-4D97-AF65-F5344CB8AC3E}">
        <p14:creationId xmlns:p14="http://schemas.microsoft.com/office/powerpoint/2010/main" val="526728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lnSpcReduction="10000"/>
          </a:bodyPr>
          <a:lstStyle/>
          <a:p>
            <a:pPr algn="just">
              <a:buFont typeface="Arial" panose="020B0604020202020204" pitchFamily="34" charset="0"/>
              <a:buChar char="•"/>
            </a:pPr>
            <a:r>
              <a:rPr lang="en-US" dirty="0"/>
              <a:t>Even if an acquisition is undertaken to create new economic value and is priced judiciously</a:t>
            </a:r>
            <a:r>
              <a:rPr lang="en-US" dirty="0" smtClean="0"/>
              <a:t>, </a:t>
            </a:r>
            <a:r>
              <a:rPr lang="en-US" b="1" dirty="0" smtClean="0"/>
              <a:t>it </a:t>
            </a:r>
            <a:r>
              <a:rPr lang="en-US" b="1" dirty="0"/>
              <a:t>may still destroy shareholder value if it is inappropriately financed</a:t>
            </a:r>
            <a:r>
              <a:rPr lang="en-US" b="1" dirty="0" smtClean="0"/>
              <a:t>.</a:t>
            </a:r>
          </a:p>
          <a:p>
            <a:pPr algn="just">
              <a:buFont typeface="Arial" panose="020B0604020202020204" pitchFamily="34" charset="0"/>
              <a:buChar char="•"/>
            </a:pPr>
            <a:endParaRPr lang="en-US" b="1" dirty="0"/>
          </a:p>
          <a:p>
            <a:pPr algn="just">
              <a:buFont typeface="Arial" panose="020B0604020202020204" pitchFamily="34" charset="0"/>
              <a:buChar char="•"/>
            </a:pPr>
            <a:r>
              <a:rPr lang="en-US" dirty="0" smtClean="0"/>
              <a:t>Several financing </a:t>
            </a:r>
            <a:r>
              <a:rPr lang="en-US" dirty="0"/>
              <a:t>options are available to acquirers, including issuing stock </a:t>
            </a:r>
            <a:r>
              <a:rPr lang="en-US" dirty="0" smtClean="0"/>
              <a:t>to target stockholders</a:t>
            </a:r>
            <a:r>
              <a:rPr lang="en-US" dirty="0"/>
              <a:t>, or acquiring target stock using surplus cash or proceeds from new </a:t>
            </a:r>
            <a:r>
              <a:rPr lang="en-US" dirty="0" smtClean="0"/>
              <a:t>debt.</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The trade-offs between these options from the standpoint of target and acquiring </a:t>
            </a:r>
            <a:r>
              <a:rPr lang="en-US" dirty="0" smtClean="0"/>
              <a:t>stockholders can diverge.</a:t>
            </a: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15712130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algn="just">
              <a:buFont typeface="Arial" panose="020B0604020202020204" pitchFamily="34" charset="0"/>
              <a:buChar char="•"/>
            </a:pPr>
            <a:r>
              <a:rPr lang="en-US" dirty="0" smtClean="0"/>
              <a:t>There are different implications of acquisition financing on </a:t>
            </a:r>
            <a:r>
              <a:rPr lang="en-US" dirty="0"/>
              <a:t>both target and acquiring </a:t>
            </a:r>
            <a:r>
              <a:rPr lang="en-US" dirty="0" smtClean="0"/>
              <a:t>stockholders.</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a:t>Financing arrangements can therefore increase or reduce the </a:t>
            </a:r>
            <a:r>
              <a:rPr lang="en-US" dirty="0" smtClean="0"/>
              <a:t>attractiveness of </a:t>
            </a:r>
            <a:r>
              <a:rPr lang="en-US" dirty="0"/>
              <a:t>an acquisition from the standpoint of acquiring stockholders </a:t>
            </a:r>
            <a:r>
              <a:rPr lang="en-US" dirty="0" smtClean="0"/>
              <a:t>.</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As a result, a complete analysis of </a:t>
            </a:r>
            <a:r>
              <a:rPr lang="en-US" dirty="0" smtClean="0"/>
              <a:t>deal </a:t>
            </a:r>
            <a:r>
              <a:rPr lang="en-US" dirty="0"/>
              <a:t>will include an examination of the implications of the </a:t>
            </a:r>
            <a:r>
              <a:rPr lang="en-US" dirty="0" smtClean="0"/>
              <a:t>financing arrangements </a:t>
            </a:r>
            <a:r>
              <a:rPr lang="en-US" dirty="0"/>
              <a:t>for the acquirer. </a:t>
            </a:r>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5130061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a:t>Effect of Form of Financing on Acquiring Stockholders</a:t>
            </a:r>
            <a:endParaRPr lang="en-US" b="1" u="sng" dirty="0" smtClean="0"/>
          </a:p>
          <a:p>
            <a:pPr marL="0" indent="0" algn="just">
              <a:lnSpc>
                <a:spcPct val="150000"/>
              </a:lnSpc>
            </a:pPr>
            <a:r>
              <a:rPr lang="en-US" b="1" dirty="0"/>
              <a:t>For acquiring stockholders, the costs and benefits of different financing options </a:t>
            </a:r>
            <a:r>
              <a:rPr lang="en-US" b="1" dirty="0" smtClean="0"/>
              <a:t>usually depend on:</a:t>
            </a:r>
          </a:p>
          <a:p>
            <a:pPr marL="457200" indent="-457200" algn="just">
              <a:lnSpc>
                <a:spcPct val="150000"/>
              </a:lnSpc>
              <a:buFont typeface="+mj-lt"/>
              <a:buAutoNum type="arabicPeriod"/>
            </a:pPr>
            <a:r>
              <a:rPr lang="en-US" dirty="0" smtClean="0"/>
              <a:t>How </a:t>
            </a:r>
            <a:r>
              <a:rPr lang="en-US" dirty="0"/>
              <a:t>the offer affects their firm’s capital </a:t>
            </a:r>
            <a:r>
              <a:rPr lang="en-US" dirty="0" smtClean="0"/>
              <a:t>structure</a:t>
            </a:r>
            <a:r>
              <a:rPr lang="en-US" dirty="0"/>
              <a:t>?</a:t>
            </a:r>
            <a:endParaRPr lang="en-US" dirty="0" smtClean="0"/>
          </a:p>
          <a:p>
            <a:pPr marL="457200" indent="-457200" algn="just">
              <a:lnSpc>
                <a:spcPct val="150000"/>
              </a:lnSpc>
              <a:buFont typeface="+mj-lt"/>
              <a:buAutoNum type="arabicPeriod"/>
            </a:pPr>
            <a:r>
              <a:rPr lang="en-US" dirty="0" smtClean="0"/>
              <a:t>Any </a:t>
            </a:r>
            <a:r>
              <a:rPr lang="en-US" dirty="0"/>
              <a:t>information effects </a:t>
            </a:r>
            <a:r>
              <a:rPr lang="en-US" dirty="0" smtClean="0"/>
              <a:t>associated with </a:t>
            </a:r>
            <a:r>
              <a:rPr lang="en-US" dirty="0"/>
              <a:t>different forms of </a:t>
            </a:r>
            <a:r>
              <a:rPr lang="en-US" dirty="0" smtClean="0"/>
              <a:t>financing</a:t>
            </a:r>
            <a:r>
              <a:rPr lang="en-US" dirty="0"/>
              <a:t>.</a:t>
            </a:r>
            <a:endParaRPr lang="en-US" dirty="0" smtClean="0"/>
          </a:p>
          <a:p>
            <a:pPr marL="457200" indent="-457200" algn="just">
              <a:lnSpc>
                <a:spcPct val="150000"/>
              </a:lnSpc>
              <a:buFont typeface="+mj-lt"/>
              <a:buAutoNum type="arabicPeriod"/>
            </a:pPr>
            <a:r>
              <a:rPr lang="en-US" dirty="0" smtClean="0"/>
              <a:t>Control issues arising from the form of payment.</a:t>
            </a: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7113621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fontScale="92500"/>
          </a:bodyPr>
          <a:lstStyle/>
          <a:p>
            <a:pPr marL="0" indent="0" algn="just"/>
            <a:r>
              <a:rPr lang="en-US" b="1" u="sng" dirty="0" smtClean="0"/>
              <a:t>Capital Structure Effects of Form of Financing</a:t>
            </a:r>
          </a:p>
          <a:p>
            <a:pPr algn="just">
              <a:buFont typeface="Arial" panose="020B0604020202020204" pitchFamily="34" charset="0"/>
              <a:buChar char="•"/>
            </a:pPr>
            <a:r>
              <a:rPr lang="en-US" dirty="0"/>
              <a:t>In </a:t>
            </a:r>
            <a:r>
              <a:rPr lang="en-US" dirty="0" smtClean="0"/>
              <a:t>acquisitions where </a:t>
            </a:r>
            <a:r>
              <a:rPr lang="en-US" b="1" dirty="0"/>
              <a:t>debt financing</a:t>
            </a:r>
            <a:r>
              <a:rPr lang="en-US" dirty="0"/>
              <a:t> </a:t>
            </a:r>
            <a:r>
              <a:rPr lang="en-US" dirty="0" smtClean="0"/>
              <a:t>is </a:t>
            </a:r>
            <a:r>
              <a:rPr lang="en-US" dirty="0"/>
              <a:t>the primary form of consideration for </a:t>
            </a:r>
            <a:r>
              <a:rPr lang="en-US" dirty="0" smtClean="0"/>
              <a:t>target shares</a:t>
            </a:r>
            <a:r>
              <a:rPr lang="en-US" dirty="0"/>
              <a:t>, </a:t>
            </a:r>
            <a:r>
              <a:rPr lang="en-US" b="1" dirty="0"/>
              <a:t>the acquisition increases the financial leverage of the </a:t>
            </a:r>
            <a:r>
              <a:rPr lang="en-US" b="1" dirty="0" smtClean="0"/>
              <a:t>acquirer.</a:t>
            </a:r>
          </a:p>
          <a:p>
            <a:pPr algn="just">
              <a:buFont typeface="Arial" panose="020B0604020202020204" pitchFamily="34" charset="0"/>
              <a:buChar char="•"/>
            </a:pPr>
            <a:r>
              <a:rPr lang="en-US" dirty="0"/>
              <a:t>The increase in </a:t>
            </a:r>
            <a:r>
              <a:rPr lang="en-US" dirty="0" smtClean="0"/>
              <a:t>leverage can </a:t>
            </a:r>
            <a:r>
              <a:rPr lang="en-US" dirty="0"/>
              <a:t>then potentially </a:t>
            </a:r>
            <a:r>
              <a:rPr lang="en-US" dirty="0" smtClean="0"/>
              <a:t>increases the risk of </a:t>
            </a:r>
            <a:r>
              <a:rPr lang="en-US" dirty="0"/>
              <a:t>financial </a:t>
            </a:r>
            <a:r>
              <a:rPr lang="en-US" dirty="0" smtClean="0"/>
              <a:t>distress of the acquirer's firm.</a:t>
            </a:r>
          </a:p>
          <a:p>
            <a:pPr algn="just">
              <a:buFont typeface="Arial" panose="020B0604020202020204" pitchFamily="34" charset="0"/>
              <a:buChar char="•"/>
            </a:pPr>
            <a:r>
              <a:rPr lang="en-US" dirty="0"/>
              <a:t>This increase </a:t>
            </a:r>
            <a:r>
              <a:rPr lang="en-US" dirty="0" smtClean="0"/>
              <a:t>in leverage </a:t>
            </a:r>
            <a:r>
              <a:rPr lang="en-US" dirty="0"/>
              <a:t>may be part of the acquisition strategy, since one way an acquirer can add </a:t>
            </a:r>
            <a:r>
              <a:rPr lang="en-US" dirty="0" smtClean="0"/>
              <a:t>value to </a:t>
            </a:r>
            <a:r>
              <a:rPr lang="en-US" dirty="0"/>
              <a:t>an inefficient firm is to lower its taxes by increasing interest tax shields</a:t>
            </a:r>
            <a:r>
              <a:rPr lang="en-US" dirty="0" smtClean="0"/>
              <a:t>.</a:t>
            </a:r>
          </a:p>
          <a:p>
            <a:pPr algn="just">
              <a:buFont typeface="Arial" panose="020B0604020202020204" pitchFamily="34" charset="0"/>
              <a:buChar char="•"/>
            </a:pPr>
            <a:r>
              <a:rPr lang="en-US" dirty="0" smtClean="0"/>
              <a:t>However</a:t>
            </a:r>
            <a:r>
              <a:rPr lang="en-US" dirty="0"/>
              <a:t>, </a:t>
            </a:r>
            <a:r>
              <a:rPr lang="en-US" dirty="0" smtClean="0"/>
              <a:t>in many </a:t>
            </a:r>
            <a:r>
              <a:rPr lang="en-US" dirty="0"/>
              <a:t>acquisitions an increase in </a:t>
            </a:r>
            <a:r>
              <a:rPr lang="en-US" dirty="0" smtClean="0"/>
              <a:t>post-acquisition </a:t>
            </a:r>
            <a:r>
              <a:rPr lang="en-US" dirty="0"/>
              <a:t>leverage is a side effect of the </a:t>
            </a:r>
            <a:r>
              <a:rPr lang="en-US" dirty="0" smtClean="0"/>
              <a:t>method of </a:t>
            </a:r>
            <a:r>
              <a:rPr lang="en-US" dirty="0"/>
              <a:t>financing and not part of a </a:t>
            </a:r>
            <a:r>
              <a:rPr lang="en-US" b="1" dirty="0"/>
              <a:t>deliberate tax-minimizing </a:t>
            </a:r>
            <a:r>
              <a:rPr lang="en-US" b="1" dirty="0" smtClean="0"/>
              <a:t>strategy</a:t>
            </a:r>
            <a:r>
              <a:rPr lang="en-US" dirty="0" smtClean="0"/>
              <a:t>.</a:t>
            </a: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5143845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fontScale="92500"/>
          </a:bodyPr>
          <a:lstStyle/>
          <a:p>
            <a:pPr marL="0" indent="0" algn="just"/>
            <a:r>
              <a:rPr lang="en-US" b="1" u="sng" dirty="0" smtClean="0"/>
              <a:t>Capital Structure Effects of Form of Financing</a:t>
            </a:r>
          </a:p>
          <a:p>
            <a:pPr marL="0" indent="0" algn="just"/>
            <a:r>
              <a:rPr lang="en-US" b="1" dirty="0"/>
              <a:t>Methods to assess the acquirer’s financial risk </a:t>
            </a:r>
            <a:r>
              <a:rPr lang="en-US" b="1" dirty="0" smtClean="0"/>
              <a:t>associated with </a:t>
            </a:r>
            <a:r>
              <a:rPr lang="en-US" b="1" dirty="0"/>
              <a:t>the proposed </a:t>
            </a:r>
            <a:r>
              <a:rPr lang="en-US" b="1" dirty="0" smtClean="0"/>
              <a:t>acquisition:</a:t>
            </a:r>
          </a:p>
          <a:p>
            <a:pPr algn="just">
              <a:buFont typeface="Arial" panose="020B0604020202020204" pitchFamily="34" charset="0"/>
              <a:buChar char="•"/>
            </a:pPr>
            <a:r>
              <a:rPr lang="en-US" dirty="0"/>
              <a:t>Assessing the pro forma financial risks for the acquirer under the proposed </a:t>
            </a:r>
            <a:r>
              <a:rPr lang="en-US" dirty="0" smtClean="0"/>
              <a:t>financing plan.</a:t>
            </a:r>
          </a:p>
          <a:p>
            <a:pPr algn="just">
              <a:buFont typeface="Arial" panose="020B0604020202020204" pitchFamily="34" charset="0"/>
              <a:buChar char="•"/>
            </a:pPr>
            <a:r>
              <a:rPr lang="en-US" b="1" dirty="0" smtClean="0"/>
              <a:t>Popular </a:t>
            </a:r>
            <a:r>
              <a:rPr lang="en-US" b="1" dirty="0"/>
              <a:t>measures of financial risk include </a:t>
            </a:r>
            <a:r>
              <a:rPr lang="en-US" dirty="0">
                <a:solidFill>
                  <a:srgbClr val="00B050"/>
                </a:solidFill>
              </a:rPr>
              <a:t>debt-to-equity and </a:t>
            </a:r>
            <a:r>
              <a:rPr lang="en-US" dirty="0" smtClean="0">
                <a:solidFill>
                  <a:srgbClr val="00B050"/>
                </a:solidFill>
              </a:rPr>
              <a:t>interest-coverage ratios</a:t>
            </a:r>
            <a:r>
              <a:rPr lang="en-US" dirty="0">
                <a:solidFill>
                  <a:srgbClr val="00B050"/>
                </a:solidFill>
              </a:rPr>
              <a:t>, as well as projections of cash flows available to meet debt repayments</a:t>
            </a:r>
            <a:r>
              <a:rPr lang="en-US" dirty="0" smtClean="0">
                <a:solidFill>
                  <a:srgbClr val="00B050"/>
                </a:solidFill>
              </a:rPr>
              <a:t>.</a:t>
            </a:r>
          </a:p>
          <a:p>
            <a:pPr algn="just">
              <a:buFont typeface="Arial" panose="020B0604020202020204" pitchFamily="34" charset="0"/>
              <a:buChar char="•"/>
            </a:pPr>
            <a:r>
              <a:rPr lang="en-US" dirty="0"/>
              <a:t>The ratios can be compared to similar performance metrics for the </a:t>
            </a:r>
            <a:r>
              <a:rPr lang="en-US" dirty="0" smtClean="0"/>
              <a:t>acquiring and </a:t>
            </a:r>
            <a:r>
              <a:rPr lang="en-US" dirty="0"/>
              <a:t>target firms’ industries</a:t>
            </a:r>
            <a:r>
              <a:rPr lang="en-US" dirty="0" smtClean="0"/>
              <a:t>.</a:t>
            </a:r>
          </a:p>
          <a:p>
            <a:pPr algn="just">
              <a:buFont typeface="Arial" panose="020B0604020202020204" pitchFamily="34" charset="0"/>
              <a:buChar char="•"/>
            </a:pPr>
            <a:r>
              <a:rPr lang="en-US" b="1" dirty="0">
                <a:solidFill>
                  <a:srgbClr val="FF0000"/>
                </a:solidFill>
              </a:rPr>
              <a:t>Do </a:t>
            </a:r>
            <a:r>
              <a:rPr lang="en-US" b="1" dirty="0" smtClean="0">
                <a:solidFill>
                  <a:srgbClr val="FF0000"/>
                </a:solidFill>
              </a:rPr>
              <a:t>post-merger </a:t>
            </a:r>
            <a:r>
              <a:rPr lang="en-US" b="1" dirty="0">
                <a:solidFill>
                  <a:srgbClr val="FF0000"/>
                </a:solidFill>
              </a:rPr>
              <a:t>ratios indicate that the firm’s </a:t>
            </a:r>
            <a:r>
              <a:rPr lang="en-US" b="1" dirty="0" smtClean="0">
                <a:solidFill>
                  <a:srgbClr val="FF0000"/>
                </a:solidFill>
              </a:rPr>
              <a:t>probability of </a:t>
            </a:r>
            <a:r>
              <a:rPr lang="en-US" b="1" dirty="0">
                <a:solidFill>
                  <a:srgbClr val="FF0000"/>
                </a:solidFill>
              </a:rPr>
              <a:t>financial distress has increased significantly?</a:t>
            </a:r>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9424194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Capital Structure Effects of Form of Financing</a:t>
            </a:r>
          </a:p>
          <a:p>
            <a:pPr marL="0" indent="0" algn="just"/>
            <a:r>
              <a:rPr lang="en-US" b="1" dirty="0"/>
              <a:t>Methods to assess the acquirer’s financial risk </a:t>
            </a:r>
            <a:r>
              <a:rPr lang="en-US" b="1" dirty="0" smtClean="0"/>
              <a:t>associated with </a:t>
            </a:r>
            <a:r>
              <a:rPr lang="en-US" b="1" dirty="0"/>
              <a:t>the proposed </a:t>
            </a:r>
            <a:r>
              <a:rPr lang="en-US" b="1" dirty="0" smtClean="0"/>
              <a:t>acquisition:</a:t>
            </a:r>
          </a:p>
          <a:p>
            <a:pPr algn="just">
              <a:buFont typeface="Arial" panose="020B0604020202020204" pitchFamily="34" charset="0"/>
              <a:buChar char="•"/>
            </a:pPr>
            <a:r>
              <a:rPr lang="en-US" dirty="0"/>
              <a:t>Examining whether there are important </a:t>
            </a:r>
            <a:r>
              <a:rPr lang="en-US" b="1" dirty="0">
                <a:solidFill>
                  <a:srgbClr val="FF0000"/>
                </a:solidFill>
              </a:rPr>
              <a:t>off-balance-sheet liabilities</a:t>
            </a:r>
            <a:r>
              <a:rPr lang="en-US" dirty="0"/>
              <a:t> for the </a:t>
            </a:r>
            <a:r>
              <a:rPr lang="en-US" dirty="0" smtClean="0"/>
              <a:t>target and/or </a:t>
            </a:r>
            <a:r>
              <a:rPr lang="en-US" dirty="0"/>
              <a:t>acquirer which are not included in the pro forma ratio and cash flow </a:t>
            </a:r>
            <a:r>
              <a:rPr lang="en-US" dirty="0" smtClean="0"/>
              <a:t>analysis of post-acquisition </a:t>
            </a:r>
            <a:r>
              <a:rPr lang="en-US" dirty="0"/>
              <a:t>financial risk</a:t>
            </a:r>
            <a:r>
              <a:rPr lang="en-US" dirty="0" smtClean="0"/>
              <a:t>.</a:t>
            </a:r>
          </a:p>
          <a:p>
            <a:pPr algn="just">
              <a:buFont typeface="Arial" panose="020B0604020202020204" pitchFamily="34" charset="0"/>
              <a:buChar char="•"/>
            </a:pPr>
            <a:r>
              <a:rPr lang="en-US" dirty="0"/>
              <a:t>Determining whether the pro forma assets for the acquirer are </a:t>
            </a:r>
            <a:r>
              <a:rPr lang="en-US" dirty="0">
                <a:solidFill>
                  <a:srgbClr val="FF0000"/>
                </a:solidFill>
              </a:rPr>
              <a:t>largely </a:t>
            </a:r>
            <a:r>
              <a:rPr lang="en-US" b="1" dirty="0">
                <a:solidFill>
                  <a:srgbClr val="FF0000"/>
                </a:solidFill>
              </a:rPr>
              <a:t>intangible</a:t>
            </a:r>
            <a:r>
              <a:rPr lang="en-US" dirty="0" smtClean="0"/>
              <a:t>, and </a:t>
            </a:r>
            <a:r>
              <a:rPr lang="en-US" dirty="0"/>
              <a:t>therefore sensitive to financial distress. </a:t>
            </a:r>
            <a:r>
              <a:rPr lang="en-US" dirty="0">
                <a:solidFill>
                  <a:srgbClr val="00B050"/>
                </a:solidFill>
              </a:rPr>
              <a:t>Measures of intangible assets </a:t>
            </a:r>
            <a:r>
              <a:rPr lang="en-US" dirty="0" smtClean="0">
                <a:solidFill>
                  <a:srgbClr val="00B050"/>
                </a:solidFill>
              </a:rPr>
              <a:t>include such </a:t>
            </a:r>
            <a:r>
              <a:rPr lang="en-US" dirty="0">
                <a:solidFill>
                  <a:srgbClr val="00B050"/>
                </a:solidFill>
              </a:rPr>
              <a:t>ratios as market to book equity and tangible assets to the market value </a:t>
            </a:r>
            <a:r>
              <a:rPr lang="en-US" dirty="0" smtClean="0">
                <a:solidFill>
                  <a:srgbClr val="00B050"/>
                </a:solidFill>
              </a:rPr>
              <a:t>of equity</a:t>
            </a:r>
            <a:r>
              <a:rPr lang="en-US" dirty="0">
                <a:solidFill>
                  <a:srgbClr val="00B050"/>
                </a:solidFill>
              </a:rPr>
              <a:t>.</a:t>
            </a:r>
            <a:endParaRPr lang="en-US" dirty="0" smtClean="0">
              <a:solidFill>
                <a:srgbClr val="00B050"/>
              </a:solidFill>
            </a:endParaRPr>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3136444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lnSpcReduction="10000"/>
          </a:bodyPr>
          <a:lstStyle/>
          <a:p>
            <a:pPr marL="0" indent="0" algn="just"/>
            <a:r>
              <a:rPr lang="en-US" b="1" u="sng" dirty="0" smtClean="0"/>
              <a:t>Information Problems and the Form of Financing</a:t>
            </a:r>
          </a:p>
          <a:p>
            <a:pPr algn="just">
              <a:buFont typeface="Arial" panose="020B0604020202020204" pitchFamily="34" charset="0"/>
              <a:buChar char="•"/>
            </a:pPr>
            <a:r>
              <a:rPr lang="en-US" dirty="0" smtClean="0"/>
              <a:t>Information </a:t>
            </a:r>
            <a:r>
              <a:rPr lang="en-US" dirty="0"/>
              <a:t>asymmetries between managers and external investors </a:t>
            </a:r>
            <a:r>
              <a:rPr lang="en-US" dirty="0" smtClean="0"/>
              <a:t>can make </a:t>
            </a:r>
            <a:r>
              <a:rPr lang="en-US" dirty="0"/>
              <a:t>managers reluctant to raise equity to finance new </a:t>
            </a:r>
            <a:r>
              <a:rPr lang="en-US" dirty="0" smtClean="0"/>
              <a:t>projects.</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Managers’ </a:t>
            </a:r>
            <a:r>
              <a:rPr lang="en-US" dirty="0" smtClean="0"/>
              <a:t>reluctance arises </a:t>
            </a:r>
            <a:r>
              <a:rPr lang="en-US" dirty="0"/>
              <a:t>from their fear that investors will interpret the decision as an indication that </a:t>
            </a:r>
            <a:r>
              <a:rPr lang="en-US" dirty="0" smtClean="0"/>
              <a:t>the firm’s </a:t>
            </a:r>
            <a:r>
              <a:rPr lang="en-US" dirty="0"/>
              <a:t>stock is overvalued</a:t>
            </a:r>
            <a:r>
              <a:rPr lang="en-US" dirty="0" smtClean="0"/>
              <a:t>.</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As a result, acquirers are </a:t>
            </a:r>
            <a:r>
              <a:rPr lang="en-US" dirty="0" smtClean="0"/>
              <a:t>likely to </a:t>
            </a:r>
            <a:r>
              <a:rPr lang="en-US" dirty="0"/>
              <a:t>prefer to use internal funds or debt to finance an acquisition, since these forms of </a:t>
            </a:r>
            <a:r>
              <a:rPr lang="en-US" dirty="0" smtClean="0"/>
              <a:t>consideration are </a:t>
            </a:r>
            <a:r>
              <a:rPr lang="en-US" dirty="0"/>
              <a:t>less likely to be interpreted negatively by </a:t>
            </a:r>
            <a:r>
              <a:rPr lang="en-US" dirty="0" smtClean="0"/>
              <a:t>investors.</a:t>
            </a: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10305839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Information Problems and the Form of Financing</a:t>
            </a:r>
          </a:p>
          <a:p>
            <a:pPr algn="just">
              <a:buFont typeface="Arial" panose="020B0604020202020204" pitchFamily="34" charset="0"/>
              <a:buChar char="•"/>
            </a:pPr>
            <a:r>
              <a:rPr lang="en-US" dirty="0"/>
              <a:t>The information effects imply that firms forced to use stock financing are likely </a:t>
            </a:r>
            <a:r>
              <a:rPr lang="en-US" dirty="0" smtClean="0"/>
              <a:t>to face </a:t>
            </a:r>
            <a:r>
              <a:rPr lang="en-US" dirty="0"/>
              <a:t>a stock price decline when investors learn of the method of financing</a:t>
            </a:r>
            <a:r>
              <a:rPr lang="en-US" dirty="0" smtClean="0"/>
              <a:t>.</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A second information problem arises if the acquiring management does not </a:t>
            </a:r>
            <a:r>
              <a:rPr lang="en-US" dirty="0" smtClean="0"/>
              <a:t>have good </a:t>
            </a:r>
            <a:r>
              <a:rPr lang="en-US" dirty="0"/>
              <a:t>information about the </a:t>
            </a:r>
            <a:r>
              <a:rPr lang="en-US" dirty="0" smtClean="0"/>
              <a:t>target (Private Companies).</a:t>
            </a: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4202213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Information Problems and the Form of Financing</a:t>
            </a:r>
          </a:p>
          <a:p>
            <a:pPr algn="just">
              <a:buFont typeface="Arial" panose="020B0604020202020204" pitchFamily="34" charset="0"/>
              <a:buChar char="•"/>
            </a:pPr>
            <a:r>
              <a:rPr lang="en-US" dirty="0"/>
              <a:t>Stock financing then provides a way for </a:t>
            </a:r>
            <a:r>
              <a:rPr lang="en-US" dirty="0" smtClean="0"/>
              <a:t>acquiring stockholders </a:t>
            </a:r>
            <a:r>
              <a:rPr lang="en-US" dirty="0"/>
              <a:t>to share the information risks with target shareholders</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smtClean="0"/>
              <a:t>If </a:t>
            </a:r>
            <a:r>
              <a:rPr lang="en-US" dirty="0"/>
              <a:t>the acquirer </a:t>
            </a:r>
            <a:r>
              <a:rPr lang="en-US" dirty="0" smtClean="0"/>
              <a:t>finds out </a:t>
            </a:r>
            <a:r>
              <a:rPr lang="en-US" dirty="0"/>
              <a:t>after the acquisition that the value of the target is less than previously anticipated</a:t>
            </a:r>
            <a:r>
              <a:rPr lang="en-US" dirty="0" smtClean="0"/>
              <a:t>, the </a:t>
            </a:r>
            <a:r>
              <a:rPr lang="en-US" dirty="0"/>
              <a:t>accompanying decline in the acquirer’s equity price will be partially borne by </a:t>
            </a:r>
            <a:r>
              <a:rPr lang="en-US" dirty="0" smtClean="0"/>
              <a:t>target stockholders </a:t>
            </a:r>
            <a:r>
              <a:rPr lang="en-US" dirty="0"/>
              <a:t>who continue to hold the acquirer’s stock</a:t>
            </a:r>
            <a:r>
              <a:rPr lang="en-US" dirty="0" smtClean="0"/>
              <a:t>.</a:t>
            </a:r>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16556839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Information Problems and the Form of Financing</a:t>
            </a:r>
          </a:p>
          <a:p>
            <a:pPr algn="just">
              <a:buFont typeface="Arial" panose="020B0604020202020204" pitchFamily="34" charset="0"/>
              <a:buChar char="•"/>
            </a:pPr>
            <a:r>
              <a:rPr lang="en-US" dirty="0" smtClean="0"/>
              <a:t>In </a:t>
            </a:r>
            <a:r>
              <a:rPr lang="en-US" dirty="0"/>
              <a:t>contrast, if the target’s </a:t>
            </a:r>
            <a:r>
              <a:rPr lang="en-US" dirty="0" smtClean="0"/>
              <a:t>shares were </a:t>
            </a:r>
            <a:r>
              <a:rPr lang="en-US" dirty="0"/>
              <a:t>acquired in a cash offer, any </a:t>
            </a:r>
            <a:r>
              <a:rPr lang="en-US" dirty="0" smtClean="0"/>
              <a:t>post-acquisition </a:t>
            </a:r>
            <a:r>
              <a:rPr lang="en-US" dirty="0"/>
              <a:t>loss would be fully borne by </a:t>
            </a:r>
            <a:r>
              <a:rPr lang="en-US" dirty="0" smtClean="0"/>
              <a:t>the acquirer’s </a:t>
            </a:r>
            <a:r>
              <a:rPr lang="en-US" dirty="0"/>
              <a:t>original stockholders</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b="1" dirty="0" smtClean="0"/>
              <a:t>The </a:t>
            </a:r>
            <a:r>
              <a:rPr lang="en-US" b="1" dirty="0"/>
              <a:t>risk-sharing benefits from using stock </a:t>
            </a:r>
            <a:r>
              <a:rPr lang="en-US" b="1" dirty="0" smtClean="0"/>
              <a:t>financing appears </a:t>
            </a:r>
            <a:r>
              <a:rPr lang="en-US" b="1" dirty="0"/>
              <a:t>to be widely recognized for acquisitions of private </a:t>
            </a:r>
            <a:r>
              <a:rPr lang="en-US" b="1" dirty="0" smtClean="0"/>
              <a:t>companies.</a:t>
            </a:r>
            <a:endParaRPr lang="en-US" b="1"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390319087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lnSpcReduction="10000"/>
          </a:bodyPr>
          <a:lstStyle/>
          <a:p>
            <a:pPr marL="0" indent="0" algn="just"/>
            <a:r>
              <a:rPr lang="en-US" b="1" u="sng" dirty="0" smtClean="0"/>
              <a:t>Control and the Form of Financing</a:t>
            </a:r>
          </a:p>
          <a:p>
            <a:pPr algn="just">
              <a:buFont typeface="Arial" panose="020B0604020202020204" pitchFamily="34" charset="0"/>
              <a:buChar char="•"/>
            </a:pPr>
            <a:r>
              <a:rPr lang="en-US" dirty="0" smtClean="0"/>
              <a:t>There is a significant difference between the use of cash and stock in terms of its impact on the voting control of the combined firm post-acquisition.</a:t>
            </a:r>
          </a:p>
          <a:p>
            <a:pPr algn="just">
              <a:buFont typeface="Arial" panose="020B0604020202020204" pitchFamily="34" charset="0"/>
              <a:buChar char="•"/>
            </a:pPr>
            <a:r>
              <a:rPr lang="en-US" dirty="0" smtClean="0"/>
              <a:t>Financing an acquisition with cash allows the acquirer to retain the structure and composition of its equity ownership.</a:t>
            </a:r>
          </a:p>
          <a:p>
            <a:pPr algn="just">
              <a:buFont typeface="Arial" panose="020B0604020202020204" pitchFamily="34" charset="0"/>
              <a:buChar char="•"/>
            </a:pPr>
            <a:r>
              <a:rPr lang="en-US" dirty="0" smtClean="0"/>
              <a:t>On the other hand, stock financing could have a significant impact on the ownership and control of the firm post-acquisition.</a:t>
            </a:r>
          </a:p>
          <a:p>
            <a:pPr algn="just">
              <a:buFont typeface="Arial" panose="020B0604020202020204" pitchFamily="34" charset="0"/>
              <a:buChar char="•"/>
            </a:pPr>
            <a:r>
              <a:rPr lang="en-US" b="1" dirty="0" smtClean="0"/>
              <a:t>Over the last 25 years of acquisition history</a:t>
            </a:r>
            <a:r>
              <a:rPr lang="en-US" dirty="0" smtClean="0"/>
              <a:t>, cash deals are 49%, Stock deals are 26% and mixed cash and stock deals are 25%.</a:t>
            </a:r>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30311563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a:t>Effect of Form of Financing on Target </a:t>
            </a:r>
            <a:r>
              <a:rPr lang="en-US" b="1" u="sng" dirty="0" smtClean="0"/>
              <a:t>Stockholders</a:t>
            </a:r>
          </a:p>
          <a:p>
            <a:pPr marL="0" indent="0" algn="just"/>
            <a:r>
              <a:rPr lang="en-US" b="1" dirty="0" smtClean="0"/>
              <a:t>Tax effects of different forms of consideration</a:t>
            </a:r>
          </a:p>
          <a:p>
            <a:pPr algn="just">
              <a:buFont typeface="Arial" panose="020B0604020202020204" pitchFamily="34" charset="0"/>
              <a:buChar char="•"/>
            </a:pPr>
            <a:r>
              <a:rPr lang="en-US" dirty="0"/>
              <a:t>Target </a:t>
            </a:r>
            <a:r>
              <a:rPr lang="en-US" dirty="0" smtClean="0"/>
              <a:t>stockholders care </a:t>
            </a:r>
            <a:r>
              <a:rPr lang="en-US" dirty="0"/>
              <a:t>about the after-tax value of any offer they receive for their shares</a:t>
            </a:r>
            <a:r>
              <a:rPr lang="en-US" dirty="0" smtClean="0"/>
              <a:t>.</a:t>
            </a:r>
          </a:p>
          <a:p>
            <a:pPr algn="just">
              <a:buFont typeface="Arial" panose="020B0604020202020204" pitchFamily="34" charset="0"/>
              <a:buChar char="•"/>
            </a:pPr>
            <a:endParaRPr lang="en-US" dirty="0" smtClean="0"/>
          </a:p>
          <a:p>
            <a:pPr algn="just">
              <a:buFont typeface="Arial" panose="020B0604020202020204" pitchFamily="34" charset="0"/>
              <a:buChar char="•"/>
            </a:pPr>
            <a:r>
              <a:rPr lang="en-US" dirty="0" smtClean="0"/>
              <a:t>In </a:t>
            </a:r>
            <a:r>
              <a:rPr lang="en-US" dirty="0"/>
              <a:t>the U.S., </a:t>
            </a:r>
            <a:r>
              <a:rPr lang="en-US" dirty="0" smtClean="0"/>
              <a:t>whenever target </a:t>
            </a:r>
            <a:r>
              <a:rPr lang="en-US" dirty="0"/>
              <a:t>stockholders receive cash for their shares, they are required to pay </a:t>
            </a:r>
            <a:r>
              <a:rPr lang="en-US" b="1" dirty="0" smtClean="0"/>
              <a:t>capital gains </a:t>
            </a:r>
            <a:r>
              <a:rPr lang="en-US" b="1" dirty="0"/>
              <a:t>tax</a:t>
            </a:r>
            <a:r>
              <a:rPr lang="en-US" dirty="0"/>
              <a:t> on the difference between the takeover offer price and their original </a:t>
            </a:r>
            <a:r>
              <a:rPr lang="en-US" dirty="0" smtClean="0"/>
              <a:t>purchase price.</a:t>
            </a:r>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1035294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a:t>Effect of Form of Financing on Target </a:t>
            </a:r>
            <a:r>
              <a:rPr lang="en-US" b="1" u="sng" dirty="0" smtClean="0"/>
              <a:t>Stockholders</a:t>
            </a:r>
          </a:p>
          <a:p>
            <a:pPr marL="0" indent="0" algn="just"/>
            <a:r>
              <a:rPr lang="en-US" b="1" dirty="0" smtClean="0"/>
              <a:t>Tax effects of different forms of consideration</a:t>
            </a:r>
          </a:p>
          <a:p>
            <a:pPr algn="just">
              <a:buFont typeface="Arial" panose="020B0604020202020204" pitchFamily="34" charset="0"/>
              <a:buChar char="•"/>
            </a:pPr>
            <a:r>
              <a:rPr lang="en-US" dirty="0" smtClean="0"/>
              <a:t>Alternatively</a:t>
            </a:r>
            <a:r>
              <a:rPr lang="en-US" dirty="0"/>
              <a:t>, if they receive shares in the acquirer as consideration and the </a:t>
            </a:r>
            <a:r>
              <a:rPr lang="en-US" dirty="0" smtClean="0"/>
              <a:t>acquisition is </a:t>
            </a:r>
            <a:r>
              <a:rPr lang="en-US" dirty="0"/>
              <a:t>undertaken as a tax-free reorganization, they can defer any taxes on the </a:t>
            </a:r>
            <a:r>
              <a:rPr lang="en-US" dirty="0" smtClean="0"/>
              <a:t>capital gain </a:t>
            </a:r>
            <a:r>
              <a:rPr lang="en-US" dirty="0"/>
              <a:t>until they sell the new shares</a:t>
            </a:r>
            <a:r>
              <a:rPr lang="en-US" dirty="0" smtClean="0"/>
              <a:t>.</a:t>
            </a:r>
            <a:endParaRPr lang="en-US" dirty="0"/>
          </a:p>
          <a:p>
            <a:pPr algn="just">
              <a:buFont typeface="Arial" panose="020B0604020202020204" pitchFamily="34" charset="0"/>
              <a:buChar char="•"/>
            </a:pPr>
            <a:r>
              <a:rPr lang="en-US" b="1" dirty="0"/>
              <a:t>Thus, </a:t>
            </a:r>
            <a:r>
              <a:rPr lang="en-US" b="1" dirty="0" smtClean="0"/>
              <a:t>tax effects </a:t>
            </a:r>
            <a:r>
              <a:rPr lang="en-US" b="1" dirty="0"/>
              <a:t>appear to cause target stockholders to prefer a stock offer to a cash one</a:t>
            </a:r>
            <a:r>
              <a:rPr lang="en-US" b="1" dirty="0" smtClean="0"/>
              <a:t>.</a:t>
            </a:r>
          </a:p>
          <a:p>
            <a:pPr algn="just">
              <a:buFont typeface="Arial" panose="020B0604020202020204" pitchFamily="34" charset="0"/>
              <a:buChar char="•"/>
            </a:pPr>
            <a:r>
              <a:rPr lang="en-US" dirty="0" smtClean="0"/>
              <a:t>Tax-exempt </a:t>
            </a:r>
            <a:r>
              <a:rPr lang="en-US" dirty="0"/>
              <a:t>institutions </a:t>
            </a:r>
            <a:r>
              <a:rPr lang="en-US" dirty="0" smtClean="0"/>
              <a:t>are likely </a:t>
            </a:r>
            <a:r>
              <a:rPr lang="en-US" dirty="0"/>
              <a:t>to be indifferent to whether an offer is in cash or stock.</a:t>
            </a:r>
            <a:endParaRPr lang="en-US" dirty="0" smtClean="0"/>
          </a:p>
          <a:p>
            <a:pPr algn="just">
              <a:buFont typeface="Arial" panose="020B0604020202020204" pitchFamily="34" charset="0"/>
              <a:buChar char="•"/>
            </a:pPr>
            <a:endParaRPr lang="en-US" dirty="0"/>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19131032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a:t>Effect of Form of Financing on Target </a:t>
            </a:r>
            <a:r>
              <a:rPr lang="en-US" b="1" u="sng" dirty="0" smtClean="0"/>
              <a:t>Stockholders</a:t>
            </a:r>
          </a:p>
          <a:p>
            <a:pPr marL="0" indent="0" algn="just"/>
            <a:r>
              <a:rPr lang="en-US" b="1" dirty="0" smtClean="0"/>
              <a:t>Transaction costs and the form of financing</a:t>
            </a:r>
          </a:p>
          <a:p>
            <a:pPr algn="just">
              <a:buFont typeface="Arial" panose="020B0604020202020204" pitchFamily="34" charset="0"/>
              <a:buChar char="•"/>
            </a:pPr>
            <a:r>
              <a:rPr lang="en-US" dirty="0"/>
              <a:t>Transaction costs </a:t>
            </a:r>
            <a:r>
              <a:rPr lang="en-US" dirty="0" smtClean="0"/>
              <a:t>are another </a:t>
            </a:r>
            <a:r>
              <a:rPr lang="en-US" dirty="0"/>
              <a:t>factor related to the form of financing that can be relevant to target stockholders</a:t>
            </a:r>
            <a:r>
              <a:rPr lang="en-US" dirty="0" smtClean="0"/>
              <a:t>.</a:t>
            </a:r>
          </a:p>
          <a:p>
            <a:pPr algn="just">
              <a:buFont typeface="Arial" panose="020B0604020202020204" pitchFamily="34" charset="0"/>
              <a:buChar char="•"/>
            </a:pPr>
            <a:r>
              <a:rPr lang="en-US" b="1" dirty="0"/>
              <a:t>Transaction costs are incurred when target stockholders sell any stock received as </a:t>
            </a:r>
            <a:r>
              <a:rPr lang="en-US" b="1" dirty="0" smtClean="0"/>
              <a:t>consideration for </a:t>
            </a:r>
            <a:r>
              <a:rPr lang="en-US" b="1" dirty="0"/>
              <a:t>their shares in the target</a:t>
            </a:r>
            <a:r>
              <a:rPr lang="en-US" b="1" dirty="0" smtClean="0"/>
              <a:t>.</a:t>
            </a:r>
          </a:p>
          <a:p>
            <a:pPr algn="just">
              <a:buFont typeface="Arial" panose="020B0604020202020204" pitchFamily="34" charset="0"/>
              <a:buChar char="•"/>
            </a:pPr>
            <a:r>
              <a:rPr lang="en-US" dirty="0" smtClean="0"/>
              <a:t>These </a:t>
            </a:r>
            <a:r>
              <a:rPr lang="en-US" dirty="0"/>
              <a:t>costs will not be faced by target </a:t>
            </a:r>
            <a:r>
              <a:rPr lang="en-US" dirty="0" smtClean="0"/>
              <a:t>stockholders if </a:t>
            </a:r>
            <a:r>
              <a:rPr lang="en-US" dirty="0"/>
              <a:t>the bidder offers them cash</a:t>
            </a:r>
            <a:r>
              <a:rPr lang="en-US" dirty="0" smtClean="0"/>
              <a:t>.</a:t>
            </a:r>
          </a:p>
          <a:p>
            <a:pPr algn="just">
              <a:buFont typeface="Arial" panose="020B0604020202020204" pitchFamily="34" charset="0"/>
              <a:buChar char="•"/>
            </a:pPr>
            <a:r>
              <a:rPr lang="en-US" dirty="0" smtClean="0"/>
              <a:t>Transaction </a:t>
            </a:r>
            <a:r>
              <a:rPr lang="en-US" dirty="0"/>
              <a:t>costs are unlikely to be significant </a:t>
            </a:r>
            <a:r>
              <a:rPr lang="en-US" dirty="0" smtClean="0"/>
              <a:t>for investors </a:t>
            </a:r>
            <a:r>
              <a:rPr lang="en-US" dirty="0"/>
              <a:t>who intend to hold the acquirer’s stock following a stock acquisition.</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794829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Pfizer’s Financing of Wyeth</a:t>
            </a:r>
          </a:p>
          <a:p>
            <a:pPr algn="just">
              <a:buFont typeface="Arial" panose="020B0604020202020204" pitchFamily="34" charset="0"/>
              <a:buChar char="•"/>
            </a:pPr>
            <a:r>
              <a:rPr lang="en-US" dirty="0" smtClean="0"/>
              <a:t>Pfizer offered Wyeth shareholders $33 in cash and 0.985 shares of Pfizer stock for each Wyeth share.</a:t>
            </a:r>
          </a:p>
          <a:p>
            <a:pPr algn="just">
              <a:buFont typeface="Arial" panose="020B0604020202020204" pitchFamily="34" charset="0"/>
              <a:buChar char="•"/>
            </a:pPr>
            <a:r>
              <a:rPr lang="en-US" dirty="0" smtClean="0"/>
              <a:t>With the stock component valued at $17.19 per share, the combined cash and stock implied a total offer of roughly $68 billion.</a:t>
            </a:r>
          </a:p>
          <a:p>
            <a:pPr algn="just">
              <a:buFont typeface="Arial" panose="020B0604020202020204" pitchFamily="34" charset="0"/>
              <a:buChar char="•"/>
            </a:pPr>
            <a:r>
              <a:rPr lang="en-US" dirty="0" smtClean="0"/>
              <a:t>The pre-merger equity value of Wyeth represented 31% of the combined market value.</a:t>
            </a:r>
          </a:p>
          <a:p>
            <a:pPr algn="just">
              <a:buFont typeface="Arial" panose="020B0604020202020204" pitchFamily="34" charset="0"/>
              <a:buChar char="•"/>
            </a:pPr>
            <a:r>
              <a:rPr lang="en-US" dirty="0" smtClean="0"/>
              <a:t>However, the large cash component of the deal caused the post-merger proportion of ownership to drop to about 16% for Wyeth shareholders and to rise to 84 for Pfizer shareholders. </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68422295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Pfizer’s Financing of Wyeth</a:t>
            </a:r>
          </a:p>
          <a:p>
            <a:pPr algn="just">
              <a:buFont typeface="Arial" panose="020B0604020202020204" pitchFamily="34" charset="0"/>
              <a:buChar char="•"/>
            </a:pPr>
            <a:r>
              <a:rPr lang="en-US" dirty="0" smtClean="0"/>
              <a:t>The acquisition was structured as a taxable transaction for federal income tax purposes. </a:t>
            </a:r>
          </a:p>
          <a:p>
            <a:pPr algn="just">
              <a:buFont typeface="Arial" panose="020B0604020202020204" pitchFamily="34" charset="0"/>
              <a:buChar char="•"/>
            </a:pPr>
            <a:r>
              <a:rPr lang="en-US" dirty="0" smtClean="0"/>
              <a:t>This implied that Wyeth shareholders would recognize capital gain for federal income tax purposes.</a:t>
            </a:r>
          </a:p>
          <a:p>
            <a:pPr algn="just">
              <a:buFont typeface="Arial" panose="020B0604020202020204" pitchFamily="34" charset="0"/>
              <a:buChar char="•"/>
            </a:pPr>
            <a:r>
              <a:rPr lang="en-US" b="1" dirty="0" smtClean="0"/>
              <a:t>By using debt in addition to stock and cash to finance the acquisition</a:t>
            </a:r>
            <a:r>
              <a:rPr lang="en-US" dirty="0" smtClean="0"/>
              <a:t>, Pfizer increased its financial leverage significantly.</a:t>
            </a:r>
          </a:p>
          <a:p>
            <a:pPr algn="just">
              <a:buFont typeface="Arial" panose="020B0604020202020204" pitchFamily="34" charset="0"/>
              <a:buChar char="•"/>
            </a:pPr>
            <a:r>
              <a:rPr lang="en-US" dirty="0" smtClean="0"/>
              <a:t>Increasing Debt-Equity ratio from 30% prior to the acquisition to 54% at the end of 2009.</a:t>
            </a:r>
          </a:p>
          <a:p>
            <a:pPr algn="just">
              <a:buFont typeface="Arial" panose="020B0604020202020204" pitchFamily="34" charset="0"/>
              <a:buChar char="•"/>
            </a:pPr>
            <a:endParaRPr lang="en-US" dirty="0" smtClean="0"/>
          </a:p>
          <a:p>
            <a:pPr marL="0" indent="0" algn="just"/>
            <a:r>
              <a:rPr lang="en-US" dirty="0" smtClean="0"/>
              <a:t> </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39813222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983163"/>
          </a:xfrm>
        </p:spPr>
        <p:txBody>
          <a:bodyPr>
            <a:normAutofit/>
          </a:bodyPr>
          <a:lstStyle/>
          <a:p>
            <a:pPr marL="0" indent="0" algn="just"/>
            <a:r>
              <a:rPr lang="en-US" b="1" u="sng" dirty="0" smtClean="0"/>
              <a:t>Pfizer’s Financing of Wyeth</a:t>
            </a:r>
          </a:p>
          <a:p>
            <a:pPr algn="just">
              <a:buFont typeface="Arial" panose="020B0604020202020204" pitchFamily="34" charset="0"/>
              <a:buChar char="•"/>
            </a:pPr>
            <a:r>
              <a:rPr lang="en-US" sz="2200" dirty="0" smtClean="0"/>
              <a:t>Further, in order to finance the large cash outlay required for the acquisition, Pfizer cut its dividend by 50% upon announcing the deal. (There is a significant drop in the share price of Pfizer after the deal announcement).</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dirty="0" smtClean="0"/>
              <a:t>Reacting to this material change in Pfizer’s financial structure, S&amp;P downgraded Pfizer’s credit rating from AAA to AA on October 16, 2009 – the day after the Wyeth acquisition closed</a:t>
            </a:r>
            <a:r>
              <a:rPr lang="en-US" sz="2200" dirty="0" smtClean="0"/>
              <a:t>.</a:t>
            </a:r>
            <a:r>
              <a:rPr lang="en-US" dirty="0" smtClean="0"/>
              <a:t> </a:t>
            </a:r>
            <a:endParaRPr lang="en-US" dirty="0" smtClean="0"/>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FINANCING</a:t>
            </a:r>
            <a:endParaRPr lang="en-US" sz="3200" dirty="0"/>
          </a:p>
        </p:txBody>
      </p:sp>
    </p:spTree>
    <p:extLst>
      <p:ext uri="{BB962C8B-B14F-4D97-AF65-F5344CB8AC3E}">
        <p14:creationId xmlns:p14="http://schemas.microsoft.com/office/powerpoint/2010/main" val="21012773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fontScale="85000" lnSpcReduction="20000"/>
          </a:bodyPr>
          <a:lstStyle/>
          <a:p>
            <a:pPr algn="just">
              <a:lnSpc>
                <a:spcPct val="120000"/>
              </a:lnSpc>
              <a:buFont typeface="Arial" panose="020B0604020202020204" pitchFamily="34" charset="0"/>
              <a:buChar char="•"/>
            </a:pPr>
            <a:r>
              <a:rPr lang="en-US" sz="2800" dirty="0"/>
              <a:t>The final question of interest to the analyst evaluating a potential acquisition is </a:t>
            </a:r>
            <a:r>
              <a:rPr lang="en-US" sz="2800" dirty="0" smtClean="0"/>
              <a:t>whether it </a:t>
            </a:r>
            <a:r>
              <a:rPr lang="en-US" sz="2800" dirty="0"/>
              <a:t>will indeed be completed</a:t>
            </a:r>
            <a:r>
              <a:rPr lang="en-US" sz="2800" dirty="0" smtClean="0"/>
              <a:t>.</a:t>
            </a:r>
          </a:p>
          <a:p>
            <a:pPr algn="just">
              <a:lnSpc>
                <a:spcPct val="120000"/>
              </a:lnSpc>
              <a:buFont typeface="Arial" panose="020B0604020202020204" pitchFamily="34" charset="0"/>
              <a:buChar char="•"/>
            </a:pPr>
            <a:endParaRPr lang="en-US" sz="2800" dirty="0" smtClean="0"/>
          </a:p>
          <a:p>
            <a:pPr algn="just">
              <a:lnSpc>
                <a:spcPct val="120000"/>
              </a:lnSpc>
              <a:buFont typeface="Arial" panose="020B0604020202020204" pitchFamily="34" charset="0"/>
              <a:buChar char="•"/>
            </a:pPr>
            <a:r>
              <a:rPr lang="en-US" sz="2800" dirty="0"/>
              <a:t>If an acquisition has a clear value-based motive, </a:t>
            </a:r>
            <a:r>
              <a:rPr lang="en-US" sz="2800" dirty="0" smtClean="0"/>
              <a:t>the target </a:t>
            </a:r>
            <a:r>
              <a:rPr lang="en-US" sz="2800" dirty="0"/>
              <a:t>is priced appropriately, and its proposed financing does not create </a:t>
            </a:r>
            <a:r>
              <a:rPr lang="en-US" sz="2800" dirty="0" smtClean="0"/>
              <a:t>unnecessary financial </a:t>
            </a:r>
            <a:r>
              <a:rPr lang="en-US" sz="2800" dirty="0"/>
              <a:t>risks for the acquirer</a:t>
            </a:r>
            <a:r>
              <a:rPr lang="en-US" sz="2800" dirty="0" smtClean="0"/>
              <a:t>, </a:t>
            </a:r>
            <a:r>
              <a:rPr lang="en-US" sz="2800" b="1" dirty="0" smtClean="0"/>
              <a:t>the deal may still fail because of the following reasons:</a:t>
            </a:r>
          </a:p>
          <a:p>
            <a:pPr algn="just">
              <a:lnSpc>
                <a:spcPct val="120000"/>
              </a:lnSpc>
              <a:buFont typeface="Arial" panose="020B0604020202020204" pitchFamily="34" charset="0"/>
              <a:buChar char="•"/>
            </a:pPr>
            <a:endParaRPr lang="en-US" sz="2800" dirty="0" smtClean="0"/>
          </a:p>
          <a:p>
            <a:pPr algn="just">
              <a:buFont typeface="Arial" panose="020B0604020202020204" pitchFamily="34" charset="0"/>
              <a:buChar char="•"/>
            </a:pPr>
            <a:endParaRPr lang="en-US" dirty="0" smtClean="0"/>
          </a:p>
          <a:p>
            <a:pPr algn="just">
              <a:buFont typeface="Arial" panose="020B0604020202020204" pitchFamily="34" charset="0"/>
              <a:buChar char="•"/>
            </a:pPr>
            <a:endParaRPr lang="en-US" dirty="0" smtClean="0"/>
          </a:p>
          <a:p>
            <a:pPr marL="0" indent="0" algn="just"/>
            <a:r>
              <a:rPr lang="en-US" dirty="0" smtClean="0"/>
              <a:t> </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22759196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fontScale="47500" lnSpcReduction="20000"/>
          </a:bodyPr>
          <a:lstStyle/>
          <a:p>
            <a:pPr marL="0" indent="0" algn="just">
              <a:lnSpc>
                <a:spcPct val="120000"/>
              </a:lnSpc>
            </a:pPr>
            <a:r>
              <a:rPr lang="en-US" sz="5000" b="1" dirty="0" smtClean="0"/>
              <a:t>Other Potential Acquirers</a:t>
            </a:r>
          </a:p>
          <a:p>
            <a:pPr marL="457200" indent="-457200" algn="just">
              <a:lnSpc>
                <a:spcPct val="110000"/>
              </a:lnSpc>
              <a:buFont typeface="Arial" panose="020B0604020202020204" pitchFamily="34" charset="0"/>
              <a:buChar char="•"/>
            </a:pPr>
            <a:r>
              <a:rPr lang="en-US" sz="4400" dirty="0"/>
              <a:t>If there are other potential bidders for a target, especially ones who place a </a:t>
            </a:r>
            <a:r>
              <a:rPr lang="en-US" sz="4400" dirty="0" smtClean="0"/>
              <a:t>higher value </a:t>
            </a:r>
            <a:r>
              <a:rPr lang="en-US" sz="4400" dirty="0"/>
              <a:t>on the target, there is a strong possibility that the bidder in question will </a:t>
            </a:r>
            <a:r>
              <a:rPr lang="en-US" sz="4400" dirty="0" smtClean="0"/>
              <a:t>be unsuccessful.</a:t>
            </a:r>
          </a:p>
          <a:p>
            <a:pPr marL="457200" indent="-457200" algn="just">
              <a:lnSpc>
                <a:spcPct val="110000"/>
              </a:lnSpc>
              <a:buFont typeface="Arial" panose="020B0604020202020204" pitchFamily="34" charset="0"/>
              <a:buChar char="•"/>
            </a:pPr>
            <a:r>
              <a:rPr lang="en-US" sz="4400" dirty="0"/>
              <a:t>Target management and stockholders have an incentive to delay </a:t>
            </a:r>
            <a:r>
              <a:rPr lang="en-US" sz="4400" dirty="0" smtClean="0"/>
              <a:t>accepting the </a:t>
            </a:r>
            <a:r>
              <a:rPr lang="en-US" sz="4400" dirty="0"/>
              <a:t>initial offer to give potential competitors time to also submit a </a:t>
            </a:r>
            <a:r>
              <a:rPr lang="en-US" sz="4400" dirty="0" smtClean="0"/>
              <a:t>bid.</a:t>
            </a:r>
          </a:p>
          <a:p>
            <a:pPr marL="457200" indent="-457200" algn="just">
              <a:lnSpc>
                <a:spcPct val="110000"/>
              </a:lnSpc>
              <a:buFont typeface="Arial" panose="020B0604020202020204" pitchFamily="34" charset="0"/>
              <a:buChar char="•"/>
            </a:pPr>
            <a:r>
              <a:rPr lang="en-US" sz="4400" dirty="0" smtClean="0"/>
              <a:t>From the </a:t>
            </a:r>
            <a:r>
              <a:rPr lang="en-US" sz="4400" dirty="0"/>
              <a:t>perspective of the initial bidder, this means that the offer could potentially </a:t>
            </a:r>
            <a:r>
              <a:rPr lang="en-US" sz="4400" dirty="0" smtClean="0"/>
              <a:t>reduce stockholder </a:t>
            </a:r>
            <a:r>
              <a:rPr lang="en-US" sz="4400" dirty="0"/>
              <a:t>value by the cost of making the offer (including substantial </a:t>
            </a:r>
            <a:r>
              <a:rPr lang="en-US" sz="4400" dirty="0" smtClean="0"/>
              <a:t>investment banking </a:t>
            </a:r>
            <a:r>
              <a:rPr lang="en-US" sz="4400" dirty="0"/>
              <a:t>and legal fees</a:t>
            </a:r>
            <a:r>
              <a:rPr lang="en-US" sz="4400" dirty="0" smtClean="0"/>
              <a:t>).</a:t>
            </a:r>
          </a:p>
          <a:p>
            <a:pPr marL="457200" indent="-457200" algn="just">
              <a:lnSpc>
                <a:spcPct val="110000"/>
              </a:lnSpc>
              <a:buFont typeface="Arial" panose="020B0604020202020204" pitchFamily="34" charset="0"/>
              <a:buChar char="•"/>
            </a:pPr>
            <a:r>
              <a:rPr lang="en-US" sz="4400" dirty="0"/>
              <a:t>In practice, a losing bidder can usually recoup </a:t>
            </a:r>
            <a:r>
              <a:rPr lang="en-US" sz="4400" dirty="0" smtClean="0"/>
              <a:t>these losses</a:t>
            </a:r>
            <a:r>
              <a:rPr lang="en-US" sz="4400" dirty="0"/>
              <a:t>, and sometimes even make healthy profits from selling to the successful </a:t>
            </a:r>
            <a:r>
              <a:rPr lang="en-US" sz="4400" dirty="0" smtClean="0"/>
              <a:t>acquirer any </a:t>
            </a:r>
            <a:r>
              <a:rPr lang="en-US" sz="4400" dirty="0"/>
              <a:t>shares it has accumulated in the target</a:t>
            </a:r>
            <a:r>
              <a:rPr lang="en-US" sz="4400" dirty="0" smtClean="0"/>
              <a:t>.</a:t>
            </a:r>
            <a:r>
              <a:rPr lang="en-US" dirty="0" smtClean="0"/>
              <a:t> </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37277834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fontScale="47500" lnSpcReduction="20000"/>
          </a:bodyPr>
          <a:lstStyle/>
          <a:p>
            <a:pPr marL="0" indent="0" algn="just">
              <a:lnSpc>
                <a:spcPct val="120000"/>
              </a:lnSpc>
            </a:pPr>
            <a:r>
              <a:rPr lang="en-US" sz="5000" b="1" dirty="0"/>
              <a:t>Target Management </a:t>
            </a:r>
            <a:r>
              <a:rPr lang="en-US" sz="5000" b="1" dirty="0" smtClean="0"/>
              <a:t>Entrenchment</a:t>
            </a:r>
          </a:p>
          <a:p>
            <a:pPr marL="571500" indent="-571500" algn="just">
              <a:lnSpc>
                <a:spcPct val="120000"/>
              </a:lnSpc>
              <a:buFont typeface="Arial" panose="020B0604020202020204" pitchFamily="34" charset="0"/>
              <a:buChar char="•"/>
            </a:pPr>
            <a:r>
              <a:rPr lang="en-US" sz="4400" dirty="0"/>
              <a:t>If target managers are entrenched and fearful for their jobs, it is likely that they will </a:t>
            </a:r>
            <a:r>
              <a:rPr lang="en-US" sz="4400" dirty="0" smtClean="0"/>
              <a:t>oppose a </a:t>
            </a:r>
            <a:r>
              <a:rPr lang="en-US" sz="4400" dirty="0"/>
              <a:t>bidder’s offer</a:t>
            </a:r>
            <a:r>
              <a:rPr lang="en-US" sz="4400" dirty="0" smtClean="0"/>
              <a:t>.</a:t>
            </a:r>
          </a:p>
          <a:p>
            <a:pPr marL="571500" indent="-571500" algn="just">
              <a:lnSpc>
                <a:spcPct val="120000"/>
              </a:lnSpc>
              <a:buFont typeface="Arial" panose="020B0604020202020204" pitchFamily="34" charset="0"/>
              <a:buChar char="•"/>
            </a:pPr>
            <a:r>
              <a:rPr lang="en-US" sz="4400" dirty="0" smtClean="0"/>
              <a:t>Some </a:t>
            </a:r>
            <a:r>
              <a:rPr lang="en-US" sz="4400" dirty="0"/>
              <a:t>firms have implemented “golden parachutes” for top </a:t>
            </a:r>
            <a:r>
              <a:rPr lang="en-US" sz="4400" dirty="0" smtClean="0"/>
              <a:t>managers to </a:t>
            </a:r>
            <a:r>
              <a:rPr lang="en-US" sz="4400" dirty="0"/>
              <a:t>counteract their concerns about job security at the time of an offer</a:t>
            </a:r>
            <a:r>
              <a:rPr lang="en-US" sz="4400" dirty="0" smtClean="0"/>
              <a:t>.</a:t>
            </a:r>
          </a:p>
          <a:p>
            <a:pPr marL="571500" indent="-571500" algn="just">
              <a:lnSpc>
                <a:spcPct val="120000"/>
              </a:lnSpc>
              <a:buFont typeface="Arial" panose="020B0604020202020204" pitchFamily="34" charset="0"/>
              <a:buChar char="•"/>
            </a:pPr>
            <a:r>
              <a:rPr lang="en-US" sz="4400" dirty="0" smtClean="0"/>
              <a:t>Golden parachutes </a:t>
            </a:r>
            <a:r>
              <a:rPr lang="en-US" sz="4400" dirty="0"/>
              <a:t>provide top managers of a target firm with attractive compensation </a:t>
            </a:r>
            <a:r>
              <a:rPr lang="en-US" sz="4400" dirty="0" smtClean="0"/>
              <a:t>rewards, if </a:t>
            </a:r>
            <a:r>
              <a:rPr lang="en-US" sz="4400" dirty="0"/>
              <a:t>they should be dismissed as a result of a merger or takeover.</a:t>
            </a:r>
            <a:endParaRPr lang="en-US" sz="4400" dirty="0" smtClean="0"/>
          </a:p>
          <a:p>
            <a:pPr marL="571500" indent="-571500" algn="just">
              <a:lnSpc>
                <a:spcPct val="120000"/>
              </a:lnSpc>
              <a:buFont typeface="Arial" panose="020B0604020202020204" pitchFamily="34" charset="0"/>
              <a:buChar char="•"/>
            </a:pPr>
            <a:r>
              <a:rPr lang="en-US" sz="4400" dirty="0" smtClean="0"/>
              <a:t>However</a:t>
            </a:r>
            <a:r>
              <a:rPr lang="en-US" sz="4400" dirty="0"/>
              <a:t>, many firms do not have such schemes, and </a:t>
            </a:r>
            <a:r>
              <a:rPr lang="en-US" sz="4400" dirty="0" smtClean="0"/>
              <a:t>opposition to </a:t>
            </a:r>
            <a:r>
              <a:rPr lang="en-US" sz="4400" dirty="0"/>
              <a:t>an offer from entrenched management is a very real possibility</a:t>
            </a:r>
            <a:r>
              <a:rPr lang="en-US" sz="4400" dirty="0" smtClean="0"/>
              <a:t>.</a:t>
            </a:r>
          </a:p>
          <a:p>
            <a:pPr marL="571500" indent="-571500" algn="just">
              <a:lnSpc>
                <a:spcPct val="120000"/>
              </a:lnSpc>
              <a:buFont typeface="Arial" panose="020B0604020202020204" pitchFamily="34" charset="0"/>
              <a:buChar char="•"/>
            </a:pPr>
            <a:r>
              <a:rPr lang="en-US" sz="4400" dirty="0" smtClean="0"/>
              <a:t>Other hostile takeover defenses like </a:t>
            </a:r>
            <a:r>
              <a:rPr lang="en-US" sz="4400" dirty="0"/>
              <a:t>white </a:t>
            </a:r>
            <a:r>
              <a:rPr lang="en-US" sz="4400" dirty="0" smtClean="0"/>
              <a:t>knights</a:t>
            </a:r>
            <a:r>
              <a:rPr lang="en-US" sz="4400" dirty="0"/>
              <a:t>, </a:t>
            </a:r>
            <a:r>
              <a:rPr lang="en-US" sz="4400" dirty="0" smtClean="0"/>
              <a:t>Poison Pills (Flip-in and Flip-over).</a:t>
            </a:r>
            <a:endParaRPr lang="en-US" sz="4400" dirty="0"/>
          </a:p>
          <a:p>
            <a:pPr marL="571500" indent="-571500" algn="just">
              <a:lnSpc>
                <a:spcPct val="120000"/>
              </a:lnSpc>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37716993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a:bodyPr>
          <a:lstStyle/>
          <a:p>
            <a:pPr marL="0" indent="0" algn="just">
              <a:lnSpc>
                <a:spcPct val="120000"/>
              </a:lnSpc>
            </a:pPr>
            <a:r>
              <a:rPr lang="en-US" b="1" dirty="0" smtClean="0"/>
              <a:t>Antitrust and Security Issues</a:t>
            </a:r>
          </a:p>
          <a:p>
            <a:pPr marL="571500" indent="-571500" algn="just">
              <a:lnSpc>
                <a:spcPct val="120000"/>
              </a:lnSpc>
              <a:buFont typeface="Arial" panose="020B0604020202020204" pitchFamily="34" charset="0"/>
              <a:buChar char="•"/>
            </a:pPr>
            <a:r>
              <a:rPr lang="en-US" sz="2000" dirty="0" smtClean="0"/>
              <a:t>Regulators such as the Federal trade commission in the US and the European competition commission assess the effects of an acquisition on the competitive dynamics of the industry in which the firms operate.</a:t>
            </a:r>
          </a:p>
          <a:p>
            <a:pPr marL="571500" indent="-571500" algn="just">
              <a:lnSpc>
                <a:spcPct val="120000"/>
              </a:lnSpc>
              <a:buFont typeface="Arial" panose="020B0604020202020204" pitchFamily="34" charset="0"/>
              <a:buChar char="•"/>
            </a:pPr>
            <a:r>
              <a:rPr lang="en-US" sz="2000" dirty="0" smtClean="0"/>
              <a:t>The objective is to ensure that no one firm, through merger and acquisitions, creates a dominants position that can impede effective competition in specific geographies or product markets.</a:t>
            </a:r>
          </a:p>
          <a:p>
            <a:pPr marL="571500" indent="-571500" algn="just">
              <a:lnSpc>
                <a:spcPct val="120000"/>
              </a:lnSpc>
              <a:buFont typeface="Arial" panose="020B0604020202020204" pitchFamily="34" charset="0"/>
              <a:buChar char="•"/>
            </a:pPr>
            <a:r>
              <a:rPr lang="en-US" sz="2000" b="1" dirty="0" smtClean="0"/>
              <a:t>Example: </a:t>
            </a:r>
            <a:r>
              <a:rPr lang="en-US" sz="2000" dirty="0" smtClean="0"/>
              <a:t>In</a:t>
            </a:r>
            <a:r>
              <a:rPr lang="en-US" sz="2000" b="1" dirty="0" smtClean="0"/>
              <a:t> </a:t>
            </a:r>
            <a:r>
              <a:rPr lang="en-US" sz="2000" dirty="0" smtClean="0"/>
              <a:t>August 2011, the US justice department block AT&amp;T’s proposed $39 billion purchase of rival T-Mobile USA on the grounds that the merger would substantially reduce competition for mobile phone services in the US. </a:t>
            </a:r>
            <a:endParaRPr lang="en-US" sz="2000" b="1" dirty="0"/>
          </a:p>
          <a:p>
            <a:pPr marL="571500" indent="-571500" algn="just">
              <a:lnSpc>
                <a:spcPct val="120000"/>
              </a:lnSpc>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168683580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a:bodyPr>
          <a:lstStyle/>
          <a:p>
            <a:pPr marL="0" indent="0" algn="just">
              <a:lnSpc>
                <a:spcPct val="120000"/>
              </a:lnSpc>
            </a:pPr>
            <a:r>
              <a:rPr lang="en-US" b="1" dirty="0" smtClean="0"/>
              <a:t>Antitrust and Security Issues</a:t>
            </a:r>
          </a:p>
          <a:p>
            <a:pPr marL="571500" indent="-571500" algn="just">
              <a:lnSpc>
                <a:spcPct val="120000"/>
              </a:lnSpc>
              <a:buFont typeface="Arial" panose="020B0604020202020204" pitchFamily="34" charset="0"/>
              <a:buChar char="•"/>
            </a:pPr>
            <a:r>
              <a:rPr lang="en-US" sz="2000" dirty="0" smtClean="0"/>
              <a:t>In addition, political concerns around firms that have an impact on the national and economic security of a country come under the scrutiny of local lawmakers, whose opposition can often derail cross-border acquisition efforts.</a:t>
            </a:r>
          </a:p>
          <a:p>
            <a:pPr marL="571500" indent="-571500" algn="just">
              <a:lnSpc>
                <a:spcPct val="120000"/>
              </a:lnSpc>
              <a:buFont typeface="Arial" panose="020B0604020202020204" pitchFamily="34" charset="0"/>
              <a:buChar char="•"/>
            </a:pPr>
            <a:r>
              <a:rPr lang="en-US" sz="2000" b="1" dirty="0" smtClean="0"/>
              <a:t>Example: </a:t>
            </a:r>
            <a:r>
              <a:rPr lang="en-US" sz="2000" dirty="0" smtClean="0"/>
              <a:t>China’s CNOOC oil company’s proposed acquisition of California based Unocal in mid 2005 underscore the importance of assessing political risk. Chevron another bidder in this deal, used CNOOC links to the Chinese government to generate political opposition to the CNOOC bid, which eventually led CNOOC to drop its offer.</a:t>
            </a:r>
            <a:endParaRPr lang="en-US" sz="2000" b="1" dirty="0"/>
          </a:p>
          <a:p>
            <a:pPr marL="571500" indent="-571500" algn="just">
              <a:lnSpc>
                <a:spcPct val="120000"/>
              </a:lnSpc>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42039541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a:bodyPr>
          <a:lstStyle/>
          <a:p>
            <a:pPr marL="0" indent="0" algn="just">
              <a:lnSpc>
                <a:spcPct val="120000"/>
              </a:lnSpc>
            </a:pPr>
            <a:r>
              <a:rPr lang="en-US" b="1" u="sng" dirty="0" smtClean="0"/>
              <a:t>Analysis of Outcome of Pfizer’s offer for Wyeth</a:t>
            </a:r>
          </a:p>
          <a:p>
            <a:pPr marL="571500" indent="-571500" algn="just">
              <a:lnSpc>
                <a:spcPct val="120000"/>
              </a:lnSpc>
              <a:buFont typeface="Arial" panose="020B0604020202020204" pitchFamily="34" charset="0"/>
              <a:buChar char="•"/>
            </a:pPr>
            <a:r>
              <a:rPr lang="en-US" sz="2000" dirty="0" smtClean="0"/>
              <a:t>Analysts covering Wyeth had little reason to question whether Wyeth would be sold to Pfizer.</a:t>
            </a:r>
          </a:p>
          <a:p>
            <a:pPr marL="571500" indent="-571500" algn="just">
              <a:lnSpc>
                <a:spcPct val="120000"/>
              </a:lnSpc>
              <a:buFont typeface="Arial" panose="020B0604020202020204" pitchFamily="34" charset="0"/>
              <a:buChar char="•"/>
            </a:pPr>
            <a:r>
              <a:rPr lang="en-US" sz="2000" dirty="0" smtClean="0"/>
              <a:t>The offer was friendly one that had received the approval of Wyeth’s management and board of directors.</a:t>
            </a:r>
          </a:p>
          <a:p>
            <a:pPr marL="571500" indent="-571500" algn="just">
              <a:lnSpc>
                <a:spcPct val="120000"/>
              </a:lnSpc>
              <a:buFont typeface="Arial" panose="020B0604020202020204" pitchFamily="34" charset="0"/>
              <a:buChar char="•"/>
            </a:pPr>
            <a:r>
              <a:rPr lang="en-US" sz="2000" dirty="0" smtClean="0"/>
              <a:t>Initially, there is a rumor of competing bid by Abbott Labs. However, after discussions with both Pfizer and Abbott, Wyeth management accepted Pfizer’s bid and in the end, no competing bid was made.</a:t>
            </a:r>
          </a:p>
          <a:p>
            <a:pPr marL="571500" indent="-571500" algn="just">
              <a:lnSpc>
                <a:spcPct val="120000"/>
              </a:lnSpc>
              <a:buFont typeface="Arial" panose="020B0604020202020204" pitchFamily="34" charset="0"/>
              <a:buChar char="•"/>
            </a:pPr>
            <a:r>
              <a:rPr lang="en-US" sz="2000" dirty="0" smtClean="0"/>
              <a:t>Wyeth management accepted Pfizer’s bid, determining that difficult current market conditions and potential antitrust issues would likely make a more attractive bid unlikely.</a:t>
            </a:r>
          </a:p>
          <a:p>
            <a:pPr marL="571500" indent="-571500" algn="just">
              <a:lnSpc>
                <a:spcPct val="120000"/>
              </a:lnSpc>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40683417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5059363"/>
          </a:xfrm>
        </p:spPr>
        <p:txBody>
          <a:bodyPr>
            <a:normAutofit/>
          </a:bodyPr>
          <a:lstStyle/>
          <a:p>
            <a:pPr marL="0" indent="0" algn="just">
              <a:lnSpc>
                <a:spcPct val="120000"/>
              </a:lnSpc>
            </a:pPr>
            <a:r>
              <a:rPr lang="en-US" b="1" u="sng" dirty="0" smtClean="0"/>
              <a:t>Analysis of Outcome of Pfizer’s offer for Wyeth</a:t>
            </a:r>
          </a:p>
          <a:p>
            <a:pPr marL="571500" indent="-571500" algn="just">
              <a:lnSpc>
                <a:spcPct val="120000"/>
              </a:lnSpc>
              <a:buFont typeface="Arial" panose="020B0604020202020204" pitchFamily="34" charset="0"/>
              <a:buChar char="•"/>
            </a:pPr>
            <a:r>
              <a:rPr lang="en-US" sz="2000" dirty="0" smtClean="0"/>
              <a:t>Pfizer and Wyeth’s similar strength in animal health products raised few antitrust concerns on that front.</a:t>
            </a:r>
          </a:p>
          <a:p>
            <a:pPr marL="571500" indent="-571500" algn="just">
              <a:lnSpc>
                <a:spcPct val="120000"/>
              </a:lnSpc>
              <a:buFont typeface="Arial" panose="020B0604020202020204" pitchFamily="34" charset="0"/>
              <a:buChar char="•"/>
            </a:pPr>
            <a:r>
              <a:rPr lang="en-US" sz="2000" dirty="0" smtClean="0"/>
              <a:t>Consequently, regulators in the US, European Union, Canada, China and Australia required the combined company to divest certain animal health assets in those countries as a condition of approval.</a:t>
            </a:r>
          </a:p>
          <a:p>
            <a:pPr marL="571500" indent="-571500" algn="just">
              <a:lnSpc>
                <a:spcPct val="120000"/>
              </a:lnSpc>
              <a:buFont typeface="Arial" panose="020B0604020202020204" pitchFamily="34" charset="0"/>
              <a:buChar char="•"/>
            </a:pPr>
            <a:r>
              <a:rPr lang="en-US" sz="2000" dirty="0" smtClean="0"/>
              <a:t>Pfizer agreed to the conditions and the acquisition was completed on October 15, 2009, nine months after announcement of the initial agreement.</a:t>
            </a:r>
          </a:p>
          <a:p>
            <a:pPr marL="571500" indent="-571500" algn="just">
              <a:lnSpc>
                <a:spcPct val="120000"/>
              </a:lnSpc>
              <a:buFont typeface="Arial" panose="020B0604020202020204" pitchFamily="34" charset="0"/>
              <a:buChar char="•"/>
            </a:pPr>
            <a:endParaRPr lang="en-US" sz="2000" dirty="0" smtClean="0"/>
          </a:p>
          <a:p>
            <a:pPr marL="571500" indent="-571500" algn="just">
              <a:lnSpc>
                <a:spcPct val="120000"/>
              </a:lnSpc>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normAutofit/>
          </a:bodyPr>
          <a:lstStyle/>
          <a:p>
            <a:r>
              <a:rPr lang="en-US" sz="3200" dirty="0"/>
              <a:t>ACQUISITION </a:t>
            </a:r>
            <a:r>
              <a:rPr lang="en-US" sz="3200" dirty="0" smtClean="0"/>
              <a:t>OUTCOME</a:t>
            </a:r>
            <a:endParaRPr lang="en-US" sz="3200" dirty="0"/>
          </a:p>
        </p:txBody>
      </p:sp>
    </p:spTree>
    <p:extLst>
      <p:ext uri="{BB962C8B-B14F-4D97-AF65-F5344CB8AC3E}">
        <p14:creationId xmlns:p14="http://schemas.microsoft.com/office/powerpoint/2010/main" val="14936664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409700" y="2667000"/>
            <a:ext cx="6324600" cy="1143000"/>
          </a:xfrm>
        </p:spPr>
        <p:txBody>
          <a:bodyPr>
            <a:normAutofit/>
          </a:bodyPr>
          <a:lstStyle/>
          <a:p>
            <a:pPr algn="ctr"/>
            <a:r>
              <a:rPr lang="en-US" sz="6000" dirty="0" smtClean="0">
                <a:effectLst>
                  <a:outerShdw blurRad="38100" dist="38100" dir="2700000" algn="tl">
                    <a:srgbClr val="000000">
                      <a:alpha val="43137"/>
                    </a:srgbClr>
                  </a:outerShdw>
                </a:effectLst>
              </a:rPr>
              <a:t>Thank You</a:t>
            </a:r>
            <a:endParaRPr lang="en-US" sz="6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24073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2162</TotalTime>
  <Words>4219</Words>
  <Application>Microsoft Office PowerPoint</Application>
  <PresentationFormat>On-screen Show (4:3)</PresentationFormat>
  <Paragraphs>322</Paragraphs>
  <Slides>53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Mergers and Acquisitions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Dell</cp:lastModifiedBy>
  <cp:revision>600</cp:revision>
  <dcterms:created xsi:type="dcterms:W3CDTF">2011-09-14T09:42:05Z</dcterms:created>
  <dcterms:modified xsi:type="dcterms:W3CDTF">2017-11-17T07:17:52Z</dcterms:modified>
</cp:coreProperties>
</file>