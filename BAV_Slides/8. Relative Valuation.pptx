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65"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30" name="TextBox 29"/>
          <p:cNvSpPr txBox="1"/>
          <p:nvPr userDrawn="1"/>
        </p:nvSpPr>
        <p:spPr>
          <a:xfrm>
            <a:off x="-76200" y="52578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31" name="TextBox 30"/>
          <p:cNvSpPr txBox="1"/>
          <p:nvPr userDrawn="1"/>
        </p:nvSpPr>
        <p:spPr>
          <a:xfrm>
            <a:off x="152400" y="5666601"/>
            <a:ext cx="1905000" cy="276999"/>
          </a:xfrm>
          <a:prstGeom prst="rect">
            <a:avLst/>
          </a:prstGeom>
          <a:noFill/>
        </p:spPr>
        <p:txBody>
          <a:bodyPr wrap="square" rtlCol="0">
            <a:spAutoFit/>
          </a:bodyPr>
          <a:lstStyle/>
          <a:p>
            <a:pPr algn="l"/>
            <a:r>
              <a:rPr lang="en-US" sz="1200" spc="0" dirty="0" smtClean="0">
                <a:solidFill>
                  <a:srgbClr val="FFFFFF"/>
                </a:solidFill>
                <a:latin typeface="Arial"/>
                <a:cs typeface="Arial"/>
              </a:rPr>
              <a:t>Pilani</a:t>
            </a:r>
            <a:r>
              <a:rPr lang="en-US" sz="1200" spc="0" baseline="0" dirty="0" smtClean="0">
                <a:solidFill>
                  <a:srgbClr val="FFFFFF"/>
                </a:solidFill>
                <a:latin typeface="Arial"/>
                <a:cs typeface="Arial"/>
              </a:rPr>
              <a:t> Campus</a:t>
            </a:r>
            <a:endParaRPr lang="en-US" sz="1200" spc="0" dirty="0">
              <a:solidFill>
                <a:srgbClr val="FFFFFF"/>
              </a:solidFill>
              <a:latin typeface="Arial"/>
              <a:cs typeface="Arial"/>
            </a:endParaRPr>
          </a:p>
        </p:txBody>
      </p:sp>
      <p:sp>
        <p:nvSpPr>
          <p:cNvPr id="11" name="Title 1"/>
          <p:cNvSpPr>
            <a:spLocks noGrp="1"/>
          </p:cNvSpPr>
          <p:nvPr userDrawn="1">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pic>
        <p:nvPicPr>
          <p:cNvPr id="13" name="Picture 12"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sp>
        <p:nvSpPr>
          <p:cNvPr id="14" name="TextBox 13"/>
          <p:cNvSpPr txBox="1"/>
          <p:nvPr userDrawn="1"/>
        </p:nvSpPr>
        <p:spPr>
          <a:xfrm>
            <a:off x="-76200" y="52578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15" name="TextBox 14"/>
          <p:cNvSpPr txBox="1"/>
          <p:nvPr userDrawn="1"/>
        </p:nvSpPr>
        <p:spPr>
          <a:xfrm>
            <a:off x="152400" y="5666601"/>
            <a:ext cx="1905000" cy="276999"/>
          </a:xfrm>
          <a:prstGeom prst="rect">
            <a:avLst/>
          </a:prstGeom>
          <a:noFill/>
        </p:spPr>
        <p:txBody>
          <a:bodyPr wrap="square" rtlCol="0">
            <a:spAutoFit/>
          </a:bodyPr>
          <a:lstStyle/>
          <a:p>
            <a:pPr algn="l"/>
            <a:r>
              <a:rPr lang="en-US" sz="1200" spc="0" dirty="0" smtClean="0">
                <a:solidFill>
                  <a:srgbClr val="FFFFFF"/>
                </a:solidFill>
                <a:latin typeface="Arial"/>
                <a:cs typeface="Arial"/>
              </a:rPr>
              <a:t>Pilani</a:t>
            </a:r>
            <a:r>
              <a:rPr lang="en-US" sz="1200" spc="0" baseline="0" dirty="0" smtClean="0">
                <a:solidFill>
                  <a:srgbClr val="FFFFFF"/>
                </a:solidFill>
                <a:latin typeface="Arial"/>
                <a:cs typeface="Arial"/>
              </a:rPr>
              <a:t> Campus</a:t>
            </a:r>
            <a:endParaRPr lang="en-US" sz="1200" spc="0" dirty="0">
              <a:solidFill>
                <a:srgbClr val="FFFFFF"/>
              </a:solidFill>
              <a:latin typeface="Arial"/>
              <a:cs typeface="Arial"/>
            </a:endParaRPr>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p:cNvSpPr txBox="1"/>
          <p:nvPr userDrawn="1"/>
        </p:nvSpPr>
        <p:spPr>
          <a:xfrm>
            <a:off x="6858000" y="7620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13" name="TextBox 12"/>
          <p:cNvSpPr txBox="1"/>
          <p:nvPr userDrawn="1"/>
        </p:nvSpPr>
        <p:spPr>
          <a:xfrm>
            <a:off x="7086600" y="1170801"/>
            <a:ext cx="1905000" cy="276999"/>
          </a:xfrm>
          <a:prstGeom prst="rect">
            <a:avLst/>
          </a:prstGeom>
          <a:noFill/>
        </p:spPr>
        <p:txBody>
          <a:bodyPr wrap="square" rtlCol="0">
            <a:spAutoFit/>
          </a:bodyPr>
          <a:lstStyle/>
          <a:p>
            <a:pPr algn="l"/>
            <a:r>
              <a:rPr lang="en-US" sz="1200" spc="0" dirty="0" smtClean="0">
                <a:solidFill>
                  <a:srgbClr val="FFFFFF"/>
                </a:solidFill>
                <a:latin typeface="Arial"/>
                <a:cs typeface="Arial"/>
              </a:rPr>
              <a:t>Pilani</a:t>
            </a:r>
            <a:r>
              <a:rPr lang="en-US" sz="1200" spc="0" baseline="0" dirty="0" smtClean="0">
                <a:solidFill>
                  <a:srgbClr val="FFFFFF"/>
                </a:solidFill>
                <a:latin typeface="Arial"/>
                <a:cs typeface="Arial"/>
              </a:rPr>
              <a:t> Campus</a:t>
            </a:r>
            <a:endParaRPr lang="en-US" sz="1200" spc="0" dirty="0">
              <a:solidFill>
                <a:srgbClr val="FFFFFF"/>
              </a:solidFill>
              <a:latin typeface="Arial"/>
              <a:cs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endParaRPr lang="en-US" dirty="0" smtClean="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 name="Content Placeholder 2"/>
          <p:cNvSpPr>
            <a:spLocks noGrp="1"/>
          </p:cNvSpPr>
          <p:nvPr userDrawn="1">
            <p:ph sz="half" idx="1" hasCustomPrompt="1"/>
          </p:nvPr>
        </p:nvSpPr>
        <p:spPr>
          <a:xfrm>
            <a:off x="4572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smtClean="0"/>
          </a:p>
        </p:txBody>
      </p:sp>
      <p:sp>
        <p:nvSpPr>
          <p:cNvPr id="4" name="Content Placeholder 3"/>
          <p:cNvSpPr>
            <a:spLocks noGrp="1"/>
          </p:cNvSpPr>
          <p:nvPr userDrawn="1">
            <p:ph sz="half" idx="2" hasCustomPrompt="1"/>
          </p:nvPr>
        </p:nvSpPr>
        <p:spPr>
          <a:xfrm>
            <a:off x="4953000" y="1600200"/>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smtClean="0"/>
              <a:t>Second level</a:t>
            </a:r>
            <a:endParaRPr kumimoji="0" lang="en-GB" sz="2400" u="none" strike="noStrike" kern="1200" cap="none" spc="0" normalizeH="0" noProof="0" dirty="0" smtClean="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smtClean="0">
                <a:ln>
                  <a:noFill/>
                </a:ln>
                <a:solidFill>
                  <a:srgbClr val="101141"/>
                </a:solidFill>
                <a:effectLst/>
                <a:uLnTx/>
                <a:uFillTx/>
                <a:latin typeface="Arial"/>
                <a:cs typeface="Arial"/>
              </a:rPr>
              <a:t>Lorem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sit </a:t>
            </a:r>
            <a:r>
              <a:rPr kumimoji="0" lang="en-GB" sz="2400" u="none" strike="noStrike" kern="1200" cap="none" spc="0" normalizeH="0" noProof="0" dirty="0" err="1" smtClean="0">
                <a:ln>
                  <a:noFill/>
                </a:ln>
                <a:solidFill>
                  <a:srgbClr val="101141"/>
                </a:solidFill>
                <a:effectLst/>
                <a:uLnTx/>
                <a:uFillTx/>
                <a:latin typeface="Arial"/>
                <a:cs typeface="Arial"/>
              </a:rPr>
              <a:t>amet</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dolor</a:t>
            </a:r>
            <a:r>
              <a:rPr kumimoji="0" lang="en-GB" sz="2400" u="none" strike="noStrike" kern="1200" cap="none" spc="0" normalizeH="0" noProof="0" dirty="0" smtClean="0">
                <a:ln>
                  <a:noFill/>
                </a:ln>
                <a:solidFill>
                  <a:srgbClr val="101141"/>
                </a:solidFill>
                <a:effectLst/>
                <a:uLnTx/>
                <a:uFillTx/>
                <a:latin typeface="Arial"/>
                <a:cs typeface="Arial"/>
              </a:rPr>
              <a:t> </a:t>
            </a:r>
            <a:r>
              <a:rPr kumimoji="0" lang="en-GB" sz="2400" u="none" strike="noStrike" kern="1200" cap="none" spc="0" normalizeH="0" noProof="0" dirty="0" err="1" smtClean="0">
                <a:ln>
                  <a:noFill/>
                </a:ln>
                <a:solidFill>
                  <a:srgbClr val="101141"/>
                </a:solidFill>
                <a:effectLst/>
                <a:uLnTx/>
                <a:uFillTx/>
                <a:latin typeface="Arial"/>
                <a:cs typeface="Arial"/>
              </a:rPr>
              <a:t>ipsum</a:t>
            </a:r>
            <a:r>
              <a:rPr kumimoji="0" lang="en-GB" sz="2400" u="none" strike="noStrike" kern="1200" cap="none" spc="0" normalizeH="0" noProof="0" dirty="0" smtClean="0">
                <a:ln>
                  <a:noFill/>
                </a:ln>
                <a:solidFill>
                  <a:srgbClr val="101141"/>
                </a:solidFill>
                <a:effectLst/>
                <a:uLnTx/>
                <a:uFillTx/>
                <a:latin typeface="Arial"/>
                <a:cs typeface="Arial"/>
              </a:rPr>
              <a:t> </a:t>
            </a:r>
          </a:p>
          <a:p>
            <a:pPr lvl="1"/>
            <a:endParaRPr lang="en-US" dirty="0" smtClean="0"/>
          </a:p>
          <a:p>
            <a:pPr lvl="1"/>
            <a:endParaRPr lang="en-US" dirty="0" smtClean="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2133600" y="6553200"/>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4" name="TextBox 33"/>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362199"/>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362199"/>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11" name="Group 10"/>
          <p:cNvGrpSpPr/>
          <p:nvPr userDrawn="1"/>
        </p:nvGrpSpPr>
        <p:grpSpPr>
          <a:xfrm>
            <a:off x="0" y="12954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6" name="Group 15"/>
          <p:cNvGrpSpPr/>
          <p:nvPr userDrawn="1"/>
        </p:nvGrpSpPr>
        <p:grpSpPr>
          <a:xfrm>
            <a:off x="2133600" y="6553200"/>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0" name="Picture 19"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1" name="TextBox 20"/>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Deemed</a:t>
            </a:r>
            <a:r>
              <a:rPr lang="en-US" sz="1100" baseline="0" dirty="0" smtClean="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Deemed</a:t>
            </a:r>
            <a:r>
              <a:rPr lang="en-US" sz="1100" baseline="0" dirty="0" smtClean="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600200"/>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9" name="Group 8"/>
          <p:cNvGrpSpPr/>
          <p:nvPr userDrawn="1"/>
        </p:nvGrpSpPr>
        <p:grpSpPr>
          <a:xfrm>
            <a:off x="0" y="1295400"/>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4" name="Group 13"/>
          <p:cNvGrpSpPr/>
          <p:nvPr userDrawn="1"/>
        </p:nvGrpSpPr>
        <p:grpSpPr>
          <a:xfrm>
            <a:off x="2133600" y="6553200"/>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20" name="TextBox 19"/>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6" name="Group 5"/>
          <p:cNvGrpSpPr/>
          <p:nvPr userDrawn="1"/>
        </p:nvGrpSpPr>
        <p:grpSpPr>
          <a:xfrm>
            <a:off x="0" y="1295400"/>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133600" y="6553200"/>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5" name="Picture 14"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20" name="Group 19"/>
          <p:cNvGrpSpPr/>
          <p:nvPr userDrawn="1"/>
        </p:nvGrpSpPr>
        <p:grpSpPr>
          <a:xfrm>
            <a:off x="0" y="1295400"/>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2133600" y="6553200"/>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29" name="Picture 28"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sp>
        <p:nvSpPr>
          <p:cNvPr id="31" name="TextBox 30"/>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Pilani Campus</a:t>
            </a:r>
            <a:endParaRPr lang="en-US" sz="1100" dirty="0">
              <a:solidFill>
                <a:srgbClr val="101141"/>
              </a:solidFill>
              <a:latin typeface="Arial"/>
              <a:cs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0"/>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smtClean="0"/>
              <a:t>Slide heading here and it can run in two lines</a:t>
            </a:r>
          </a:p>
        </p:txBody>
      </p:sp>
      <p:grpSp>
        <p:nvGrpSpPr>
          <p:cNvPr id="8" name="Group 7"/>
          <p:cNvGrpSpPr/>
          <p:nvPr userDrawn="1"/>
        </p:nvGrpSpPr>
        <p:grpSpPr>
          <a:xfrm rot="5400000">
            <a:off x="5006340" y="2567940"/>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5" y="1131248"/>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smtClean="0">
                <a:solidFill>
                  <a:srgbClr val="101141"/>
                </a:solidFill>
                <a:latin typeface="Arial"/>
                <a:cs typeface="Arial"/>
              </a:rPr>
              <a:t>BITS </a:t>
            </a:r>
            <a:r>
              <a:rPr lang="en-US" sz="900" dirty="0" smtClean="0">
                <a:solidFill>
                  <a:srgbClr val="101141"/>
                </a:solidFill>
                <a:latin typeface="Arial"/>
                <a:cs typeface="Arial"/>
              </a:rPr>
              <a:t>Pilani, Pilani Campus</a:t>
            </a:r>
            <a:endParaRPr lang="en-US" sz="900" dirty="0">
              <a:solidFill>
                <a:srgbClr val="101141"/>
              </a:solidFill>
              <a:latin typeface="Arial"/>
              <a:cs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fld id="{D03DC603-C5F6-4A82-B252-8D9BD6F91242}" type="datetimeFigureOut">
              <a:rPr lang="en-US" smtClean="0"/>
              <a:pPr/>
              <a:t>11-Nov-17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Relative Valuation</a:t>
            </a:r>
            <a:endParaRPr lang="en-US" dirty="0"/>
          </a:p>
        </p:txBody>
      </p:sp>
      <p:sp>
        <p:nvSpPr>
          <p:cNvPr id="6" name="Content Placeholder 5"/>
          <p:cNvSpPr>
            <a:spLocks noGrp="1"/>
          </p:cNvSpPr>
          <p:nvPr>
            <p:ph sz="quarter" idx="13"/>
          </p:nvPr>
        </p:nvSpPr>
        <p:spPr/>
        <p:txBody>
          <a:bodyPr/>
          <a:lstStyle/>
          <a:p>
            <a:r>
              <a:rPr lang="en-US" b="1" dirty="0" smtClean="0"/>
              <a:t>By:</a:t>
            </a:r>
          </a:p>
          <a:p>
            <a:r>
              <a:rPr lang="en-US" b="1" dirty="0" smtClean="0"/>
              <a:t>Dr. Saurabh Chadha</a:t>
            </a:r>
            <a:endParaRPr lang="en-US" b="1" dirty="0"/>
          </a:p>
        </p:txBody>
      </p:sp>
    </p:spTree>
    <p:extLst>
      <p:ext uri="{BB962C8B-B14F-4D97-AF65-F5344CB8AC3E}">
        <p14:creationId xmlns:p14="http://schemas.microsoft.com/office/powerpoint/2010/main" val="1445644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lnSpc>
                <a:spcPct val="150000"/>
              </a:lnSpc>
              <a:buFont typeface="Arial" panose="020B0604020202020204" pitchFamily="34" charset="0"/>
              <a:buChar char="•"/>
            </a:pPr>
            <a:r>
              <a:rPr lang="en-US" dirty="0" smtClean="0"/>
              <a:t>In relative valuation, an asset is valued on the basis of how similar assets are currently priced in the market.</a:t>
            </a:r>
          </a:p>
          <a:p>
            <a:pPr algn="just">
              <a:lnSpc>
                <a:spcPct val="150000"/>
              </a:lnSpc>
              <a:buFont typeface="Arial" panose="020B0604020202020204" pitchFamily="34" charset="0"/>
              <a:buChar char="•"/>
            </a:pPr>
            <a:r>
              <a:rPr lang="en-US" b="1" dirty="0" smtClean="0"/>
              <a:t>As Dan Ariely put it:</a:t>
            </a:r>
            <a:r>
              <a:rPr lang="en-US" dirty="0" smtClean="0"/>
              <a:t> </a:t>
            </a:r>
            <a:r>
              <a:rPr lang="en-US" i="1" dirty="0" smtClean="0">
                <a:solidFill>
                  <a:srgbClr val="FF0000"/>
                </a:solidFill>
              </a:rPr>
              <a:t>“Everything is relative even when it shouldn’t be. Humans rarely choose in absolute terms. We focus on the relative advantage of one thing over another and estimate value accordingly”</a:t>
            </a:r>
            <a:r>
              <a:rPr lang="en-US" dirty="0" smtClean="0">
                <a:solidFill>
                  <a:srgbClr val="FF0000"/>
                </a:solidFill>
              </a:rPr>
              <a:t>.</a:t>
            </a:r>
          </a:p>
          <a:p>
            <a:pPr algn="just">
              <a:lnSpc>
                <a:spcPct val="150000"/>
              </a:lnSpc>
              <a:buFont typeface="Arial" panose="020B0604020202020204" pitchFamily="34" charset="0"/>
              <a:buChar char="•"/>
            </a:pPr>
            <a:r>
              <a:rPr lang="en-US" dirty="0" smtClean="0"/>
              <a:t>For example: Suppose your flat measures 2000 </a:t>
            </a:r>
            <a:r>
              <a:rPr lang="en-US" dirty="0" err="1" smtClean="0"/>
              <a:t>sqft</a:t>
            </a:r>
            <a:r>
              <a:rPr lang="en-US" dirty="0" smtClean="0"/>
              <a:t> and recently a flat in the neighbourhood measuring 1500 </a:t>
            </a:r>
            <a:r>
              <a:rPr lang="en-US" dirty="0" err="1" smtClean="0"/>
              <a:t>sqft</a:t>
            </a:r>
            <a:r>
              <a:rPr lang="en-US" dirty="0" smtClean="0"/>
              <a:t> sold for 45,00,000. What is the value of your flat?</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lstStyle/>
          <a:p>
            <a:r>
              <a:rPr lang="en-US" dirty="0" smtClean="0"/>
              <a:t>Relative Valuation</a:t>
            </a:r>
            <a:endParaRPr lang="en-US" dirty="0"/>
          </a:p>
        </p:txBody>
      </p:sp>
    </p:spTree>
    <p:extLst>
      <p:ext uri="{BB962C8B-B14F-4D97-AF65-F5344CB8AC3E}">
        <p14:creationId xmlns:p14="http://schemas.microsoft.com/office/powerpoint/2010/main" val="1987644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lgn="just">
              <a:lnSpc>
                <a:spcPct val="150000"/>
              </a:lnSpc>
              <a:buFont typeface="+mj-lt"/>
              <a:buAutoNum type="arabicPeriod"/>
            </a:pPr>
            <a:r>
              <a:rPr lang="en-US" b="1" dirty="0" smtClean="0"/>
              <a:t>Analyze the target company </a:t>
            </a:r>
            <a:r>
              <a:rPr lang="en-US" dirty="0" smtClean="0"/>
              <a:t>– In-depth analysis of the competitive and financial position of the target company. </a:t>
            </a:r>
            <a:r>
              <a:rPr lang="en-US" dirty="0" smtClean="0">
                <a:solidFill>
                  <a:srgbClr val="FF0000"/>
                </a:solidFill>
              </a:rPr>
              <a:t>Key areas to be include: </a:t>
            </a:r>
          </a:p>
          <a:p>
            <a:pPr marL="685800" lvl="1" algn="just">
              <a:lnSpc>
                <a:spcPct val="150000"/>
              </a:lnSpc>
            </a:pPr>
            <a:r>
              <a:rPr lang="en-US" sz="2000" dirty="0" smtClean="0"/>
              <a:t>Product Portfolio and Market Segments</a:t>
            </a:r>
          </a:p>
          <a:p>
            <a:pPr marL="685800" lvl="1" algn="just">
              <a:lnSpc>
                <a:spcPct val="150000"/>
              </a:lnSpc>
            </a:pPr>
            <a:r>
              <a:rPr lang="en-US" sz="2000" dirty="0" smtClean="0"/>
              <a:t>Technological and Production capability</a:t>
            </a:r>
          </a:p>
          <a:p>
            <a:pPr marL="685800" lvl="1" algn="just">
              <a:lnSpc>
                <a:spcPct val="150000"/>
              </a:lnSpc>
            </a:pPr>
            <a:r>
              <a:rPr lang="en-US" sz="2000" dirty="0" smtClean="0"/>
              <a:t>Market Reputation and Customer Loyalty</a:t>
            </a:r>
          </a:p>
          <a:p>
            <a:pPr marL="685800" lvl="1" algn="just">
              <a:lnSpc>
                <a:spcPct val="150000"/>
              </a:lnSpc>
            </a:pPr>
            <a:r>
              <a:rPr lang="en-US" sz="2000" dirty="0" smtClean="0"/>
              <a:t>Product Differentiation and Economic Cost Position</a:t>
            </a:r>
          </a:p>
          <a:p>
            <a:pPr marL="685800" lvl="1" algn="just">
              <a:lnSpc>
                <a:spcPct val="150000"/>
              </a:lnSpc>
            </a:pPr>
            <a:r>
              <a:rPr lang="en-US" sz="2000" dirty="0" smtClean="0"/>
              <a:t>Liquidity, Leverage, Turnover, Margins and ROI</a:t>
            </a:r>
          </a:p>
          <a:p>
            <a:pPr algn="just">
              <a:buFont typeface="Arial" panose="020B0604020202020204" pitchFamily="34" charset="0"/>
              <a:buChar char="•"/>
            </a:pPr>
            <a:endParaRPr lang="en-US" dirty="0"/>
          </a:p>
        </p:txBody>
      </p:sp>
      <p:sp>
        <p:nvSpPr>
          <p:cNvPr id="4" name="Content Placeholder 3"/>
          <p:cNvSpPr>
            <a:spLocks noGrp="1"/>
          </p:cNvSpPr>
          <p:nvPr>
            <p:ph sz="quarter" idx="10"/>
          </p:nvPr>
        </p:nvSpPr>
        <p:spPr/>
        <p:txBody>
          <a:bodyPr/>
          <a:lstStyle/>
          <a:p>
            <a:r>
              <a:rPr lang="en-US" dirty="0" smtClean="0"/>
              <a:t>Steps in Relative Valuation</a:t>
            </a:r>
            <a:endParaRPr lang="en-US" dirty="0"/>
          </a:p>
        </p:txBody>
      </p:sp>
    </p:spTree>
    <p:extLst>
      <p:ext uri="{BB962C8B-B14F-4D97-AF65-F5344CB8AC3E}">
        <p14:creationId xmlns:p14="http://schemas.microsoft.com/office/powerpoint/2010/main" val="7430817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marL="457200" indent="-457200" algn="just">
              <a:buFont typeface="+mj-lt"/>
              <a:buAutoNum type="arabicPeriod" startAt="2"/>
            </a:pPr>
            <a:r>
              <a:rPr lang="en-US" b="1" dirty="0" smtClean="0"/>
              <a:t>Select Comparable Companies:</a:t>
            </a:r>
          </a:p>
          <a:p>
            <a:pPr marL="685800" lvl="1" algn="just">
              <a:lnSpc>
                <a:spcPct val="150000"/>
              </a:lnSpc>
            </a:pPr>
            <a:r>
              <a:rPr lang="en-US" sz="2000" dirty="0" smtClean="0"/>
              <a:t>Select companies which are similar to the target company in terms of the lines of business, nature of markets served, scale of operations and so on.  </a:t>
            </a:r>
          </a:p>
          <a:p>
            <a:pPr marL="685800" lvl="1" algn="just">
              <a:lnSpc>
                <a:spcPct val="150000"/>
              </a:lnSpc>
            </a:pPr>
            <a:r>
              <a:rPr lang="en-US" sz="2000" dirty="0" smtClean="0"/>
              <a:t>Often, it is hard to find truly comparable companies. Therefore, the analyst has to make do with companies which are comparable in some ways.</a:t>
            </a:r>
          </a:p>
          <a:p>
            <a:pPr marL="685800" lvl="1" algn="just">
              <a:lnSpc>
                <a:spcPct val="150000"/>
              </a:lnSpc>
            </a:pPr>
            <a:r>
              <a:rPr lang="en-US" sz="2000" dirty="0" smtClean="0"/>
              <a:t>The analyst should look carefully at 10 – 15 companies in the same industry and select atleast 4 – 5 companies which come as close as possible to the target company.</a:t>
            </a:r>
          </a:p>
          <a:p>
            <a:pPr marL="685800" lvl="1" algn="just">
              <a:lnSpc>
                <a:spcPct val="150000"/>
              </a:lnSpc>
            </a:pPr>
            <a:r>
              <a:rPr lang="en-US" sz="2000" dirty="0" smtClean="0"/>
              <a:t>A good deal of subjective judgment is involved in this process. </a:t>
            </a:r>
          </a:p>
          <a:p>
            <a:pPr marL="685800" lvl="1" algn="just"/>
            <a:endParaRPr lang="en-US" sz="2000" dirty="0"/>
          </a:p>
        </p:txBody>
      </p:sp>
      <p:sp>
        <p:nvSpPr>
          <p:cNvPr id="4" name="Content Placeholder 3"/>
          <p:cNvSpPr>
            <a:spLocks noGrp="1"/>
          </p:cNvSpPr>
          <p:nvPr>
            <p:ph sz="quarter" idx="10"/>
          </p:nvPr>
        </p:nvSpPr>
        <p:spPr/>
        <p:txBody>
          <a:bodyPr/>
          <a:lstStyle/>
          <a:p>
            <a:r>
              <a:rPr lang="en-US" dirty="0" smtClean="0"/>
              <a:t>Steps in Relative Valuation</a:t>
            </a:r>
            <a:endParaRPr lang="en-US" dirty="0"/>
          </a:p>
        </p:txBody>
      </p:sp>
    </p:spTree>
    <p:extLst>
      <p:ext uri="{BB962C8B-B14F-4D97-AF65-F5344CB8AC3E}">
        <p14:creationId xmlns:p14="http://schemas.microsoft.com/office/powerpoint/2010/main" val="33933227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457200" indent="-457200" algn="just">
              <a:buFont typeface="+mj-lt"/>
              <a:buAutoNum type="arabicPeriod" startAt="3"/>
            </a:pPr>
            <a:r>
              <a:rPr lang="en-US" b="1" dirty="0" smtClean="0"/>
              <a:t>Choose the Valuation Mutiple(s):</a:t>
            </a:r>
          </a:p>
          <a:p>
            <a:pPr marL="685800" lvl="1" algn="just">
              <a:lnSpc>
                <a:spcPct val="150000"/>
              </a:lnSpc>
            </a:pPr>
            <a:r>
              <a:rPr lang="en-US" sz="2000" dirty="0" smtClean="0"/>
              <a:t>A number of valuation multiples are used in practice. They may be divided into two broad categories:</a:t>
            </a:r>
          </a:p>
          <a:p>
            <a:pPr marL="685800" lvl="1" algn="just">
              <a:lnSpc>
                <a:spcPct val="150000"/>
              </a:lnSpc>
            </a:pPr>
            <a:r>
              <a:rPr lang="en-US" sz="2000" dirty="0" smtClean="0"/>
              <a:t>Enterprise Valuation Multiples (EV/Sales, EV/EBITDA, EV/EBIT etc)</a:t>
            </a:r>
          </a:p>
          <a:p>
            <a:pPr marL="685800" lvl="1" algn="just">
              <a:lnSpc>
                <a:spcPct val="150000"/>
              </a:lnSpc>
            </a:pPr>
            <a:r>
              <a:rPr lang="en-US" sz="2000" dirty="0" smtClean="0"/>
              <a:t>Equity Valuation Multiples (PE Ratio, PB ratio etc) </a:t>
            </a:r>
          </a:p>
          <a:p>
            <a:pPr marL="685800" lvl="1" algn="just">
              <a:lnSpc>
                <a:spcPct val="150000"/>
              </a:lnSpc>
            </a:pPr>
            <a:r>
              <a:rPr lang="en-US" sz="2000" dirty="0" smtClean="0"/>
              <a:t>It is always advisable to use three or four multiples that seem appropriate for the task on hand.</a:t>
            </a:r>
          </a:p>
          <a:p>
            <a:pPr marL="685800" lvl="1" algn="just">
              <a:lnSpc>
                <a:spcPct val="150000"/>
              </a:lnSpc>
            </a:pPr>
            <a:r>
              <a:rPr lang="en-US" sz="2000" b="1" dirty="0" smtClean="0"/>
              <a:t>Generally, the most common used multiples in the industry includes </a:t>
            </a:r>
            <a:r>
              <a:rPr lang="en-US" sz="2000" b="1" dirty="0"/>
              <a:t>EV/Sales, </a:t>
            </a:r>
            <a:r>
              <a:rPr lang="en-US" sz="2000" b="1" dirty="0" smtClean="0"/>
              <a:t>EV/EBITDA and PE ratio.</a:t>
            </a:r>
          </a:p>
          <a:p>
            <a:pPr marL="685800" lvl="1" algn="just"/>
            <a:endParaRPr lang="en-US" sz="2000" dirty="0"/>
          </a:p>
        </p:txBody>
      </p:sp>
      <p:sp>
        <p:nvSpPr>
          <p:cNvPr id="4" name="Content Placeholder 3"/>
          <p:cNvSpPr>
            <a:spLocks noGrp="1"/>
          </p:cNvSpPr>
          <p:nvPr>
            <p:ph sz="quarter" idx="10"/>
          </p:nvPr>
        </p:nvSpPr>
        <p:spPr/>
        <p:txBody>
          <a:bodyPr/>
          <a:lstStyle/>
          <a:p>
            <a:r>
              <a:rPr lang="en-US" dirty="0" smtClean="0"/>
              <a:t>Steps in Relative Valuation</a:t>
            </a:r>
            <a:endParaRPr lang="en-US" dirty="0"/>
          </a:p>
        </p:txBody>
      </p:sp>
    </p:spTree>
    <p:extLst>
      <p:ext uri="{BB962C8B-B14F-4D97-AF65-F5344CB8AC3E}">
        <p14:creationId xmlns:p14="http://schemas.microsoft.com/office/powerpoint/2010/main" val="268499825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lgn="just">
              <a:buFont typeface="+mj-lt"/>
              <a:buAutoNum type="arabicPeriod" startAt="4"/>
            </a:pPr>
            <a:r>
              <a:rPr lang="en-US" b="1" dirty="0" smtClean="0"/>
              <a:t>Calculate the selected valuation multiples for the comparable companies.</a:t>
            </a:r>
          </a:p>
          <a:p>
            <a:pPr marL="457200" indent="-457200" algn="just">
              <a:buFont typeface="+mj-lt"/>
              <a:buAutoNum type="arabicPeriod" startAt="4"/>
            </a:pPr>
            <a:endParaRPr lang="en-US" b="1" dirty="0" smtClean="0"/>
          </a:p>
          <a:p>
            <a:pPr marL="457200" indent="-457200" algn="just">
              <a:buFont typeface="+mj-lt"/>
              <a:buAutoNum type="arabicPeriod" startAt="4"/>
            </a:pPr>
            <a:r>
              <a:rPr lang="en-US" b="1" dirty="0" smtClean="0"/>
              <a:t>Value the target company.</a:t>
            </a:r>
          </a:p>
          <a:p>
            <a:pPr marL="685800" lvl="1" algn="just">
              <a:lnSpc>
                <a:spcPct val="200000"/>
              </a:lnSpc>
            </a:pPr>
            <a:r>
              <a:rPr lang="en-US" b="1" dirty="0">
                <a:solidFill>
                  <a:srgbClr val="FF0000"/>
                </a:solidFill>
              </a:rPr>
              <a:t>Simple Valuation Formula VT = XT *(VC / XC), where VT   = Value of the target firm, XT is the observed variable of the target firm like EBITDA, Vc is the value of the comparable firm and Xc is the observed variable of the comparable firm.</a:t>
            </a:r>
          </a:p>
          <a:p>
            <a:pPr marL="685800" lvl="1" algn="just"/>
            <a:endParaRPr lang="en-US" b="1" dirty="0"/>
          </a:p>
          <a:p>
            <a:pPr marL="457200" indent="-457200" algn="just">
              <a:buFont typeface="+mj-lt"/>
              <a:buAutoNum type="arabicPeriod" startAt="4"/>
            </a:pPr>
            <a:endParaRPr lang="en-US" b="1" dirty="0" smtClean="0"/>
          </a:p>
          <a:p>
            <a:pPr marL="400050" lvl="1" indent="0" algn="just">
              <a:buNone/>
            </a:pPr>
            <a:endParaRPr lang="en-US" sz="2000" dirty="0"/>
          </a:p>
        </p:txBody>
      </p:sp>
      <p:sp>
        <p:nvSpPr>
          <p:cNvPr id="4" name="Content Placeholder 3"/>
          <p:cNvSpPr>
            <a:spLocks noGrp="1"/>
          </p:cNvSpPr>
          <p:nvPr>
            <p:ph sz="quarter" idx="10"/>
          </p:nvPr>
        </p:nvSpPr>
        <p:spPr/>
        <p:txBody>
          <a:bodyPr/>
          <a:lstStyle/>
          <a:p>
            <a:r>
              <a:rPr lang="en-US" dirty="0" smtClean="0"/>
              <a:t>Steps in Relative Valuation</a:t>
            </a:r>
            <a:endParaRPr lang="en-US" dirty="0"/>
          </a:p>
        </p:txBody>
      </p:sp>
    </p:spTree>
    <p:extLst>
      <p:ext uri="{BB962C8B-B14F-4D97-AF65-F5344CB8AC3E}">
        <p14:creationId xmlns:p14="http://schemas.microsoft.com/office/powerpoint/2010/main" val="29323593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1522</TotalTime>
  <Words>425</Words>
  <Application>Microsoft Office PowerPoint</Application>
  <PresentationFormat>On-screen Show (4:3)</PresentationFormat>
  <Paragraphs>33</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Relative Valuation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Dell</cp:lastModifiedBy>
  <cp:revision>434</cp:revision>
  <dcterms:created xsi:type="dcterms:W3CDTF">2011-09-14T09:42:05Z</dcterms:created>
  <dcterms:modified xsi:type="dcterms:W3CDTF">2017-11-11T06:46:39Z</dcterms:modified>
</cp:coreProperties>
</file>