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03DC603-C5F6-4A82-B252-8D9BD6F91242}" type="datetimeFigureOut">
              <a:rPr lang="en-US" smtClean="0"/>
              <a:pPr/>
              <a:t>26-Aug-17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Accounting Analysis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smtClean="0"/>
              <a:t>By:</a:t>
            </a:r>
          </a:p>
          <a:p>
            <a:r>
              <a:rPr lang="en-US" b="1" dirty="0" smtClean="0"/>
              <a:t>Dr. Saurabh Chadha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purpose of accounting analysis is to evaluate the degree to </a:t>
            </a:r>
            <a:r>
              <a:rPr lang="en-US" dirty="0" smtClean="0"/>
              <a:t>which a </a:t>
            </a:r>
            <a:r>
              <a:rPr lang="en-US" dirty="0"/>
              <a:t>firm’s accounting captures its underlying business </a:t>
            </a:r>
            <a:r>
              <a:rPr lang="en-US" dirty="0" smtClean="0"/>
              <a:t>reality.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By </a:t>
            </a:r>
            <a:r>
              <a:rPr lang="en-US" dirty="0"/>
              <a:t>identifying places </a:t>
            </a:r>
            <a:r>
              <a:rPr lang="en-US" dirty="0" smtClean="0"/>
              <a:t>where there </a:t>
            </a:r>
            <a:r>
              <a:rPr lang="en-US" dirty="0"/>
              <a:t>is accounting flexibility, and by evaluating the appropriateness of the firm’s </a:t>
            </a:r>
            <a:r>
              <a:rPr lang="en-US" dirty="0" smtClean="0"/>
              <a:t>accounting policies </a:t>
            </a:r>
            <a:r>
              <a:rPr lang="en-US" dirty="0"/>
              <a:t>and estimates, analysts can assess the degree </a:t>
            </a:r>
            <a:r>
              <a:rPr lang="en-US" dirty="0" smtClean="0"/>
              <a:t>of distortion </a:t>
            </a:r>
            <a:r>
              <a:rPr lang="en-US" dirty="0"/>
              <a:t>in a </a:t>
            </a:r>
            <a:r>
              <a:rPr lang="en-US" dirty="0" smtClean="0"/>
              <a:t>firm’s accounting </a:t>
            </a:r>
            <a:r>
              <a:rPr lang="en-US" dirty="0"/>
              <a:t>numbers</a:t>
            </a:r>
            <a:r>
              <a:rPr lang="en-US" dirty="0" smtClean="0"/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Another </a:t>
            </a:r>
            <a:r>
              <a:rPr lang="en-US" dirty="0"/>
              <a:t>important skill is recasting a firm’s accounting </a:t>
            </a:r>
            <a:r>
              <a:rPr lang="en-US" dirty="0" smtClean="0"/>
              <a:t>numbers using </a:t>
            </a:r>
            <a:r>
              <a:rPr lang="en-US" dirty="0"/>
              <a:t>cash flow and footnote information to “undo” any accounting distortions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Sound accounting </a:t>
            </a:r>
            <a:r>
              <a:rPr lang="en-US" dirty="0"/>
              <a:t>analysis improves the reliability of conclusions from financial analysis, </a:t>
            </a:r>
            <a:r>
              <a:rPr lang="en-US" dirty="0" smtClean="0"/>
              <a:t>the next </a:t>
            </a:r>
            <a:r>
              <a:rPr lang="en-US" dirty="0"/>
              <a:t>step in financial statement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Purpose of </a:t>
            </a:r>
            <a:r>
              <a:rPr lang="en-US" dirty="0" smtClean="0"/>
              <a:t>Accounting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Financial statements serve as the vehicle through which owners keep track of </a:t>
            </a:r>
            <a:r>
              <a:rPr lang="en-US" dirty="0" smtClean="0"/>
              <a:t>their firms</a:t>
            </a:r>
            <a:r>
              <a:rPr lang="en-US" dirty="0"/>
              <a:t>’ financial situation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 a periodic basis, firms typically produce three financial reports</a:t>
            </a:r>
          </a:p>
          <a:p>
            <a:pPr marL="0" indent="0" algn="just"/>
            <a:r>
              <a:rPr lang="en-US" dirty="0" smtClean="0"/>
              <a:t>(</a:t>
            </a:r>
            <a:r>
              <a:rPr lang="en-US" dirty="0"/>
              <a:t>1) an </a:t>
            </a:r>
            <a:r>
              <a:rPr lang="en-US" b="1" dirty="0"/>
              <a:t>income statement</a:t>
            </a:r>
            <a:r>
              <a:rPr lang="en-US" dirty="0"/>
              <a:t> that describes the operating performance during a </a:t>
            </a:r>
            <a:r>
              <a:rPr lang="en-US" dirty="0" smtClean="0"/>
              <a:t>time period.</a:t>
            </a:r>
          </a:p>
          <a:p>
            <a:pPr marL="0" indent="0" algn="just"/>
            <a:r>
              <a:rPr lang="en-US" dirty="0" smtClean="0"/>
              <a:t>(2</a:t>
            </a:r>
            <a:r>
              <a:rPr lang="en-US" dirty="0"/>
              <a:t>) a </a:t>
            </a:r>
            <a:r>
              <a:rPr lang="en-US" b="1" dirty="0"/>
              <a:t>balance sheet</a:t>
            </a:r>
            <a:r>
              <a:rPr lang="en-US" dirty="0"/>
              <a:t> that states the firm’s assets and how they are financed, </a:t>
            </a:r>
            <a:r>
              <a:rPr lang="en-US" dirty="0" smtClean="0"/>
              <a:t>and</a:t>
            </a:r>
          </a:p>
          <a:p>
            <a:pPr marL="0" indent="0" algn="just"/>
            <a:r>
              <a:rPr lang="en-US" dirty="0" smtClean="0"/>
              <a:t>(3) a </a:t>
            </a:r>
            <a:r>
              <a:rPr lang="en-US" b="1" dirty="0"/>
              <a:t>cash flow statement</a:t>
            </a:r>
            <a:r>
              <a:rPr lang="en-US" dirty="0"/>
              <a:t> (or in some countries, a funds flow statement) that summarizes </a:t>
            </a:r>
            <a:r>
              <a:rPr lang="en-US" dirty="0" smtClean="0"/>
              <a:t>the cash </a:t>
            </a:r>
            <a:r>
              <a:rPr lang="en-US" dirty="0"/>
              <a:t>flows of the </a:t>
            </a:r>
            <a:r>
              <a:rPr lang="en-US" dirty="0" smtClean="0"/>
              <a:t>firm.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INSTITUTIONAL FRAMEWORK</a:t>
            </a:r>
          </a:p>
          <a:p>
            <a:r>
              <a:rPr lang="en-US" dirty="0"/>
              <a:t>FOR FINANCIAL REPORTING</a:t>
            </a:r>
          </a:p>
        </p:txBody>
      </p:sp>
    </p:spTree>
    <p:extLst>
      <p:ext uri="{BB962C8B-B14F-4D97-AF65-F5344CB8AC3E}">
        <p14:creationId xmlns:p14="http://schemas.microsoft.com/office/powerpoint/2010/main" val="379967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One of the fundamental features of corporate financial reports is that they are </a:t>
            </a:r>
            <a:r>
              <a:rPr lang="en-US" dirty="0" smtClean="0"/>
              <a:t>prepared using </a:t>
            </a:r>
            <a:r>
              <a:rPr lang="en-US" dirty="0"/>
              <a:t>accrual rather than cash accounting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Unlike cash accounting, accrual </a:t>
            </a:r>
            <a:r>
              <a:rPr lang="en-US" dirty="0" smtClean="0"/>
              <a:t>accounting distinguishes </a:t>
            </a:r>
            <a:r>
              <a:rPr lang="en-US" dirty="0"/>
              <a:t>between the recording of costs and benefits associated with economic </a:t>
            </a:r>
            <a:r>
              <a:rPr lang="en-US" dirty="0" smtClean="0"/>
              <a:t>activities and </a:t>
            </a:r>
            <a:r>
              <a:rPr lang="en-US" dirty="0"/>
              <a:t>the actual payment and receipt of cash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For example</a:t>
            </a:r>
            <a:r>
              <a:rPr lang="en-US" dirty="0"/>
              <a:t>, To compute net income, the effects of </a:t>
            </a:r>
            <a:r>
              <a:rPr lang="en-US" dirty="0" smtClean="0"/>
              <a:t>economic transactions </a:t>
            </a:r>
            <a:r>
              <a:rPr lang="en-US" dirty="0"/>
              <a:t>are recorded on the basis of expected, not necessarily actual, cash </a:t>
            </a:r>
            <a:r>
              <a:rPr lang="en-US" dirty="0" smtClean="0"/>
              <a:t>receipts and </a:t>
            </a:r>
            <a:r>
              <a:rPr lang="en-US" dirty="0"/>
              <a:t>payments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Expected </a:t>
            </a:r>
            <a:r>
              <a:rPr lang="en-US" dirty="0"/>
              <a:t>cash receipts from the delivery of products or </a:t>
            </a:r>
            <a:r>
              <a:rPr lang="en-US" dirty="0" smtClean="0"/>
              <a:t>services are </a:t>
            </a:r>
            <a:r>
              <a:rPr lang="en-US" dirty="0"/>
              <a:t>recognized as revenues, </a:t>
            </a:r>
            <a:r>
              <a:rPr lang="en-US" dirty="0" smtClean="0"/>
              <a:t>and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Expected </a:t>
            </a:r>
            <a:r>
              <a:rPr lang="en-US" dirty="0"/>
              <a:t>cash outflows associated with these </a:t>
            </a:r>
            <a:r>
              <a:rPr lang="en-US" dirty="0" smtClean="0"/>
              <a:t>revenues are </a:t>
            </a:r>
            <a:r>
              <a:rPr lang="en-US" dirty="0"/>
              <a:t>recognized as expenses.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125947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While there are many rules and conventions that govern a firm’s preparation of </a:t>
            </a:r>
            <a:r>
              <a:rPr lang="en-US" dirty="0" smtClean="0"/>
              <a:t>financial statements</a:t>
            </a:r>
            <a:r>
              <a:rPr lang="en-US" dirty="0"/>
              <a:t>, there are only a few conceptual building blocks that form the </a:t>
            </a:r>
            <a:r>
              <a:rPr lang="en-US" dirty="0" smtClean="0"/>
              <a:t>foundation of </a:t>
            </a:r>
            <a:r>
              <a:rPr lang="en-US" dirty="0"/>
              <a:t>accrual accounting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principles that define a firm’s assets, liabilities, equities, revenues</a:t>
            </a:r>
            <a:r>
              <a:rPr lang="en-US" dirty="0" smtClean="0"/>
              <a:t>, and </a:t>
            </a:r>
            <a:r>
              <a:rPr lang="en-US" dirty="0"/>
              <a:t>expenses are as </a:t>
            </a:r>
            <a:r>
              <a:rPr lang="en-US" dirty="0" smtClean="0"/>
              <a:t>follows: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Assets</a:t>
            </a:r>
            <a:r>
              <a:rPr lang="en-US" dirty="0"/>
              <a:t> are economic resources owned by a firm that (a) are likely to produce </a:t>
            </a:r>
            <a:r>
              <a:rPr lang="en-US" dirty="0" smtClean="0"/>
              <a:t>future economic </a:t>
            </a:r>
            <a:r>
              <a:rPr lang="en-US" dirty="0"/>
              <a:t>benefits and (b) are measurable with a reasonable degree of </a:t>
            </a:r>
            <a:r>
              <a:rPr lang="en-US" dirty="0" smtClean="0"/>
              <a:t>certainty.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Liabilities</a:t>
            </a:r>
            <a:r>
              <a:rPr lang="en-US" dirty="0"/>
              <a:t> are economic obligations of a firm arising from benefits received in </a:t>
            </a:r>
            <a:r>
              <a:rPr lang="en-US" dirty="0" smtClean="0"/>
              <a:t>the past </a:t>
            </a:r>
            <a:r>
              <a:rPr lang="en-US" dirty="0"/>
              <a:t>that are (a) required to be met with a reasonable degree of certainty and (b) </a:t>
            </a:r>
            <a:r>
              <a:rPr lang="en-US" dirty="0" smtClean="0"/>
              <a:t>at a </a:t>
            </a:r>
            <a:r>
              <a:rPr lang="en-US" dirty="0"/>
              <a:t>reasonably well-defined time in the future.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359334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Equity</a:t>
            </a:r>
            <a:r>
              <a:rPr lang="en-US" dirty="0"/>
              <a:t> is the difference between a firm’s net assets and its liabilities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definitions of assets, liabilities, and equity lead to the fundamental </a:t>
            </a:r>
            <a:r>
              <a:rPr lang="en-US" dirty="0" smtClean="0"/>
              <a:t>relationship that </a:t>
            </a:r>
            <a:r>
              <a:rPr lang="en-US" dirty="0"/>
              <a:t>governs a firm’s balance sheet</a:t>
            </a:r>
            <a:r>
              <a:rPr lang="en-US" dirty="0" smtClean="0"/>
              <a:t>: </a:t>
            </a:r>
            <a:r>
              <a:rPr lang="en-US" b="1" dirty="0" smtClean="0"/>
              <a:t>Assets </a:t>
            </a:r>
            <a:r>
              <a:rPr lang="en-US" b="1" dirty="0"/>
              <a:t>= Liabilities + </a:t>
            </a:r>
            <a:r>
              <a:rPr lang="en-US" b="1" dirty="0" smtClean="0"/>
              <a:t>Equity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Revenues</a:t>
            </a:r>
            <a:r>
              <a:rPr lang="en-US" dirty="0"/>
              <a:t> are economic resources earned during a time period. Revenue </a:t>
            </a:r>
            <a:r>
              <a:rPr lang="en-US" dirty="0" smtClean="0"/>
              <a:t>recognition is </a:t>
            </a:r>
            <a:r>
              <a:rPr lang="en-US" dirty="0"/>
              <a:t>governed by the realization principle, which proposes that revenues </a:t>
            </a:r>
            <a:r>
              <a:rPr lang="en-US" dirty="0" smtClean="0"/>
              <a:t>should be </a:t>
            </a:r>
            <a:r>
              <a:rPr lang="en-US" dirty="0"/>
              <a:t>recognized </a:t>
            </a:r>
            <a:r>
              <a:rPr lang="en-US" dirty="0" smtClean="0"/>
              <a:t>when: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(</a:t>
            </a:r>
            <a:r>
              <a:rPr lang="en-US" dirty="0"/>
              <a:t>a) the firm has provided all, or substantially all, the goods </a:t>
            </a:r>
            <a:r>
              <a:rPr lang="en-US" dirty="0" smtClean="0"/>
              <a:t>or services </a:t>
            </a:r>
            <a:r>
              <a:rPr lang="en-US" dirty="0"/>
              <a:t>to be delivered to the customer </a:t>
            </a:r>
            <a:r>
              <a:rPr lang="en-US" dirty="0" smtClean="0"/>
              <a:t>and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(</a:t>
            </a:r>
            <a:r>
              <a:rPr lang="en-US" dirty="0"/>
              <a:t>b) the customer has paid cash or </a:t>
            </a:r>
            <a:r>
              <a:rPr lang="en-US" dirty="0" smtClean="0"/>
              <a:t>is expected </a:t>
            </a:r>
            <a:r>
              <a:rPr lang="en-US" dirty="0"/>
              <a:t>to pay cash with a reasonable degree of certainty.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9141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Expenses</a:t>
            </a:r>
            <a:r>
              <a:rPr lang="en-US" dirty="0"/>
              <a:t> are economic resources used up in a time period. Expense recognition </a:t>
            </a:r>
            <a:r>
              <a:rPr lang="en-US" dirty="0" smtClean="0"/>
              <a:t>is governed </a:t>
            </a:r>
            <a:r>
              <a:rPr lang="en-US" dirty="0"/>
              <a:t>by the matching and the conservatism principles. Under these principles</a:t>
            </a:r>
            <a:r>
              <a:rPr lang="en-US" dirty="0" smtClean="0"/>
              <a:t>, expenses are</a:t>
            </a:r>
          </a:p>
          <a:p>
            <a:pPr marL="0" indent="0" algn="just"/>
            <a:r>
              <a:rPr lang="en-US" dirty="0" smtClean="0"/>
              <a:t>(a) costs </a:t>
            </a:r>
            <a:r>
              <a:rPr lang="en-US" dirty="0"/>
              <a:t>directly associated with revenues recognized in the same period</a:t>
            </a:r>
            <a:r>
              <a:rPr lang="en-US" dirty="0" smtClean="0"/>
              <a:t>, or</a:t>
            </a:r>
          </a:p>
          <a:p>
            <a:pPr marL="0" indent="0" algn="just"/>
            <a:r>
              <a:rPr lang="en-US" dirty="0" smtClean="0"/>
              <a:t>(</a:t>
            </a:r>
            <a:r>
              <a:rPr lang="en-US" dirty="0"/>
              <a:t>b) costs associated with benefits that are consumed in this time period, or</a:t>
            </a:r>
          </a:p>
          <a:p>
            <a:pPr marL="0" indent="0" algn="just"/>
            <a:r>
              <a:rPr lang="en-US" dirty="0"/>
              <a:t>(c) resources whose future benefits are not reasonably </a:t>
            </a:r>
            <a:r>
              <a:rPr lang="en-US" dirty="0" smtClean="0"/>
              <a:t>certain</a:t>
            </a:r>
          </a:p>
          <a:p>
            <a:pPr marL="0" indent="0" algn="just"/>
            <a:r>
              <a:rPr lang="en-US" b="1" dirty="0"/>
              <a:t>Profit </a:t>
            </a:r>
            <a:r>
              <a:rPr lang="en-US" dirty="0"/>
              <a:t>is the difference between a firm’s revenues and expenses in a time </a:t>
            </a:r>
            <a:r>
              <a:rPr lang="en-US" dirty="0" smtClean="0"/>
              <a:t>period.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Accrual Accounting</a:t>
            </a:r>
          </a:p>
        </p:txBody>
      </p:sp>
    </p:spTree>
    <p:extLst>
      <p:ext uri="{BB962C8B-B14F-4D97-AF65-F5344CB8AC3E}">
        <p14:creationId xmlns:p14="http://schemas.microsoft.com/office/powerpoint/2010/main" val="161725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Corporate </a:t>
            </a:r>
            <a:r>
              <a:rPr lang="en-US" dirty="0"/>
              <a:t>managers have intimate knowledge of their firms’ businesses, </a:t>
            </a:r>
            <a:r>
              <a:rPr lang="en-US" dirty="0" smtClean="0"/>
              <a:t>they are </a:t>
            </a:r>
            <a:r>
              <a:rPr lang="en-US" dirty="0"/>
              <a:t>entrusted with the primary task of making the appropriate judgments in </a:t>
            </a:r>
            <a:r>
              <a:rPr lang="en-US" dirty="0" smtClean="0"/>
              <a:t>portraying numerous </a:t>
            </a:r>
            <a:r>
              <a:rPr lang="en-US" dirty="0"/>
              <a:t>business transactions using the basic accrual accounting </a:t>
            </a:r>
            <a:r>
              <a:rPr lang="en-US" dirty="0" smtClean="0"/>
              <a:t>framework.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However, </a:t>
            </a:r>
            <a:r>
              <a:rPr lang="en-US" dirty="0" smtClean="0"/>
              <a:t>investors view </a:t>
            </a:r>
            <a:r>
              <a:rPr lang="en-US" dirty="0"/>
              <a:t>profits as a measure of managers’ performance, managers have an incentive to </a:t>
            </a:r>
            <a:r>
              <a:rPr lang="en-US" b="1" dirty="0" smtClean="0"/>
              <a:t>use their </a:t>
            </a:r>
            <a:r>
              <a:rPr lang="en-US" b="1" dirty="0"/>
              <a:t>accounting discretion to distort reported profits by making biased </a:t>
            </a:r>
            <a:r>
              <a:rPr lang="en-US" b="1" dirty="0" smtClean="0"/>
              <a:t>assumptions.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Earnings management distorts financial accounting data, making them less </a:t>
            </a:r>
            <a:r>
              <a:rPr lang="en-US" dirty="0" smtClean="0"/>
              <a:t>valuable to </a:t>
            </a:r>
            <a:r>
              <a:rPr lang="en-US" dirty="0"/>
              <a:t>external users of financial statements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Therefore</a:t>
            </a:r>
            <a:r>
              <a:rPr lang="en-US" dirty="0"/>
              <a:t>, the delegation of financial </a:t>
            </a:r>
            <a:r>
              <a:rPr lang="en-US" dirty="0" smtClean="0"/>
              <a:t>reporting decisions to managers </a:t>
            </a:r>
            <a:r>
              <a:rPr lang="en-US" dirty="0"/>
              <a:t>has both costs and benefits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Accounting </a:t>
            </a:r>
            <a:r>
              <a:rPr lang="en-US" b="1" dirty="0"/>
              <a:t>rules and </a:t>
            </a:r>
            <a:r>
              <a:rPr lang="en-US" b="1" dirty="0" smtClean="0"/>
              <a:t>Auditing</a:t>
            </a:r>
            <a:r>
              <a:rPr lang="en-US" dirty="0" smtClean="0"/>
              <a:t> are mechanisms </a:t>
            </a:r>
            <a:r>
              <a:rPr lang="en-US" dirty="0"/>
              <a:t>designed to reduce the cost and preserve the benefit of delegating </a:t>
            </a:r>
            <a:r>
              <a:rPr lang="en-US" dirty="0" smtClean="0"/>
              <a:t>financial reporting </a:t>
            </a:r>
            <a:r>
              <a:rPr lang="en-US" dirty="0"/>
              <a:t>to corporate managers.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Delegation of Reporting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39800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Given that it is difficult for outside investors to determine whether managers have </a:t>
            </a:r>
            <a:r>
              <a:rPr lang="en-US" dirty="0" smtClean="0"/>
              <a:t>used their </a:t>
            </a:r>
            <a:r>
              <a:rPr lang="en-US" dirty="0"/>
              <a:t>accounting flexibility to signal their proprietary information or merely to </a:t>
            </a:r>
            <a:r>
              <a:rPr lang="en-US" dirty="0" smtClean="0"/>
              <a:t>disguise reality</a:t>
            </a:r>
            <a:r>
              <a:rPr lang="en-US" dirty="0"/>
              <a:t>, a number of accounting conventions have evolved to mitigate the </a:t>
            </a:r>
            <a:r>
              <a:rPr lang="en-US" dirty="0" smtClean="0"/>
              <a:t>problem.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Accounting conventions </a:t>
            </a:r>
            <a:r>
              <a:rPr lang="en-US" dirty="0"/>
              <a:t>and standards promulgated by the standard-setting bodies </a:t>
            </a:r>
            <a:r>
              <a:rPr lang="en-US" dirty="0" smtClean="0"/>
              <a:t>limit potential </a:t>
            </a:r>
            <a:r>
              <a:rPr lang="en-US" dirty="0"/>
              <a:t>distortions that managers can introduce into reported </a:t>
            </a:r>
            <a:r>
              <a:rPr lang="en-US" dirty="0" smtClean="0"/>
              <a:t>accounting numbers</a:t>
            </a:r>
            <a:r>
              <a:rPr lang="en-US" b="1" dirty="0" smtClean="0"/>
              <a:t>. </a:t>
            </a:r>
            <a:r>
              <a:rPr lang="en-US" b="1" dirty="0"/>
              <a:t>Ex </a:t>
            </a:r>
            <a:r>
              <a:rPr lang="en-US" b="1" dirty="0" smtClean="0"/>
              <a:t>in the </a:t>
            </a:r>
            <a:r>
              <a:rPr lang="en-US" b="1" dirty="0"/>
              <a:t>United States, the Securities and Exchange Commission (SEC) </a:t>
            </a:r>
            <a:r>
              <a:rPr lang="en-US" dirty="0"/>
              <a:t>has the legal </a:t>
            </a:r>
            <a:r>
              <a:rPr lang="en-US" dirty="0" smtClean="0"/>
              <a:t>authority to </a:t>
            </a:r>
            <a:r>
              <a:rPr lang="en-US" dirty="0"/>
              <a:t>set accounting </a:t>
            </a:r>
            <a:r>
              <a:rPr lang="en-US" dirty="0" smtClean="0"/>
              <a:t>standards.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Thus they </a:t>
            </a:r>
            <a:r>
              <a:rPr lang="en-US" dirty="0" smtClean="0"/>
              <a:t>create a </a:t>
            </a:r>
            <a:r>
              <a:rPr lang="en-US" dirty="0"/>
              <a:t>uniform accounting language and increase the credibility of financial statements </a:t>
            </a:r>
            <a:r>
              <a:rPr lang="en-US" dirty="0" smtClean="0"/>
              <a:t>by limiting </a:t>
            </a:r>
            <a:r>
              <a:rPr lang="en-US" dirty="0"/>
              <a:t>a firm’s ability to distort </a:t>
            </a:r>
            <a:r>
              <a:rPr lang="en-US" dirty="0" smtClean="0"/>
              <a:t>them.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Generally Accepted Accounting Principles</a:t>
            </a:r>
          </a:p>
        </p:txBody>
      </p:sp>
    </p:spTree>
    <p:extLst>
      <p:ext uri="{BB962C8B-B14F-4D97-AF65-F5344CB8AC3E}">
        <p14:creationId xmlns:p14="http://schemas.microsoft.com/office/powerpoint/2010/main" val="166040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External </a:t>
            </a:r>
            <a:r>
              <a:rPr lang="en-US" b="1" dirty="0" smtClean="0"/>
              <a:t>Auditing </a:t>
            </a:r>
            <a:r>
              <a:rPr lang="en-US" dirty="0" smtClean="0"/>
              <a:t>broadly </a:t>
            </a:r>
            <a:r>
              <a:rPr lang="en-US" dirty="0"/>
              <a:t>defined as a verification of the integrity of the reported financial statements </a:t>
            </a:r>
            <a:r>
              <a:rPr lang="en-US" dirty="0" smtClean="0"/>
              <a:t>by someone </a:t>
            </a:r>
            <a:r>
              <a:rPr lang="en-US" dirty="0"/>
              <a:t>other than the </a:t>
            </a:r>
            <a:r>
              <a:rPr lang="en-US" dirty="0" smtClean="0"/>
              <a:t>preparer.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External </a:t>
            </a:r>
            <a:r>
              <a:rPr lang="en-US" dirty="0"/>
              <a:t>auditing ensures that managers use </a:t>
            </a:r>
            <a:r>
              <a:rPr lang="en-US" dirty="0" smtClean="0"/>
              <a:t>accounting rules </a:t>
            </a:r>
            <a:r>
              <a:rPr lang="en-US" dirty="0"/>
              <a:t>and conventions consistently over time, and that their accounting estimates are reasonable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Legal Liability: </a:t>
            </a:r>
            <a:r>
              <a:rPr lang="en-US" dirty="0"/>
              <a:t>The legal environment in which accounting disputes between managers, auditors, </a:t>
            </a:r>
            <a:r>
              <a:rPr lang="en-US" dirty="0" smtClean="0"/>
              <a:t>and investors </a:t>
            </a:r>
            <a:r>
              <a:rPr lang="en-US" dirty="0"/>
              <a:t>are adjudicated can also have a significant effect on the quality of </a:t>
            </a:r>
            <a:r>
              <a:rPr lang="en-US" dirty="0" smtClean="0"/>
              <a:t>reported numbers.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threat of lawsuits and resulting penalties have the beneficial effect of </a:t>
            </a:r>
            <a:r>
              <a:rPr lang="en-US" dirty="0" smtClean="0"/>
              <a:t>improving the </a:t>
            </a:r>
            <a:r>
              <a:rPr lang="en-US" dirty="0"/>
              <a:t>accuracy of </a:t>
            </a:r>
            <a:r>
              <a:rPr lang="en-US" dirty="0" smtClean="0"/>
              <a:t>disclosure.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Concerns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9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Therefore, </a:t>
            </a:r>
            <a:r>
              <a:rPr lang="en-US" b="1" dirty="0" smtClean="0"/>
              <a:t>the </a:t>
            </a:r>
            <a:r>
              <a:rPr lang="en-US" b="1" dirty="0"/>
              <a:t>objective of accounting analysis is to evaluate </a:t>
            </a:r>
            <a:r>
              <a:rPr lang="en-US" b="1" dirty="0" smtClean="0"/>
              <a:t>the degree </a:t>
            </a:r>
            <a:r>
              <a:rPr lang="en-US" b="1" dirty="0"/>
              <a:t>to which a firm’s accounting captures its underlying business reality and to </a:t>
            </a:r>
            <a:r>
              <a:rPr lang="en-US" b="1" dirty="0" smtClean="0"/>
              <a:t>undo any </a:t>
            </a:r>
            <a:r>
              <a:rPr lang="en-US" b="1" dirty="0"/>
              <a:t>accounting distortions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When </a:t>
            </a:r>
            <a:r>
              <a:rPr lang="en-US" b="1" dirty="0"/>
              <a:t>potential distortions are large, accounting </a:t>
            </a:r>
            <a:r>
              <a:rPr lang="en-US" b="1" dirty="0" smtClean="0"/>
              <a:t>analysis can </a:t>
            </a:r>
            <a:r>
              <a:rPr lang="en-US" b="1" dirty="0"/>
              <a:t>add considerable </a:t>
            </a:r>
            <a:r>
              <a:rPr lang="en-US" b="1" dirty="0" smtClean="0"/>
              <a:t>value.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Concerns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04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There are three potential sources of noise and bias in accounting data</a:t>
            </a:r>
            <a:r>
              <a:rPr lang="en-US" b="1" dirty="0" smtClean="0"/>
              <a:t>:</a:t>
            </a:r>
          </a:p>
          <a:p>
            <a:pPr marL="0" indent="0" algn="just"/>
            <a:r>
              <a:rPr lang="en-US" dirty="0" smtClean="0"/>
              <a:t>(</a:t>
            </a:r>
            <a:r>
              <a:rPr lang="en-US" dirty="0"/>
              <a:t>1) the noise </a:t>
            </a:r>
            <a:r>
              <a:rPr lang="en-US" dirty="0" smtClean="0"/>
              <a:t>and bias </a:t>
            </a:r>
            <a:r>
              <a:rPr lang="en-US" dirty="0"/>
              <a:t>introduced by rigidity in accounting </a:t>
            </a:r>
            <a:r>
              <a:rPr lang="en-US" dirty="0" smtClean="0"/>
              <a:t>rules.</a:t>
            </a:r>
          </a:p>
          <a:p>
            <a:pPr marL="0" indent="0" algn="just"/>
            <a:r>
              <a:rPr lang="en-US" dirty="0" smtClean="0"/>
              <a:t>(</a:t>
            </a:r>
            <a:r>
              <a:rPr lang="en-US" dirty="0"/>
              <a:t>2) random forecast errors, </a:t>
            </a:r>
            <a:r>
              <a:rPr lang="en-US" dirty="0" smtClean="0"/>
              <a:t>and</a:t>
            </a:r>
          </a:p>
          <a:p>
            <a:pPr marL="0" indent="0" algn="just"/>
            <a:r>
              <a:rPr lang="en-US" dirty="0" smtClean="0"/>
              <a:t>(3) Systematic reporting </a:t>
            </a:r>
            <a:r>
              <a:rPr lang="en-US" dirty="0"/>
              <a:t>choices made by corporate managers to achieve specific </a:t>
            </a:r>
            <a:r>
              <a:rPr lang="en-US" dirty="0" smtClean="0"/>
              <a:t>objectives.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124049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/>
            <a:r>
              <a:rPr lang="en-US" b="1" dirty="0"/>
              <a:t>ACCOUNTING RULES: </a:t>
            </a:r>
            <a:r>
              <a:rPr lang="en-US" dirty="0"/>
              <a:t>Accounting rules introduce noise and bias because it is </a:t>
            </a:r>
            <a:r>
              <a:rPr lang="en-US" dirty="0" smtClean="0"/>
              <a:t>often difficult </a:t>
            </a:r>
            <a:r>
              <a:rPr lang="en-US" dirty="0"/>
              <a:t>to restrict management </a:t>
            </a:r>
            <a:r>
              <a:rPr lang="en-US" dirty="0" smtClean="0"/>
              <a:t>discretion without </a:t>
            </a:r>
            <a:r>
              <a:rPr lang="en-US" dirty="0"/>
              <a:t>reducing the information content </a:t>
            </a:r>
            <a:r>
              <a:rPr lang="en-US" dirty="0" smtClean="0"/>
              <a:t>of accounting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dirty="0" smtClean="0"/>
              <a:t>The Statement </a:t>
            </a:r>
            <a:r>
              <a:rPr lang="en-US" dirty="0"/>
              <a:t>of Financial Accounting Standards No. </a:t>
            </a:r>
            <a:r>
              <a:rPr lang="en-US" dirty="0" smtClean="0"/>
              <a:t>2 issued </a:t>
            </a:r>
            <a:r>
              <a:rPr lang="en-US" dirty="0"/>
              <a:t>by the FASB requires firms to expense research outlays when they are incurred.</a:t>
            </a:r>
          </a:p>
          <a:p>
            <a:pPr marL="0" indent="0" algn="just"/>
            <a:r>
              <a:rPr lang="en-US" dirty="0"/>
              <a:t>Clearly, some research expenditures have future value while others do not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dirty="0" smtClean="0"/>
              <a:t>because SFAS </a:t>
            </a:r>
            <a:r>
              <a:rPr lang="en-US" dirty="0"/>
              <a:t>No. 2 does not allow firms to distinguish between the two types of expenditures</a:t>
            </a:r>
            <a:r>
              <a:rPr lang="en-US" dirty="0" smtClean="0"/>
              <a:t>, it </a:t>
            </a:r>
            <a:r>
              <a:rPr lang="en-US" dirty="0"/>
              <a:t>leads to a systematic distortion of reported accounting numbers.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9660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 algn="just"/>
            <a:r>
              <a:rPr lang="en-US" b="1" dirty="0"/>
              <a:t>FORECAST </a:t>
            </a:r>
            <a:r>
              <a:rPr lang="en-US" b="1" dirty="0" smtClean="0"/>
              <a:t>ERRORS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/>
              <a:t>Another source of noise in accounting data arises from </a:t>
            </a:r>
            <a:r>
              <a:rPr lang="en-US" sz="2600" dirty="0" smtClean="0"/>
              <a:t>pure forecast </a:t>
            </a:r>
            <a:r>
              <a:rPr lang="en-US" sz="2600" dirty="0"/>
              <a:t>error, because managers cannot predict future consequences of current </a:t>
            </a:r>
            <a:r>
              <a:rPr lang="en-US" sz="2600" dirty="0" smtClean="0"/>
              <a:t>transactions perfectly.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For </a:t>
            </a:r>
            <a:r>
              <a:rPr lang="en-US" sz="2600" b="1" dirty="0"/>
              <a:t>example</a:t>
            </a:r>
            <a:r>
              <a:rPr lang="en-US" sz="2600" dirty="0"/>
              <a:t>, when a firm sells products on credit, accrual accounting </a:t>
            </a:r>
            <a:r>
              <a:rPr lang="en-US" sz="2600" dirty="0" smtClean="0"/>
              <a:t>requires managers </a:t>
            </a:r>
            <a:r>
              <a:rPr lang="en-US" sz="2600" dirty="0"/>
              <a:t>to make a judgment on the probability of collecting payments </a:t>
            </a:r>
            <a:r>
              <a:rPr lang="en-US" sz="2600" dirty="0" smtClean="0"/>
              <a:t>from customers.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 smtClean="0"/>
              <a:t>If </a:t>
            </a:r>
            <a:r>
              <a:rPr lang="en-US" sz="2600" dirty="0"/>
              <a:t>payments are deemed “reasonably certain,” the firm treats the </a:t>
            </a:r>
            <a:r>
              <a:rPr lang="en-US" sz="2600" dirty="0" smtClean="0"/>
              <a:t>transactions as </a:t>
            </a:r>
            <a:r>
              <a:rPr lang="en-US" sz="2600" dirty="0"/>
              <a:t>sales, creating accounts receivable on its balance sheet</a:t>
            </a:r>
            <a:r>
              <a:rPr lang="en-US" sz="26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 smtClean="0"/>
              <a:t>Managers </a:t>
            </a:r>
            <a:r>
              <a:rPr lang="en-US" sz="2600" dirty="0"/>
              <a:t>then make an </a:t>
            </a:r>
            <a:r>
              <a:rPr lang="en-US" sz="2600" dirty="0" smtClean="0"/>
              <a:t>estimate of </a:t>
            </a:r>
            <a:r>
              <a:rPr lang="en-US" sz="2600" dirty="0"/>
              <a:t>the proportion of receivables that will not be collected. Because managers </a:t>
            </a:r>
            <a:r>
              <a:rPr lang="en-US" sz="2600" dirty="0" smtClean="0"/>
              <a:t>do not </a:t>
            </a:r>
            <a:r>
              <a:rPr lang="en-US" sz="2600" dirty="0"/>
              <a:t>have perfect foresight, actual defaults are likely to be different from estimated </a:t>
            </a:r>
            <a:r>
              <a:rPr lang="en-US" sz="2600" dirty="0" smtClean="0"/>
              <a:t>customer defaults</a:t>
            </a:r>
            <a:r>
              <a:rPr lang="en-US" sz="2600" dirty="0"/>
              <a:t>, leading to a forecast error</a:t>
            </a:r>
            <a:r>
              <a:rPr lang="en-US" sz="26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 smtClean="0"/>
              <a:t>The </a:t>
            </a:r>
            <a:r>
              <a:rPr lang="en-US" sz="2600" dirty="0"/>
              <a:t>extent of errors in managers’ </a:t>
            </a:r>
            <a:r>
              <a:rPr lang="en-US" sz="2600" dirty="0" smtClean="0"/>
              <a:t>accounting forecasts </a:t>
            </a:r>
            <a:r>
              <a:rPr lang="en-US" sz="2600" dirty="0"/>
              <a:t>depends on a variety of factors, including the complexity of the business transactions</a:t>
            </a:r>
            <a:r>
              <a:rPr lang="en-US" sz="2600" dirty="0" smtClean="0"/>
              <a:t>, the </a:t>
            </a:r>
            <a:r>
              <a:rPr lang="en-US" sz="2600" dirty="0"/>
              <a:t>predictability of the firm’s environment, and unforeseen </a:t>
            </a:r>
            <a:r>
              <a:rPr lang="en-US" sz="2600" dirty="0" smtClean="0"/>
              <a:t>economy-wide changes</a:t>
            </a:r>
            <a:r>
              <a:rPr lang="en-US" sz="2600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37952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MANAGERS’ ACCOUNTING </a:t>
            </a:r>
            <a:r>
              <a:rPr lang="en-US" b="1" dirty="0" smtClean="0"/>
              <a:t>CHOICES</a:t>
            </a:r>
          </a:p>
          <a:p>
            <a:pPr marL="0" indent="0" algn="just"/>
            <a:r>
              <a:rPr lang="en-US" dirty="0"/>
              <a:t>Corporate managers also introduce </a:t>
            </a:r>
            <a:r>
              <a:rPr lang="en-US" dirty="0" smtClean="0"/>
              <a:t>noise and </a:t>
            </a:r>
            <a:r>
              <a:rPr lang="en-US" dirty="0"/>
              <a:t>bias into accounting data through their own accounting decisions. </a:t>
            </a:r>
            <a:endParaRPr lang="en-US" dirty="0" smtClean="0"/>
          </a:p>
          <a:p>
            <a:pPr marL="0" indent="0" algn="just"/>
            <a:r>
              <a:rPr lang="en-US" dirty="0"/>
              <a:t>They have </a:t>
            </a:r>
            <a:r>
              <a:rPr lang="en-US" dirty="0" smtClean="0"/>
              <a:t>a variety </a:t>
            </a:r>
            <a:r>
              <a:rPr lang="en-US" dirty="0"/>
              <a:t>of incentives to exercise their accounting discretion to achieve certain </a:t>
            </a:r>
            <a:r>
              <a:rPr lang="en-US" dirty="0" smtClean="0"/>
              <a:t>objectives like: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Accounting-based debt covenants:</a:t>
            </a:r>
            <a:r>
              <a:rPr lang="en-US" dirty="0"/>
              <a:t> Managers may make accounting decisions </a:t>
            </a:r>
            <a:r>
              <a:rPr lang="en-US" dirty="0" smtClean="0"/>
              <a:t>to meet </a:t>
            </a:r>
            <a:r>
              <a:rPr lang="en-US" dirty="0"/>
              <a:t>certain contractual obligations in their debt covenants. For example, </a:t>
            </a:r>
            <a:r>
              <a:rPr lang="en-US" dirty="0" smtClean="0"/>
              <a:t>firms’ lending </a:t>
            </a:r>
            <a:r>
              <a:rPr lang="en-US" dirty="0"/>
              <a:t>agreements with banks and other debt holders require them to meet </a:t>
            </a:r>
            <a:r>
              <a:rPr lang="en-US" dirty="0" smtClean="0"/>
              <a:t>covenants </a:t>
            </a:r>
            <a:r>
              <a:rPr lang="en-US" dirty="0"/>
              <a:t>related to interest coverage, working capital </a:t>
            </a:r>
            <a:r>
              <a:rPr lang="en-US" dirty="0" smtClean="0"/>
              <a:t>ratios etc.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40434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Management </a:t>
            </a:r>
            <a:r>
              <a:rPr lang="en-US" b="1" dirty="0" smtClean="0"/>
              <a:t>compensation: </a:t>
            </a:r>
            <a:r>
              <a:rPr lang="en-US" dirty="0" smtClean="0"/>
              <a:t>Another </a:t>
            </a:r>
            <a:r>
              <a:rPr lang="en-US" dirty="0"/>
              <a:t>motivation for managers’ accounting </a:t>
            </a:r>
            <a:r>
              <a:rPr lang="en-US" dirty="0" smtClean="0"/>
              <a:t>choice comes </a:t>
            </a:r>
            <a:r>
              <a:rPr lang="en-US" dirty="0"/>
              <a:t>from the fact that their compensation and job security are often tied to </a:t>
            </a:r>
            <a:r>
              <a:rPr lang="en-US" dirty="0" smtClean="0"/>
              <a:t>reported profits</a:t>
            </a:r>
            <a:r>
              <a:rPr lang="en-US" dirty="0"/>
              <a:t>. For example, many top managers receive bonus compensation </a:t>
            </a:r>
            <a:r>
              <a:rPr lang="en-US" dirty="0" smtClean="0"/>
              <a:t>if they </a:t>
            </a:r>
            <a:r>
              <a:rPr lang="en-US" dirty="0"/>
              <a:t>exceed certain </a:t>
            </a:r>
            <a:r>
              <a:rPr lang="en-US" dirty="0" smtClean="0"/>
              <a:t>pre-specified </a:t>
            </a:r>
            <a:r>
              <a:rPr lang="en-US" dirty="0"/>
              <a:t>profit </a:t>
            </a:r>
            <a:r>
              <a:rPr lang="en-US" dirty="0" smtClean="0"/>
              <a:t>targets.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Corporate control </a:t>
            </a:r>
            <a:r>
              <a:rPr lang="en-US" b="1" dirty="0" smtClean="0"/>
              <a:t>contests:</a:t>
            </a:r>
            <a:r>
              <a:rPr lang="en-US" dirty="0" smtClean="0"/>
              <a:t> </a:t>
            </a:r>
            <a:r>
              <a:rPr lang="en-US" dirty="0"/>
              <a:t>In corporate control contests, including hostile </a:t>
            </a:r>
            <a:r>
              <a:rPr lang="en-US" dirty="0" smtClean="0"/>
              <a:t>takeovers and </a:t>
            </a:r>
            <a:r>
              <a:rPr lang="en-US" dirty="0"/>
              <a:t>proxy fights, competing management groups attempt to win over </a:t>
            </a:r>
            <a:r>
              <a:rPr lang="en-US" dirty="0" smtClean="0"/>
              <a:t>the firm’s </a:t>
            </a:r>
            <a:r>
              <a:rPr lang="en-US" dirty="0"/>
              <a:t>shareholders. Accounting numbers are used extensively in debating managers</a:t>
            </a:r>
            <a:r>
              <a:rPr lang="en-US" dirty="0" smtClean="0"/>
              <a:t>’ performance </a:t>
            </a:r>
            <a:r>
              <a:rPr lang="en-US" dirty="0"/>
              <a:t>in these contests. Therefore, managers may make accounting </a:t>
            </a:r>
            <a:r>
              <a:rPr lang="en-US" dirty="0" smtClean="0"/>
              <a:t>decisions to </a:t>
            </a:r>
            <a:r>
              <a:rPr lang="en-US" dirty="0"/>
              <a:t>influence investor perceptions in corporate control contests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127903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Tax </a:t>
            </a:r>
            <a:r>
              <a:rPr lang="en-US" b="1" dirty="0" smtClean="0"/>
              <a:t>considerations: </a:t>
            </a:r>
            <a:r>
              <a:rPr lang="en-US" dirty="0"/>
              <a:t>Managers may also make reporting choices to trade off </a:t>
            </a:r>
            <a:r>
              <a:rPr lang="en-US" dirty="0" smtClean="0"/>
              <a:t>between financial </a:t>
            </a:r>
            <a:r>
              <a:rPr lang="en-US" dirty="0"/>
              <a:t>reporting and tax considerations. </a:t>
            </a:r>
            <a:r>
              <a:rPr lang="en-US" b="1" dirty="0"/>
              <a:t>For example</a:t>
            </a:r>
            <a:r>
              <a:rPr lang="en-US" dirty="0"/>
              <a:t>, U.S. firms are </a:t>
            </a:r>
            <a:r>
              <a:rPr lang="en-US" dirty="0" smtClean="0"/>
              <a:t>required to </a:t>
            </a:r>
            <a:r>
              <a:rPr lang="en-US" dirty="0"/>
              <a:t>use LIFO inventory accounting for shareholder reporting in order to use </a:t>
            </a:r>
            <a:r>
              <a:rPr lang="en-US" dirty="0" smtClean="0"/>
              <a:t>it for </a:t>
            </a:r>
            <a:r>
              <a:rPr lang="en-US" dirty="0"/>
              <a:t>tax reporting. Under LIFO, when prices are rising, firms report lower profits</a:t>
            </a:r>
            <a:r>
              <a:rPr lang="en-US" dirty="0" smtClean="0"/>
              <a:t>, thereby </a:t>
            </a:r>
            <a:r>
              <a:rPr lang="en-US" dirty="0"/>
              <a:t>reducing tax payments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Regulatory </a:t>
            </a:r>
            <a:r>
              <a:rPr lang="en-US" b="1" dirty="0" smtClean="0"/>
              <a:t>considerations:</a:t>
            </a:r>
            <a:r>
              <a:rPr lang="en-US" dirty="0" smtClean="0"/>
              <a:t> </a:t>
            </a:r>
            <a:r>
              <a:rPr lang="en-US" dirty="0"/>
              <a:t>Since accounting numbers are used by regulators in </a:t>
            </a:r>
            <a:r>
              <a:rPr lang="en-US" dirty="0" smtClean="0"/>
              <a:t>a variety </a:t>
            </a:r>
            <a:r>
              <a:rPr lang="en-US" dirty="0"/>
              <a:t>of contexts, managers of some firms may make accounting decisions to </a:t>
            </a:r>
            <a:r>
              <a:rPr lang="en-US" dirty="0" smtClean="0"/>
              <a:t>influence regulatory </a:t>
            </a:r>
            <a:r>
              <a:rPr lang="en-US" dirty="0"/>
              <a:t>outcomes. Examples of regulatory situations where </a:t>
            </a:r>
            <a:r>
              <a:rPr lang="en-US" dirty="0" smtClean="0"/>
              <a:t>accounting numbers </a:t>
            </a:r>
            <a:r>
              <a:rPr lang="en-US" dirty="0"/>
              <a:t>are used include antitrust actions, import tariffs to protect domestic industries</a:t>
            </a:r>
            <a:r>
              <a:rPr lang="en-US" dirty="0" smtClean="0"/>
              <a:t>, and </a:t>
            </a:r>
            <a:r>
              <a:rPr lang="en-US" dirty="0"/>
              <a:t>tax policies.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142889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Capital market </a:t>
            </a:r>
            <a:r>
              <a:rPr lang="en-US" b="1" dirty="0" smtClean="0"/>
              <a:t>considerations: </a:t>
            </a:r>
            <a:r>
              <a:rPr lang="en-US" dirty="0"/>
              <a:t>Managers may make accounting decisions to </a:t>
            </a:r>
            <a:r>
              <a:rPr lang="en-US" dirty="0" smtClean="0"/>
              <a:t>influence the </a:t>
            </a:r>
            <a:r>
              <a:rPr lang="en-US" dirty="0"/>
              <a:t>perceptions of capital markets. When there are information </a:t>
            </a:r>
            <a:r>
              <a:rPr lang="en-US" dirty="0" smtClean="0"/>
              <a:t>asymmetries between </a:t>
            </a:r>
            <a:r>
              <a:rPr lang="en-US" dirty="0"/>
              <a:t>managers and outsiders, this strategy may succeed in influencing </a:t>
            </a:r>
            <a:r>
              <a:rPr lang="en-US" dirty="0" smtClean="0"/>
              <a:t>investor perceptions</a:t>
            </a:r>
            <a:r>
              <a:rPr lang="en-US" dirty="0"/>
              <a:t>, at least </a:t>
            </a:r>
            <a:r>
              <a:rPr lang="en-US" dirty="0" smtClean="0"/>
              <a:t>temporarily.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Stakeholder </a:t>
            </a:r>
            <a:r>
              <a:rPr lang="en-US" b="1" dirty="0" smtClean="0"/>
              <a:t>considerations:</a:t>
            </a:r>
            <a:r>
              <a:rPr lang="en-US" dirty="0" smtClean="0"/>
              <a:t> </a:t>
            </a:r>
            <a:r>
              <a:rPr lang="en-US" dirty="0"/>
              <a:t>Managers may also make accounting decisions to </a:t>
            </a:r>
            <a:r>
              <a:rPr lang="en-US" dirty="0" smtClean="0"/>
              <a:t>influence the </a:t>
            </a:r>
            <a:r>
              <a:rPr lang="en-US" dirty="0"/>
              <a:t>perception of important stakeholders in the firm. For example, </a:t>
            </a:r>
            <a:r>
              <a:rPr lang="en-US" dirty="0" smtClean="0"/>
              <a:t>since labor </a:t>
            </a:r>
            <a:r>
              <a:rPr lang="en-US" dirty="0"/>
              <a:t>unions can use healthy profits as a basis for demanding wage increases, </a:t>
            </a:r>
            <a:r>
              <a:rPr lang="en-US" dirty="0" smtClean="0"/>
              <a:t>managers may </a:t>
            </a:r>
            <a:r>
              <a:rPr lang="en-US" dirty="0"/>
              <a:t>make accounting decisions to decrease income when they are </a:t>
            </a:r>
            <a:r>
              <a:rPr lang="en-US" dirty="0" smtClean="0"/>
              <a:t>facing union </a:t>
            </a:r>
            <a:r>
              <a:rPr lang="en-US" dirty="0"/>
              <a:t>contract negotiations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237584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Competitive considerations: </a:t>
            </a:r>
            <a:r>
              <a:rPr lang="en-US" dirty="0" smtClean="0"/>
              <a:t>The </a:t>
            </a:r>
            <a:r>
              <a:rPr lang="en-US" dirty="0"/>
              <a:t>dynamics of competition in an industry might </a:t>
            </a:r>
            <a:r>
              <a:rPr lang="en-US" dirty="0" smtClean="0"/>
              <a:t>also influence </a:t>
            </a:r>
            <a:r>
              <a:rPr lang="en-US" dirty="0"/>
              <a:t>a firm’s reporting choices. </a:t>
            </a:r>
            <a:r>
              <a:rPr lang="en-US" b="1" dirty="0"/>
              <a:t>For example</a:t>
            </a:r>
            <a:r>
              <a:rPr lang="en-US" dirty="0"/>
              <a:t>, a firm’s segment disclosure decisions may be influenced by its concern that disaggregated disclosure may </a:t>
            </a:r>
            <a:r>
              <a:rPr lang="en-US" dirty="0" smtClean="0"/>
              <a:t>help competitors </a:t>
            </a:r>
            <a:r>
              <a:rPr lang="en-US" dirty="0"/>
              <a:t>in their business decisions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Similarly</a:t>
            </a:r>
            <a:r>
              <a:rPr lang="en-US" dirty="0"/>
              <a:t>, firms may not disclose data </a:t>
            </a:r>
            <a:r>
              <a:rPr lang="en-US" dirty="0" smtClean="0"/>
              <a:t>on their </a:t>
            </a:r>
            <a:r>
              <a:rPr lang="en-US" dirty="0"/>
              <a:t>margins by product line for fear of giving away proprietary information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Finally</a:t>
            </a:r>
            <a:r>
              <a:rPr lang="en-US" dirty="0"/>
              <a:t>, firms may discourage new entrants by making income-decreasing </a:t>
            </a:r>
            <a:r>
              <a:rPr lang="en-US" dirty="0" smtClean="0"/>
              <a:t>accounting choices</a:t>
            </a:r>
            <a:r>
              <a:rPr lang="en-US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Influencing Accounting Quality</a:t>
            </a:r>
          </a:p>
        </p:txBody>
      </p:sp>
    </p:spTree>
    <p:extLst>
      <p:ext uri="{BB962C8B-B14F-4D97-AF65-F5344CB8AC3E}">
        <p14:creationId xmlns:p14="http://schemas.microsoft.com/office/powerpoint/2010/main" val="104728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/>
            <a:r>
              <a:rPr lang="en-US" b="1" dirty="0"/>
              <a:t>Step 1: Identify Key Accounting </a:t>
            </a:r>
            <a:r>
              <a:rPr lang="en-US" b="1" dirty="0" smtClean="0"/>
              <a:t>Policies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accounting analysis, </a:t>
            </a:r>
            <a:r>
              <a:rPr lang="en-US" dirty="0" smtClean="0"/>
              <a:t>the </a:t>
            </a:r>
            <a:r>
              <a:rPr lang="en-US" dirty="0"/>
              <a:t>analyst </a:t>
            </a:r>
            <a:r>
              <a:rPr lang="en-US" dirty="0" smtClean="0"/>
              <a:t>should identify </a:t>
            </a:r>
            <a:r>
              <a:rPr lang="en-US" dirty="0"/>
              <a:t>and evaluate the policies and the estimates the firm uses to measure its </a:t>
            </a:r>
            <a:r>
              <a:rPr lang="en-US" b="1" dirty="0" smtClean="0"/>
              <a:t>critical factors </a:t>
            </a:r>
            <a:r>
              <a:rPr lang="en-US" b="1" dirty="0"/>
              <a:t>and risks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example, the accounting measure a bank uses </a:t>
            </a:r>
            <a:r>
              <a:rPr lang="en-US" dirty="0" smtClean="0"/>
              <a:t>to capture </a:t>
            </a:r>
            <a:r>
              <a:rPr lang="en-US" dirty="0"/>
              <a:t>credit risk is its </a:t>
            </a:r>
            <a:r>
              <a:rPr lang="en-US" b="1" dirty="0"/>
              <a:t>loan loss reserves</a:t>
            </a:r>
            <a:r>
              <a:rPr lang="en-US" dirty="0"/>
              <a:t>, and the accounting measure that </a:t>
            </a:r>
            <a:r>
              <a:rPr lang="en-US" dirty="0" smtClean="0"/>
              <a:t>captures product </a:t>
            </a:r>
            <a:r>
              <a:rPr lang="en-US" dirty="0"/>
              <a:t>quality for a manufacturer is its </a:t>
            </a:r>
            <a:r>
              <a:rPr lang="en-US" b="1" dirty="0"/>
              <a:t>warranty expenses and reserves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Similarly, </a:t>
            </a:r>
            <a:r>
              <a:rPr lang="en-US" dirty="0" smtClean="0"/>
              <a:t>for </a:t>
            </a:r>
            <a:r>
              <a:rPr lang="en-US" dirty="0"/>
              <a:t>a firm in the equipment leasing industry, </a:t>
            </a:r>
            <a:r>
              <a:rPr lang="en-US" dirty="0" smtClean="0"/>
              <a:t>one </a:t>
            </a:r>
            <a:r>
              <a:rPr lang="en-US" dirty="0"/>
              <a:t>of the most important </a:t>
            </a:r>
            <a:r>
              <a:rPr lang="en-US" dirty="0" smtClean="0"/>
              <a:t>accounting policies </a:t>
            </a:r>
            <a:r>
              <a:rPr lang="en-US" dirty="0"/>
              <a:t>is the way residual values are </a:t>
            </a:r>
            <a:r>
              <a:rPr lang="en-US" dirty="0" smtClean="0"/>
              <a:t>recorded. </a:t>
            </a:r>
            <a:r>
              <a:rPr lang="en-US" b="1" dirty="0" smtClean="0"/>
              <a:t>Residual </a:t>
            </a:r>
            <a:r>
              <a:rPr lang="en-US" b="1" dirty="0"/>
              <a:t>values</a:t>
            </a:r>
            <a:r>
              <a:rPr lang="en-US" dirty="0"/>
              <a:t> influence </a:t>
            </a:r>
            <a:r>
              <a:rPr lang="en-US" dirty="0" smtClean="0"/>
              <a:t>the company’s </a:t>
            </a:r>
            <a:r>
              <a:rPr lang="en-US" dirty="0"/>
              <a:t>reported profits and its asset base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residual values are overestimated, </a:t>
            </a:r>
            <a:r>
              <a:rPr lang="en-US" dirty="0" smtClean="0"/>
              <a:t>the firm </a:t>
            </a:r>
            <a:r>
              <a:rPr lang="en-US" dirty="0"/>
              <a:t>runs the risk of having to take large write-offs in the future.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35652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Step 2: Assess Accounting </a:t>
            </a:r>
            <a:r>
              <a:rPr lang="en-US" b="1" dirty="0" smtClean="0"/>
              <a:t>Flexibility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Not all firms have equal flexibility in choosing their key accounting policies and estimates.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Some firms’ accounting choice is severely constrained by accounting </a:t>
            </a:r>
            <a:r>
              <a:rPr lang="en-US" dirty="0" smtClean="0"/>
              <a:t>standards and </a:t>
            </a:r>
            <a:r>
              <a:rPr lang="en-US" dirty="0"/>
              <a:t>conventions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example: marketing and brand building are key to </a:t>
            </a:r>
            <a:r>
              <a:rPr lang="en-US" dirty="0" smtClean="0"/>
              <a:t>the success </a:t>
            </a:r>
            <a:r>
              <a:rPr lang="en-US" dirty="0"/>
              <a:t>of consumer goods firms, they are required to expense all their marketing outlays.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contrast, managing credit risk is one of the critical success factors for banks, </a:t>
            </a:r>
            <a:r>
              <a:rPr lang="en-US" dirty="0" smtClean="0"/>
              <a:t>and bank </a:t>
            </a:r>
            <a:r>
              <a:rPr lang="en-US" dirty="0"/>
              <a:t>managers have the freedom to estimate expected defaults on their loans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78580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managers have little flexibility in choosing accounting policies and estimates </a:t>
            </a:r>
            <a:r>
              <a:rPr lang="en-US" dirty="0" smtClean="0"/>
              <a:t>related to </a:t>
            </a:r>
            <a:r>
              <a:rPr lang="en-US" dirty="0"/>
              <a:t>their key success </a:t>
            </a:r>
            <a:r>
              <a:rPr lang="en-US" dirty="0" smtClean="0"/>
              <a:t>factors, accounting data are </a:t>
            </a:r>
            <a:r>
              <a:rPr lang="en-US" dirty="0"/>
              <a:t>likely to be less informative for understanding the firm’s </a:t>
            </a:r>
            <a:r>
              <a:rPr lang="en-US" dirty="0" smtClean="0"/>
              <a:t>economics.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example, all firms have to make choices with </a:t>
            </a:r>
            <a:r>
              <a:rPr lang="en-US" dirty="0" smtClean="0"/>
              <a:t>respect to </a:t>
            </a:r>
            <a:r>
              <a:rPr lang="en-US" dirty="0"/>
              <a:t>depreciation policy (straight-line or accelerated methods), inventory </a:t>
            </a:r>
            <a:r>
              <a:rPr lang="en-US" dirty="0" smtClean="0"/>
              <a:t>accounting policy </a:t>
            </a:r>
            <a:r>
              <a:rPr lang="en-US" dirty="0"/>
              <a:t>(LIFO, FIFO, or Average Cost</a:t>
            </a:r>
            <a:r>
              <a:rPr lang="en-US" dirty="0" smtClean="0"/>
              <a:t>)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Since all these policy choices can have a </a:t>
            </a:r>
            <a:r>
              <a:rPr lang="en-US" dirty="0" smtClean="0"/>
              <a:t>significant impact </a:t>
            </a:r>
            <a:r>
              <a:rPr lang="en-US" dirty="0"/>
              <a:t>on the reported performance of a firm, they offer an opportunity for </a:t>
            </a:r>
            <a:r>
              <a:rPr lang="en-US" dirty="0" smtClean="0"/>
              <a:t>the firm </a:t>
            </a:r>
            <a:r>
              <a:rPr lang="en-US" dirty="0"/>
              <a:t>to manage its reported numbers.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1656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/>
            <a:r>
              <a:rPr lang="en-US" b="1" dirty="0"/>
              <a:t>Step 3: Evaluate Accounting </a:t>
            </a:r>
            <a:r>
              <a:rPr lang="en-US" b="1" dirty="0" smtClean="0"/>
              <a:t>Strategy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When managers have accounting flexibility, they can use it either to communicate </a:t>
            </a:r>
            <a:r>
              <a:rPr lang="en-US" dirty="0" smtClean="0"/>
              <a:t>their firm’s </a:t>
            </a:r>
            <a:r>
              <a:rPr lang="en-US" dirty="0"/>
              <a:t>economic situation or to hide true performance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dirty="0" smtClean="0"/>
              <a:t>Some </a:t>
            </a:r>
            <a:r>
              <a:rPr lang="en-US" dirty="0"/>
              <a:t>of the strategy </a:t>
            </a:r>
            <a:r>
              <a:rPr lang="en-US" dirty="0" smtClean="0"/>
              <a:t>questions one </a:t>
            </a:r>
            <a:r>
              <a:rPr lang="en-US" dirty="0"/>
              <a:t>could ask in examining how managers exercise their accounting flexibility </a:t>
            </a:r>
            <a:r>
              <a:rPr lang="en-US" dirty="0" smtClean="0"/>
              <a:t>include the </a:t>
            </a:r>
            <a:r>
              <a:rPr lang="en-US" dirty="0"/>
              <a:t>following</a:t>
            </a:r>
            <a:r>
              <a:rPr lang="en-US" dirty="0" smtClean="0"/>
              <a:t>:</a:t>
            </a:r>
          </a:p>
          <a:p>
            <a:pPr marL="0" indent="0" algn="just"/>
            <a:r>
              <a:rPr lang="en-US" b="1" dirty="0"/>
              <a:t>How do the firm’s accounting policies compare to the norms in the </a:t>
            </a:r>
            <a:r>
              <a:rPr lang="en-US" b="1" dirty="0" smtClean="0"/>
              <a:t>industry?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Firm </a:t>
            </a:r>
            <a:r>
              <a:rPr lang="en-US" dirty="0"/>
              <a:t>that reports a lower warranty allowance than the industry average, </a:t>
            </a:r>
            <a:r>
              <a:rPr lang="en-US" dirty="0" smtClean="0"/>
              <a:t>Explanation: firm </a:t>
            </a:r>
            <a:r>
              <a:rPr lang="en-US" dirty="0"/>
              <a:t>competes on the basis of high quality or firm is merely understating its warranty liabilities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11576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Does management face strong incentives to use accounting discretion for </a:t>
            </a:r>
            <a:r>
              <a:rPr lang="en-US" b="1" dirty="0" smtClean="0"/>
              <a:t>earnings management?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Has the firm changed any of its policies or estimates</a:t>
            </a:r>
            <a:r>
              <a:rPr lang="en-US" b="1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Have the company’s policies and estimates been realistic in the past</a:t>
            </a:r>
            <a:r>
              <a:rPr lang="en-US" b="1" dirty="0" smtClean="0"/>
              <a:t>?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Firms </a:t>
            </a:r>
            <a:r>
              <a:rPr lang="en-US" sz="2400" dirty="0"/>
              <a:t>that </a:t>
            </a:r>
            <a:r>
              <a:rPr lang="en-US" sz="2400" dirty="0" smtClean="0"/>
              <a:t>expense acquisition </a:t>
            </a:r>
            <a:r>
              <a:rPr lang="en-US" sz="2400" dirty="0"/>
              <a:t>goodwill too slowly will be forced to take a large write-off </a:t>
            </a:r>
            <a:r>
              <a:rPr lang="en-US" sz="2400" dirty="0" smtClean="0"/>
              <a:t>later. A history of </a:t>
            </a:r>
            <a:r>
              <a:rPr lang="en-US" sz="2400" dirty="0"/>
              <a:t>write-offs may be, therefore, a sign of prior earnings management.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335474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/>
            <a:r>
              <a:rPr lang="en-US" b="1" dirty="0"/>
              <a:t>Step 4: Evaluate the Quality of </a:t>
            </a:r>
            <a:r>
              <a:rPr lang="en-US" b="1" dirty="0" smtClean="0"/>
              <a:t>Disclosure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Disclosure </a:t>
            </a:r>
            <a:r>
              <a:rPr lang="en-US" dirty="0" smtClean="0"/>
              <a:t>quality is </a:t>
            </a:r>
            <a:r>
              <a:rPr lang="en-US" dirty="0"/>
              <a:t>an important dimension of a </a:t>
            </a:r>
            <a:r>
              <a:rPr lang="en-US" dirty="0" smtClean="0"/>
              <a:t>firm’s accounting quality. In </a:t>
            </a:r>
            <a:r>
              <a:rPr lang="en-US" dirty="0"/>
              <a:t>assessing a firm’s disclosure quality, an analyst could ask the following questions</a:t>
            </a:r>
            <a:r>
              <a:rPr lang="en-US" dirty="0" smtClean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the company provide adequate disclosures to assess the firm’s business </a:t>
            </a:r>
            <a:r>
              <a:rPr lang="en-US" dirty="0" smtClean="0"/>
              <a:t>strategy and </a:t>
            </a:r>
            <a:r>
              <a:rPr lang="en-US" dirty="0"/>
              <a:t>its economic consequences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 the footnotes adequately explain the key accounting policies and </a:t>
            </a:r>
            <a:r>
              <a:rPr lang="en-US" dirty="0" smtClean="0"/>
              <a:t>assumptions and </a:t>
            </a:r>
            <a:r>
              <a:rPr lang="en-US" dirty="0"/>
              <a:t>their logic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the firm adequately explain its current performance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If a firm is in multiple business segments, what is the quality of segment disclosure</a:t>
            </a:r>
            <a:r>
              <a:rPr lang="en-US" dirty="0" smtClean="0"/>
              <a:t>?</a:t>
            </a:r>
          </a:p>
          <a:p>
            <a:pPr marL="0" indent="0" algn="just"/>
            <a:r>
              <a:rPr lang="en-US" b="1" dirty="0" smtClean="0"/>
              <a:t>Investors Relations or Annual Reports or Notes to the statements or Management discussion and analysis etc.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8343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/>
            <a:r>
              <a:rPr lang="en-US" b="1" dirty="0"/>
              <a:t>Step 5: Identify Potential Red </a:t>
            </a:r>
            <a:r>
              <a:rPr lang="en-US" b="1" dirty="0" smtClean="0"/>
              <a:t>Flags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Unexplained changes in accounting, especially when performance is poor. </a:t>
            </a:r>
            <a:r>
              <a:rPr lang="en-US" dirty="0" smtClean="0"/>
              <a:t>This may </a:t>
            </a:r>
            <a:r>
              <a:rPr lang="en-US" dirty="0"/>
              <a:t>suggest that managers are using their accounting discretion to “dress up” </a:t>
            </a:r>
            <a:r>
              <a:rPr lang="en-US" dirty="0" smtClean="0"/>
              <a:t>their financial statements.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Unexplained transactions that boost profits. For example, firms might </a:t>
            </a:r>
            <a:r>
              <a:rPr lang="en-US" dirty="0" smtClean="0"/>
              <a:t>undertake balance </a:t>
            </a:r>
            <a:r>
              <a:rPr lang="en-US" dirty="0"/>
              <a:t>sheet transactions, such as asset </a:t>
            </a:r>
            <a:r>
              <a:rPr lang="en-US" dirty="0" smtClean="0"/>
              <a:t>sales etc. to realize gains </a:t>
            </a:r>
            <a:r>
              <a:rPr lang="en-US" dirty="0"/>
              <a:t>in periods when operating performance is </a:t>
            </a:r>
            <a:r>
              <a:rPr lang="en-US" dirty="0" smtClean="0"/>
              <a:t>poor.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Unusual increases in accounts receivable in relation to sales increases. This </a:t>
            </a:r>
            <a:r>
              <a:rPr lang="en-US" dirty="0" smtClean="0"/>
              <a:t>may suggest </a:t>
            </a:r>
            <a:r>
              <a:rPr lang="en-US" dirty="0"/>
              <a:t>that the company might be relaxing its credit policies or artificially </a:t>
            </a:r>
            <a:r>
              <a:rPr lang="en-US" dirty="0" smtClean="0"/>
              <a:t>loading up </a:t>
            </a:r>
            <a:r>
              <a:rPr lang="en-US" dirty="0"/>
              <a:t>its distribution channels to record revenues during the current period.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188290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/>
            <a:r>
              <a:rPr lang="en-US" b="1" dirty="0"/>
              <a:t>Step 5: Identify Potential Red </a:t>
            </a:r>
            <a:r>
              <a:rPr lang="en-US" b="1" dirty="0" smtClean="0"/>
              <a:t>Flags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Unusual increases in inventories in relation to sales increases</a:t>
            </a:r>
            <a:r>
              <a:rPr lang="en-US" dirty="0" smtClean="0"/>
              <a:t>.</a:t>
            </a:r>
            <a:r>
              <a:rPr lang="en-US" dirty="0"/>
              <a:t> </a:t>
            </a:r>
            <a:r>
              <a:rPr lang="en-US" b="1" dirty="0" smtClean="0"/>
              <a:t>Example:</a:t>
            </a:r>
            <a:r>
              <a:rPr lang="en-US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Increase in Raw-material inventory </a:t>
            </a:r>
            <a:r>
              <a:rPr lang="en-US" dirty="0"/>
              <a:t>signifies manufacturing or procurement inefficiencies, leading to </a:t>
            </a:r>
            <a:r>
              <a:rPr lang="en-US" dirty="0" smtClean="0"/>
              <a:t>an increase </a:t>
            </a:r>
            <a:r>
              <a:rPr lang="en-US" dirty="0"/>
              <a:t>in cost of goods sold </a:t>
            </a:r>
            <a:r>
              <a:rPr lang="en-US" dirty="0" smtClean="0"/>
              <a:t>and </a:t>
            </a:r>
            <a:r>
              <a:rPr lang="en-US" dirty="0"/>
              <a:t>hence lower </a:t>
            </a:r>
            <a:r>
              <a:rPr lang="en-US" dirty="0" smtClean="0"/>
              <a:t>margins.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Increase in finished goods </a:t>
            </a:r>
            <a:r>
              <a:rPr lang="en-US" dirty="0"/>
              <a:t>inventory signifies demand for the firm’s products is slowing down, suggesting that the firm may </a:t>
            </a:r>
            <a:r>
              <a:rPr lang="en-US" dirty="0" smtClean="0"/>
              <a:t>be forced </a:t>
            </a:r>
            <a:r>
              <a:rPr lang="en-US" dirty="0"/>
              <a:t>to cut </a:t>
            </a:r>
            <a:r>
              <a:rPr lang="en-US" dirty="0" smtClean="0"/>
              <a:t>prices and </a:t>
            </a:r>
            <a:r>
              <a:rPr lang="en-US" dirty="0"/>
              <a:t>hence earn lower </a:t>
            </a:r>
            <a:r>
              <a:rPr lang="en-US" dirty="0" smtClean="0"/>
              <a:t>margins.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Increase in WIP </a:t>
            </a:r>
            <a:r>
              <a:rPr lang="en-US" dirty="0"/>
              <a:t>inventory signifies that managers expect an increase in </a:t>
            </a:r>
            <a:r>
              <a:rPr lang="en-US" dirty="0" smtClean="0"/>
              <a:t>sales.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315980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Step 5: Identify Potential Red </a:t>
            </a:r>
            <a:r>
              <a:rPr lang="en-US" b="1" dirty="0" smtClean="0"/>
              <a:t>Flags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 increasing gap between a firm’s reported income and its cash flow from </a:t>
            </a:r>
            <a:r>
              <a:rPr lang="en-US" dirty="0" smtClean="0"/>
              <a:t>operating activities.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Any </a:t>
            </a:r>
            <a:r>
              <a:rPr lang="en-US" dirty="0"/>
              <a:t>change in the relationship </a:t>
            </a:r>
            <a:r>
              <a:rPr lang="en-US" dirty="0" smtClean="0"/>
              <a:t>between reported </a:t>
            </a:r>
            <a:r>
              <a:rPr lang="en-US" dirty="0"/>
              <a:t>profits and operating cash flows might indicate subtle changes </a:t>
            </a:r>
            <a:r>
              <a:rPr lang="en-US" dirty="0" smtClean="0"/>
              <a:t>in the </a:t>
            </a:r>
            <a:r>
              <a:rPr lang="en-US" dirty="0"/>
              <a:t>firm’s accrual estimates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For </a:t>
            </a:r>
            <a:r>
              <a:rPr lang="en-US" b="1" dirty="0"/>
              <a:t>example</a:t>
            </a:r>
            <a:r>
              <a:rPr lang="en-US" dirty="0"/>
              <a:t>, a firm undertaking large </a:t>
            </a:r>
            <a:r>
              <a:rPr lang="en-US" dirty="0" smtClean="0"/>
              <a:t>construction contracts </a:t>
            </a:r>
            <a:r>
              <a:rPr lang="en-US" dirty="0"/>
              <a:t>might use the percentage-of-completion method to record revenues.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Therefore, </a:t>
            </a:r>
            <a:r>
              <a:rPr lang="en-US" dirty="0"/>
              <a:t>earnings and operating cash flows are likely to differ for such a </a:t>
            </a:r>
            <a:r>
              <a:rPr lang="en-US" dirty="0" smtClean="0"/>
              <a:t>firm.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391478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/>
            <a:r>
              <a:rPr lang="en-US" b="1" dirty="0"/>
              <a:t>Step 5: Identify Potential Red </a:t>
            </a:r>
            <a:r>
              <a:rPr lang="en-US" b="1" dirty="0" smtClean="0"/>
              <a:t>Flags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 increasing gap between a firm’s reported income and its tax income</a:t>
            </a:r>
            <a:r>
              <a:rPr lang="en-US" dirty="0" smtClean="0"/>
              <a:t>. (Financial Accounting Vs Tax Accounting).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relationship between a firm’s book and tax accounting is likely to remain </a:t>
            </a:r>
            <a:r>
              <a:rPr lang="en-US" dirty="0" smtClean="0"/>
              <a:t>constant over </a:t>
            </a:r>
            <a:r>
              <a:rPr lang="en-US" dirty="0"/>
              <a:t>time, unless there are significant changes in tax rules or accounting standards.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Thus, an increasing gap between a firm’s reported income and its tax </a:t>
            </a:r>
            <a:r>
              <a:rPr lang="en-US" dirty="0" smtClean="0"/>
              <a:t>income may </a:t>
            </a:r>
            <a:r>
              <a:rPr lang="en-US" dirty="0"/>
              <a:t>indicate that the firm’s financial reporting to shareholders has become </a:t>
            </a:r>
            <a:r>
              <a:rPr lang="en-US" dirty="0" smtClean="0"/>
              <a:t>more aggressive.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As </a:t>
            </a:r>
            <a:r>
              <a:rPr lang="en-US" dirty="0"/>
              <a:t>an example, consider that warranty expenses are estimated on an </a:t>
            </a:r>
            <a:r>
              <a:rPr lang="en-US" dirty="0" smtClean="0"/>
              <a:t>accrual basis </a:t>
            </a:r>
            <a:r>
              <a:rPr lang="en-US" dirty="0"/>
              <a:t>for financial reporting, but are recorded on a cash basis for tax </a:t>
            </a:r>
            <a:r>
              <a:rPr lang="en-US" dirty="0" smtClean="0"/>
              <a:t>reporting.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203470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Step 5: Identify Potential Red </a:t>
            </a:r>
            <a:r>
              <a:rPr lang="en-US" b="1" dirty="0" smtClean="0"/>
              <a:t>Flags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tendency to use financing mechanisms like research and development </a:t>
            </a:r>
            <a:r>
              <a:rPr lang="en-US" dirty="0" smtClean="0"/>
              <a:t>partnerships.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Unexpected large asset </a:t>
            </a:r>
            <a:r>
              <a:rPr lang="en-US" dirty="0" smtClean="0"/>
              <a:t>write-offs.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Qualified audit opinions or changes in independent auditors that are not well </a:t>
            </a:r>
            <a:r>
              <a:rPr lang="en-US" dirty="0" smtClean="0"/>
              <a:t>justified.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Related-party transactions or transactions between related entities. </a:t>
            </a:r>
            <a:r>
              <a:rPr lang="en-US" dirty="0" smtClean="0"/>
              <a:t>These </a:t>
            </a:r>
            <a:r>
              <a:rPr lang="en-US" dirty="0"/>
              <a:t>transactions are likely to be more subjective and </a:t>
            </a:r>
            <a:r>
              <a:rPr lang="en-US" dirty="0" smtClean="0"/>
              <a:t>potentially self-serving.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Large fourth-quarter </a:t>
            </a:r>
            <a:r>
              <a:rPr lang="en-US" dirty="0" smtClean="0"/>
              <a:t>adjustments.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153623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/>
            <a:r>
              <a:rPr lang="en-US" b="1" dirty="0"/>
              <a:t>Step 6: Undo Accounting </a:t>
            </a:r>
            <a:r>
              <a:rPr lang="en-US" b="1" dirty="0" smtClean="0"/>
              <a:t>Distortions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If the accounting analysis suggests that the firm’s reported numbers are misleading</a:t>
            </a:r>
            <a:r>
              <a:rPr lang="en-US" dirty="0" smtClean="0"/>
              <a:t>, analysts </a:t>
            </a:r>
            <a:r>
              <a:rPr lang="en-US" dirty="0"/>
              <a:t>should attempt to restate the reported numbers to reduce the distortion to the extent </a:t>
            </a:r>
            <a:r>
              <a:rPr lang="en-US" dirty="0" smtClean="0"/>
              <a:t>possible.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is, of course, virtually impossible to undo all the distortion using </a:t>
            </a:r>
            <a:r>
              <a:rPr lang="en-US" dirty="0" smtClean="0"/>
              <a:t>outside information </a:t>
            </a:r>
            <a:r>
              <a:rPr lang="en-US" dirty="0"/>
              <a:t>alone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However</a:t>
            </a:r>
            <a:r>
              <a:rPr lang="en-US" dirty="0"/>
              <a:t>, some progress can be made in this direction by </a:t>
            </a:r>
            <a:r>
              <a:rPr lang="en-US" dirty="0" smtClean="0"/>
              <a:t>using the </a:t>
            </a:r>
            <a:r>
              <a:rPr lang="en-US" dirty="0"/>
              <a:t>cash flow statement and the financial statement footnotes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For example</a:t>
            </a:r>
            <a:r>
              <a:rPr lang="en-US" dirty="0"/>
              <a:t>, when a firm changes its </a:t>
            </a:r>
            <a:r>
              <a:rPr lang="en-US" dirty="0" smtClean="0"/>
              <a:t>accounting policies</a:t>
            </a:r>
            <a:r>
              <a:rPr lang="en-US" dirty="0"/>
              <a:t>, it provides a footnote indicating the effect of that change if it </a:t>
            </a:r>
            <a:r>
              <a:rPr lang="en-US" dirty="0" smtClean="0"/>
              <a:t>is material. Similarly Notes for bad debts, tax etc.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ACCOUNTING ANALYSIS</a:t>
            </a:r>
          </a:p>
        </p:txBody>
      </p:sp>
    </p:spTree>
    <p:extLst>
      <p:ext uri="{BB962C8B-B14F-4D97-AF65-F5344CB8AC3E}">
        <p14:creationId xmlns:p14="http://schemas.microsoft.com/office/powerpoint/2010/main" val="347885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Assets are resources owned by a firm that are likely to produce </a:t>
            </a:r>
            <a:r>
              <a:rPr lang="en-US" dirty="0" smtClean="0"/>
              <a:t>future economic </a:t>
            </a:r>
            <a:r>
              <a:rPr lang="en-US" dirty="0"/>
              <a:t>benefits and that are measurable with a reasonable degree of certainty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Assets can </a:t>
            </a:r>
            <a:r>
              <a:rPr lang="en-US" dirty="0"/>
              <a:t>take a variety of forms, including cash, marketable securities, receivables </a:t>
            </a:r>
            <a:r>
              <a:rPr lang="en-US" dirty="0" smtClean="0"/>
              <a:t>from customers</a:t>
            </a:r>
            <a:r>
              <a:rPr lang="en-US" dirty="0"/>
              <a:t>, inventory, fixed assets, long-term investments in other companies, </a:t>
            </a:r>
            <a:r>
              <a:rPr lang="en-US" dirty="0" smtClean="0"/>
              <a:t>and intangibles.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key principles used to identify and value assets are </a:t>
            </a:r>
            <a:r>
              <a:rPr lang="en-US" b="1" dirty="0"/>
              <a:t>historical cost and conservatism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Under the historical cost </a:t>
            </a:r>
            <a:r>
              <a:rPr lang="en-US" dirty="0"/>
              <a:t>principle, assets are valued at their original cost;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Conservatism</a:t>
            </a:r>
            <a:r>
              <a:rPr lang="en-US" dirty="0" smtClean="0"/>
              <a:t> requires </a:t>
            </a:r>
            <a:r>
              <a:rPr lang="en-US" dirty="0"/>
              <a:t>asset values to be revised downward if fair values are less than cost.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Analysis</a:t>
            </a:r>
          </a:p>
        </p:txBody>
      </p:sp>
    </p:spTree>
    <p:extLst>
      <p:ext uri="{BB962C8B-B14F-4D97-AF65-F5344CB8AC3E}">
        <p14:creationId xmlns:p14="http://schemas.microsoft.com/office/powerpoint/2010/main" val="9493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Analysis of assets involves asking whether an outlay should be </a:t>
            </a:r>
            <a:r>
              <a:rPr lang="en-US" b="1" dirty="0"/>
              <a:t>recorded as an </a:t>
            </a:r>
            <a:r>
              <a:rPr lang="en-US" b="1" dirty="0" smtClean="0"/>
              <a:t>asset </a:t>
            </a:r>
            <a:r>
              <a:rPr lang="en-US" dirty="0" smtClean="0"/>
              <a:t>in </a:t>
            </a:r>
            <a:r>
              <a:rPr lang="en-US" dirty="0"/>
              <a:t>the firm’s financial statements, or whether it should be </a:t>
            </a:r>
            <a:r>
              <a:rPr lang="en-US" b="1" dirty="0"/>
              <a:t>reported as a current expense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requires analysts to understand who has the rights of ownership to the resource,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whether it is expected to generate future benefits, </a:t>
            </a:r>
            <a:r>
              <a:rPr lang="en-US" dirty="0" smtClean="0"/>
              <a:t>and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whether </a:t>
            </a:r>
            <a:r>
              <a:rPr lang="en-US" dirty="0"/>
              <a:t>those benefits are </a:t>
            </a:r>
            <a:r>
              <a:rPr lang="en-US" dirty="0" smtClean="0"/>
              <a:t>measurable with </a:t>
            </a:r>
            <a:r>
              <a:rPr lang="en-US" dirty="0"/>
              <a:t>reasonable </a:t>
            </a:r>
            <a:r>
              <a:rPr lang="en-US" dirty="0" smtClean="0"/>
              <a:t>certainty.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involves evaluating the value </a:t>
            </a:r>
            <a:r>
              <a:rPr lang="en-US" dirty="0" smtClean="0"/>
              <a:t>of the </a:t>
            </a:r>
            <a:r>
              <a:rPr lang="en-US" dirty="0"/>
              <a:t>assets reported in the financial statements, requiring an evaluation of amortization</a:t>
            </a:r>
            <a:r>
              <a:rPr lang="en-US" dirty="0" smtClean="0"/>
              <a:t>, allowances</a:t>
            </a:r>
            <a:r>
              <a:rPr lang="en-US" dirty="0"/>
              <a:t>, and write-downs.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Analysis</a:t>
            </a:r>
          </a:p>
        </p:txBody>
      </p:sp>
    </p:spTree>
    <p:extLst>
      <p:ext uri="{BB962C8B-B14F-4D97-AF65-F5344CB8AC3E}">
        <p14:creationId xmlns:p14="http://schemas.microsoft.com/office/powerpoint/2010/main" val="218167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Asset Reporting Challenges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49" y="1600200"/>
            <a:ext cx="8663503" cy="48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most resources used by a firm, ownership is relatively straightforward: the firm </a:t>
            </a:r>
            <a:r>
              <a:rPr lang="en-US" dirty="0" smtClean="0"/>
              <a:t>using the </a:t>
            </a:r>
            <a:r>
              <a:rPr lang="en-US" dirty="0"/>
              <a:t>resource owns the asset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However</a:t>
            </a:r>
            <a:r>
              <a:rPr lang="en-US" dirty="0"/>
              <a:t>, for some transactions the question of who </a:t>
            </a:r>
            <a:r>
              <a:rPr lang="en-US" dirty="0" smtClean="0"/>
              <a:t>owns a </a:t>
            </a:r>
            <a:r>
              <a:rPr lang="en-US" dirty="0"/>
              <a:t>resource can be subtle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b="1" dirty="0"/>
              <a:t>EXAMPLE: HUMAN </a:t>
            </a:r>
            <a:r>
              <a:rPr lang="en-US" b="1" dirty="0" smtClean="0"/>
              <a:t>CAPITAL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Companies spend considerable amounts on </a:t>
            </a:r>
            <a:r>
              <a:rPr lang="en-US" dirty="0" smtClean="0"/>
              <a:t>professional development </a:t>
            </a:r>
            <a:r>
              <a:rPr lang="en-US" dirty="0"/>
              <a:t>and training for their employees. Formal employee training by U.S</a:t>
            </a:r>
            <a:r>
              <a:rPr lang="en-US" dirty="0" smtClean="0"/>
              <a:t>. firms </a:t>
            </a:r>
            <a:r>
              <a:rPr lang="en-US" dirty="0"/>
              <a:t>is estimated to cost anywhere from $30 to $148 billion per year.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 One: Ownership of Resources Is Uncertain</a:t>
            </a:r>
          </a:p>
        </p:txBody>
      </p:sp>
    </p:spTree>
    <p:extLst>
      <p:ext uri="{BB962C8B-B14F-4D97-AF65-F5344CB8AC3E}">
        <p14:creationId xmlns:p14="http://schemas.microsoft.com/office/powerpoint/2010/main" val="333473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 smtClean="0"/>
              <a:t>EXAMPLE</a:t>
            </a:r>
            <a:r>
              <a:rPr lang="en-US" b="1" dirty="0"/>
              <a:t>: HUMAN </a:t>
            </a:r>
            <a:r>
              <a:rPr lang="en-US" b="1" dirty="0" smtClean="0"/>
              <a:t>CAPITAL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Training programs range from those that emphasize the enhancement of </a:t>
            </a:r>
            <a:r>
              <a:rPr lang="en-US" dirty="0" smtClean="0"/>
              <a:t>firm-specific skills </a:t>
            </a:r>
            <a:r>
              <a:rPr lang="en-US" dirty="0"/>
              <a:t>that are unlikely to be transferable to other jobs</a:t>
            </a:r>
            <a:r>
              <a:rPr lang="en-US" dirty="0" smtClean="0"/>
              <a:t>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Or </a:t>
            </a:r>
            <a:r>
              <a:rPr lang="en-US" dirty="0"/>
              <a:t>training that upgrades an </a:t>
            </a:r>
            <a:r>
              <a:rPr lang="en-US" dirty="0" smtClean="0"/>
              <a:t>employee’s general </a:t>
            </a:r>
            <a:r>
              <a:rPr lang="en-US" dirty="0"/>
              <a:t>skills and would be valued by other employers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Firms may be </a:t>
            </a:r>
            <a:r>
              <a:rPr lang="en-US" dirty="0" smtClean="0"/>
              <a:t>willing to </a:t>
            </a:r>
            <a:r>
              <a:rPr lang="en-US" dirty="0"/>
              <a:t>provide general training only if the employee makes a commitment to remain with </a:t>
            </a:r>
            <a:r>
              <a:rPr lang="en-US" dirty="0" smtClean="0"/>
              <a:t>the company </a:t>
            </a:r>
            <a:r>
              <a:rPr lang="en-US" dirty="0"/>
              <a:t>for some period after completing the training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Example sponsored MBA programs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 One: Ownership of Resources Is Uncertain</a:t>
            </a:r>
          </a:p>
        </p:txBody>
      </p:sp>
    </p:spTree>
    <p:extLst>
      <p:ext uri="{BB962C8B-B14F-4D97-AF65-F5344CB8AC3E}">
        <p14:creationId xmlns:p14="http://schemas.microsoft.com/office/powerpoint/2010/main" val="323213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 algn="just"/>
            <a:r>
              <a:rPr lang="en-US" b="1" dirty="0" smtClean="0"/>
              <a:t>EXAMPLE</a:t>
            </a:r>
            <a:r>
              <a:rPr lang="en-US" b="1" dirty="0"/>
              <a:t>: HUMAN </a:t>
            </a:r>
            <a:r>
              <a:rPr lang="en-US" b="1" dirty="0" smtClean="0"/>
              <a:t>CAPITAL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Firms that spend resources for formal training typically do so in anticipation that </a:t>
            </a:r>
            <a:r>
              <a:rPr lang="en-US" dirty="0" smtClean="0"/>
              <a:t>they will </a:t>
            </a:r>
            <a:r>
              <a:rPr lang="en-US" dirty="0"/>
              <a:t>have long-term benefits for the firm through increased productivity and/or </a:t>
            </a:r>
            <a:r>
              <a:rPr lang="en-US" dirty="0" smtClean="0"/>
              <a:t>product or </a:t>
            </a:r>
            <a:r>
              <a:rPr lang="en-US" dirty="0"/>
              <a:t>service quality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 </a:t>
            </a:r>
            <a:r>
              <a:rPr lang="en-US" dirty="0"/>
              <a:t>should these expenditures be recorded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Should </a:t>
            </a:r>
            <a:r>
              <a:rPr lang="en-US" dirty="0"/>
              <a:t>they be </a:t>
            </a:r>
            <a:r>
              <a:rPr lang="en-US" dirty="0" smtClean="0"/>
              <a:t>viewed as </a:t>
            </a:r>
            <a:r>
              <a:rPr lang="en-US" dirty="0"/>
              <a:t>an asset and amortized over the employees’ expected life with the firm? </a:t>
            </a:r>
            <a:r>
              <a:rPr lang="en-US" dirty="0" smtClean="0"/>
              <a:t>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Should they </a:t>
            </a:r>
            <a:r>
              <a:rPr lang="en-US" dirty="0"/>
              <a:t>be expensed immediately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Accountants argue that skills created through training are not owned by the firm </a:t>
            </a:r>
            <a:r>
              <a:rPr lang="en-US" dirty="0" smtClean="0"/>
              <a:t>but by </a:t>
            </a:r>
            <a:r>
              <a:rPr lang="en-US" dirty="0"/>
              <a:t>the employee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Thus, employees can leave one firm and take a position with </a:t>
            </a:r>
            <a:r>
              <a:rPr lang="en-US" dirty="0" smtClean="0"/>
              <a:t>another without </a:t>
            </a:r>
            <a:r>
              <a:rPr lang="en-US" dirty="0"/>
              <a:t>the current employer’s </a:t>
            </a:r>
            <a:r>
              <a:rPr lang="en-US" dirty="0" smtClean="0"/>
              <a:t>approval.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Therefore, training </a:t>
            </a:r>
            <a:r>
              <a:rPr lang="en-US" b="1" dirty="0" smtClean="0"/>
              <a:t>costs should </a:t>
            </a:r>
            <a:r>
              <a:rPr lang="en-US" b="1" dirty="0"/>
              <a:t>be written off </a:t>
            </a:r>
            <a:r>
              <a:rPr lang="en-US" b="1" dirty="0" smtClean="0"/>
              <a:t>immediately.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Another example can be of leased resources.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 One: Ownership of Resources Is Uncertain</a:t>
            </a:r>
          </a:p>
        </p:txBody>
      </p:sp>
    </p:spTree>
    <p:extLst>
      <p:ext uri="{BB962C8B-B14F-4D97-AF65-F5344CB8AC3E}">
        <p14:creationId xmlns:p14="http://schemas.microsoft.com/office/powerpoint/2010/main" val="4844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 smtClean="0"/>
              <a:t>Key Analysis Questions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What resources for a firm are excluded from its balance sheet because </a:t>
            </a:r>
            <a:r>
              <a:rPr lang="en-US" dirty="0" smtClean="0"/>
              <a:t>ownership of </a:t>
            </a:r>
            <a:r>
              <a:rPr lang="en-US" dirty="0"/>
              <a:t>resulting benefits is uncertain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management appear to be deliberately writing contracts to avoid </a:t>
            </a:r>
            <a:r>
              <a:rPr lang="en-US" dirty="0" smtClean="0"/>
              <a:t>full ownership </a:t>
            </a:r>
            <a:r>
              <a:rPr lang="en-US" dirty="0"/>
              <a:t>of key resources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If leases are used to avoid reporting key assets and liabilities, what is the </a:t>
            </a:r>
            <a:r>
              <a:rPr lang="en-US" dirty="0" smtClean="0"/>
              <a:t>effect of </a:t>
            </a:r>
            <a:r>
              <a:rPr lang="en-US" dirty="0"/>
              <a:t>recording these items on the financial statements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Has the firm changed its method of reporting for resource outlays where </a:t>
            </a:r>
            <a:r>
              <a:rPr lang="en-US" dirty="0" smtClean="0"/>
              <a:t>there are </a:t>
            </a:r>
            <a:r>
              <a:rPr lang="en-US" dirty="0"/>
              <a:t>ownership questions?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 One: Ownership of Resources Is Uncertain</a:t>
            </a:r>
          </a:p>
        </p:txBody>
      </p:sp>
    </p:spTree>
    <p:extLst>
      <p:ext uri="{BB962C8B-B14F-4D97-AF65-F5344CB8AC3E}">
        <p14:creationId xmlns:p14="http://schemas.microsoft.com/office/powerpoint/2010/main" val="211452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economic values of most resources are based on estimates of uncertain </a:t>
            </a:r>
            <a:r>
              <a:rPr lang="en-US" dirty="0" smtClean="0"/>
              <a:t>future economic </a:t>
            </a:r>
            <a:r>
              <a:rPr lang="en-US" dirty="0"/>
              <a:t>benefits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Goodwill Valuation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On </a:t>
            </a:r>
            <a:r>
              <a:rPr lang="en-US" dirty="0"/>
              <a:t>February 9, 1996, Walt Disney Co. acquired </a:t>
            </a:r>
            <a:r>
              <a:rPr lang="en-US" dirty="0" smtClean="0"/>
              <a:t>Capital Cities/ABC </a:t>
            </a:r>
            <a:r>
              <a:rPr lang="en-US" dirty="0"/>
              <a:t>Inc. for $10.1 billion in cash and 155 million shares of Disney valued at $</a:t>
            </a:r>
            <a:r>
              <a:rPr lang="en-US" dirty="0" smtClean="0"/>
              <a:t>8.8 billion </a:t>
            </a:r>
            <a:r>
              <a:rPr lang="en-US" dirty="0"/>
              <a:t>based on the stock price at the date the transaction was </a:t>
            </a:r>
            <a:r>
              <a:rPr lang="en-US" dirty="0" smtClean="0"/>
              <a:t>announced. Total deal </a:t>
            </a:r>
            <a:r>
              <a:rPr lang="en-US" dirty="0"/>
              <a:t>price was $19 </a:t>
            </a:r>
            <a:r>
              <a:rPr lang="en-US" dirty="0" smtClean="0"/>
              <a:t>billion approx.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 should the acquisition be recorded on </a:t>
            </a:r>
            <a:r>
              <a:rPr lang="en-US" dirty="0" smtClean="0"/>
              <a:t>Disney’s books?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Should </a:t>
            </a:r>
            <a:r>
              <a:rPr lang="en-US" dirty="0"/>
              <a:t>the difference between the $18.9 billion purchase price and </a:t>
            </a:r>
            <a:r>
              <a:rPr lang="en-US" dirty="0" smtClean="0"/>
              <a:t>the $</a:t>
            </a:r>
            <a:r>
              <a:rPr lang="en-US" dirty="0"/>
              <a:t>0.3 billion of net liabilities be recorded as an intangible asset on Disney’s books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so</a:t>
            </a:r>
            <a:r>
              <a:rPr lang="en-US" dirty="0" smtClean="0"/>
              <a:t>, what </a:t>
            </a:r>
            <a:r>
              <a:rPr lang="en-US" dirty="0"/>
              <a:t>are the benefits Disney expects to realize from the acquisition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Alternatively, should </a:t>
            </a:r>
            <a:r>
              <a:rPr lang="en-US" dirty="0"/>
              <a:t>the $19.2 billion difference be written off?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Two: Economic Benefits </a:t>
            </a:r>
            <a:r>
              <a:rPr lang="en-US" sz="3200" dirty="0" smtClean="0"/>
              <a:t>Are Uncertain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2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Two challenges arise from this form of accounting. First, since it is difficult to </a:t>
            </a:r>
            <a:r>
              <a:rPr lang="en-US" dirty="0" smtClean="0"/>
              <a:t>assess whether </a:t>
            </a:r>
            <a:r>
              <a:rPr lang="en-US" dirty="0"/>
              <a:t>the merger is achieving the expected benefits, it is difficult to estimate </a:t>
            </a:r>
            <a:r>
              <a:rPr lang="en-US" dirty="0" smtClean="0"/>
              <a:t>whether goodwill </a:t>
            </a:r>
            <a:r>
              <a:rPr lang="en-US" dirty="0"/>
              <a:t>has become “</a:t>
            </a:r>
            <a:r>
              <a:rPr lang="en-US" dirty="0" smtClean="0"/>
              <a:t>badwill”.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creation of an arbitrary period for amortizing goodwill </a:t>
            </a:r>
            <a:r>
              <a:rPr lang="en-US" dirty="0" smtClean="0"/>
              <a:t>makes it </a:t>
            </a:r>
            <a:r>
              <a:rPr lang="en-US" dirty="0"/>
              <a:t>difficult for firms that make successful acquisitions to distinguish themselves </a:t>
            </a:r>
            <a:r>
              <a:rPr lang="en-US" dirty="0" smtClean="0"/>
              <a:t>from those </a:t>
            </a:r>
            <a:r>
              <a:rPr lang="en-US" dirty="0"/>
              <a:t>that make neutral ones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both use a forty-year amortization period, the firm </a:t>
            </a:r>
            <a:r>
              <a:rPr lang="en-US" dirty="0" smtClean="0"/>
              <a:t>that has </a:t>
            </a:r>
            <a:r>
              <a:rPr lang="en-US" dirty="0"/>
              <a:t>enhanced shareholder value reports the acquisition in exactly the same manner as </a:t>
            </a:r>
            <a:r>
              <a:rPr lang="en-US" dirty="0" smtClean="0"/>
              <a:t>the firm </a:t>
            </a:r>
            <a:r>
              <a:rPr lang="en-US" dirty="0"/>
              <a:t>that created no new value.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Two: Economic Benefits </a:t>
            </a:r>
            <a:r>
              <a:rPr lang="en-US" sz="3200" dirty="0" smtClean="0"/>
              <a:t>Are Uncertain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215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Key Analysis </a:t>
            </a:r>
            <a:r>
              <a:rPr lang="en-US" b="1" dirty="0" smtClean="0"/>
              <a:t>Questions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Which assets reported on the balance sheet are most difficult to measure </a:t>
            </a:r>
            <a:r>
              <a:rPr lang="en-US" dirty="0" smtClean="0"/>
              <a:t>and value?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management have a history of over- or underestimating the value of </a:t>
            </a:r>
            <a:r>
              <a:rPr lang="en-US" dirty="0" smtClean="0"/>
              <a:t>difficult- to-value </a:t>
            </a:r>
            <a:r>
              <a:rPr lang="en-US" dirty="0"/>
              <a:t>assets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 do management’s assumptions for valuing assets compare to </a:t>
            </a:r>
            <a:r>
              <a:rPr lang="en-US" dirty="0" smtClean="0"/>
              <a:t>those made </a:t>
            </a:r>
            <a:r>
              <a:rPr lang="en-US" dirty="0"/>
              <a:t>by competitors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 do any assumptions or estimates made by management in valuing </a:t>
            </a:r>
            <a:r>
              <a:rPr lang="en-US" dirty="0" smtClean="0"/>
              <a:t>assets compare </a:t>
            </a:r>
            <a:r>
              <a:rPr lang="en-US" dirty="0"/>
              <a:t>with assumptions in prior years?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Two: Economic Benefits </a:t>
            </a:r>
            <a:r>
              <a:rPr lang="en-US" sz="3200" dirty="0" smtClean="0"/>
              <a:t>Are Uncertain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9410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final challenge in recording assets is how to reflect changes in their values over 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What types of assets, if any, should be marked up or down to their fair values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Changes in operating </a:t>
            </a:r>
            <a:r>
              <a:rPr lang="en-US" b="1" dirty="0"/>
              <a:t>assets </a:t>
            </a:r>
            <a:r>
              <a:rPr lang="en-US" b="1" dirty="0" smtClean="0"/>
              <a:t>like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Changes </a:t>
            </a:r>
            <a:r>
              <a:rPr lang="en-US" dirty="0"/>
              <a:t>in receivable values are reflected in bad debt allowances,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Changes </a:t>
            </a:r>
            <a:r>
              <a:rPr lang="en-US" dirty="0"/>
              <a:t>in the </a:t>
            </a:r>
            <a:r>
              <a:rPr lang="en-US" dirty="0" smtClean="0"/>
              <a:t>value of </a:t>
            </a:r>
            <a:r>
              <a:rPr lang="en-US" dirty="0"/>
              <a:t>loan portfolios are reflected in loss reserves</a:t>
            </a:r>
            <a:r>
              <a:rPr lang="en-US" dirty="0" smtClean="0"/>
              <a:t>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Revisions </a:t>
            </a:r>
            <a:r>
              <a:rPr lang="en-US" dirty="0"/>
              <a:t>in asset lives and residual </a:t>
            </a:r>
            <a:r>
              <a:rPr lang="en-US" dirty="0" smtClean="0"/>
              <a:t>values are </a:t>
            </a:r>
            <a:r>
              <a:rPr lang="en-US" dirty="0"/>
              <a:t>reflected in amortization estimates</a:t>
            </a:r>
            <a:r>
              <a:rPr lang="en-US" dirty="0" smtClean="0"/>
              <a:t>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Declines </a:t>
            </a:r>
            <a:r>
              <a:rPr lang="en-US" dirty="0"/>
              <a:t>in inventory and long-term </a:t>
            </a:r>
            <a:r>
              <a:rPr lang="en-US" dirty="0" smtClean="0"/>
              <a:t>asset values </a:t>
            </a:r>
            <a:r>
              <a:rPr lang="en-US" dirty="0"/>
              <a:t>are reflected in write-downs.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Future Economic Benefits</a:t>
            </a:r>
          </a:p>
        </p:txBody>
      </p:sp>
    </p:spTree>
    <p:extLst>
      <p:ext uri="{BB962C8B-B14F-4D97-AF65-F5344CB8AC3E}">
        <p14:creationId xmlns:p14="http://schemas.microsoft.com/office/powerpoint/2010/main" val="422319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Future Economic Benefits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60764"/>
            <a:ext cx="7319963" cy="53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8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/>
            <a:r>
              <a:rPr lang="en-US" b="1" dirty="0" smtClean="0"/>
              <a:t>Changes in values of foreign subsidiaries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Many </a:t>
            </a:r>
            <a:r>
              <a:rPr lang="en-US" dirty="0" smtClean="0"/>
              <a:t>companies have </a:t>
            </a:r>
            <a:r>
              <a:rPr lang="en-US" dirty="0"/>
              <a:t>foreign subsidiaries that subject their assets to exchange rate fluctuations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 are these </a:t>
            </a:r>
            <a:r>
              <a:rPr lang="en-US" dirty="0"/>
              <a:t>fluctuations recognized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Are </a:t>
            </a:r>
            <a:r>
              <a:rPr lang="en-US" dirty="0"/>
              <a:t>assets of foreign subsidiaries translated into </a:t>
            </a:r>
            <a:r>
              <a:rPr lang="en-US" dirty="0" smtClean="0"/>
              <a:t>local currency </a:t>
            </a:r>
            <a:r>
              <a:rPr lang="en-US" dirty="0"/>
              <a:t>at the historical rates when the assets were acquired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Alternatively</a:t>
            </a:r>
            <a:r>
              <a:rPr lang="en-US" dirty="0"/>
              <a:t>, are </a:t>
            </a:r>
            <a:r>
              <a:rPr lang="en-US" dirty="0" smtClean="0"/>
              <a:t>they translated </a:t>
            </a:r>
            <a:r>
              <a:rPr lang="en-US" dirty="0"/>
              <a:t>at current rates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When the subsidiary company operates in local currency </a:t>
            </a:r>
            <a:r>
              <a:rPr lang="en-US" dirty="0" smtClean="0"/>
              <a:t>than the parent currency, no effect on assets and liabilities.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parent will only be </a:t>
            </a:r>
            <a:r>
              <a:rPr lang="en-US" dirty="0" smtClean="0"/>
              <a:t>subject to </a:t>
            </a:r>
            <a:r>
              <a:rPr lang="en-US" dirty="0"/>
              <a:t>the effect of changes in exchange rates on net assets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These </a:t>
            </a:r>
            <a:r>
              <a:rPr lang="en-US" dirty="0"/>
              <a:t>effects are reflected </a:t>
            </a:r>
            <a:r>
              <a:rPr lang="en-US" dirty="0" smtClean="0"/>
              <a:t>in shareholders</a:t>
            </a:r>
            <a:r>
              <a:rPr lang="en-US" dirty="0"/>
              <a:t>’ equity as a translation </a:t>
            </a:r>
            <a:r>
              <a:rPr lang="en-US" dirty="0" smtClean="0"/>
              <a:t>adjustment.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Future Economic Benefits</a:t>
            </a:r>
          </a:p>
        </p:txBody>
      </p:sp>
    </p:spTree>
    <p:extLst>
      <p:ext uri="{BB962C8B-B14F-4D97-AF65-F5344CB8AC3E}">
        <p14:creationId xmlns:p14="http://schemas.microsoft.com/office/powerpoint/2010/main" val="93030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 smtClean="0"/>
              <a:t>Changes in values of foreign subsidiaries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Foreign currency risks for the combined firm are considered to be more severe </a:t>
            </a:r>
            <a:r>
              <a:rPr lang="en-US" b="1" dirty="0"/>
              <a:t>if </a:t>
            </a:r>
            <a:r>
              <a:rPr lang="en-US" b="1" dirty="0" smtClean="0"/>
              <a:t>the subsidiary’s reporting </a:t>
            </a:r>
            <a:r>
              <a:rPr lang="en-US" b="1" dirty="0"/>
              <a:t>are incurred in the parent’s </a:t>
            </a:r>
            <a:r>
              <a:rPr lang="en-US" b="1" dirty="0" smtClean="0"/>
              <a:t>currency.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Monetary assets </a:t>
            </a:r>
            <a:r>
              <a:rPr lang="en-US" dirty="0"/>
              <a:t>and liabilities (such as cash, receivables, payables, and financing) are </a:t>
            </a:r>
            <a:r>
              <a:rPr lang="en-US" dirty="0" smtClean="0"/>
              <a:t>translated at </a:t>
            </a:r>
            <a:r>
              <a:rPr lang="en-US" dirty="0"/>
              <a:t>current rates, </a:t>
            </a:r>
            <a:r>
              <a:rPr lang="en-US" dirty="0" smtClean="0"/>
              <a:t>(Current)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Whereas </a:t>
            </a:r>
            <a:r>
              <a:rPr lang="en-US" dirty="0"/>
              <a:t>nonmonetary assets and liabilities (such as inventory, fixed assets</a:t>
            </a:r>
            <a:r>
              <a:rPr lang="en-US" dirty="0" smtClean="0"/>
              <a:t>, and </a:t>
            </a:r>
            <a:r>
              <a:rPr lang="en-US" dirty="0"/>
              <a:t>intangibles) are valued at the historical rate (when the transaction occurred</a:t>
            </a:r>
            <a:r>
              <a:rPr lang="en-US" dirty="0" smtClean="0"/>
              <a:t>). (Non-Current)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Future Economic Benefits</a:t>
            </a:r>
          </a:p>
        </p:txBody>
      </p:sp>
    </p:spTree>
    <p:extLst>
      <p:ext uri="{BB962C8B-B14F-4D97-AF65-F5344CB8AC3E}">
        <p14:creationId xmlns:p14="http://schemas.microsoft.com/office/powerpoint/2010/main" val="262030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/>
            <a:r>
              <a:rPr lang="en-US" b="1" dirty="0"/>
              <a:t>Key Analysis </a:t>
            </a:r>
            <a:r>
              <a:rPr lang="en-US" b="1" dirty="0" smtClean="0"/>
              <a:t>Questions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 operating assets appear to be impaired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management appear to have over- or understated prior impairment </a:t>
            </a:r>
            <a:r>
              <a:rPr lang="en-US" dirty="0" smtClean="0"/>
              <a:t>losses for </a:t>
            </a:r>
            <a:r>
              <a:rPr lang="en-US" dirty="0"/>
              <a:t>operating assets, making it difficult to evaluate future performance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If management revalues operating assets, either up or down, what is the </a:t>
            </a:r>
            <a:r>
              <a:rPr lang="en-US" dirty="0" smtClean="0"/>
              <a:t>basis for </a:t>
            </a:r>
            <a:r>
              <a:rPr lang="en-US" dirty="0"/>
              <a:t>the estimation of the fair value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What is management’s motive for holding financial instruments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What is the market value of all financial instruments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What are the foreign currency risks the company is exposed to from its </a:t>
            </a:r>
            <a:r>
              <a:rPr lang="en-US" dirty="0" smtClean="0"/>
              <a:t>foreign operations</a:t>
            </a:r>
            <a:r>
              <a:rPr lang="en-US" dirty="0"/>
              <a:t>?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Future Economic Benefits</a:t>
            </a:r>
          </a:p>
        </p:txBody>
      </p:sp>
    </p:spTree>
    <p:extLst>
      <p:ext uri="{BB962C8B-B14F-4D97-AF65-F5344CB8AC3E}">
        <p14:creationId xmlns:p14="http://schemas.microsoft.com/office/powerpoint/2010/main" val="56181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recording of assets is primarily determined by the principles of historical cost </a:t>
            </a:r>
            <a:r>
              <a:rPr lang="en-US" dirty="0" smtClean="0"/>
              <a:t>and conservatism.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Under the historical cost principle, resources owned by a firm that </a:t>
            </a:r>
            <a:r>
              <a:rPr lang="en-US" dirty="0" smtClean="0"/>
              <a:t>are likely </a:t>
            </a:r>
            <a:r>
              <a:rPr lang="en-US" dirty="0"/>
              <a:t>to produce reasonably certain future benefits are valued at their cost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However, </a:t>
            </a:r>
            <a:r>
              <a:rPr lang="en-US" dirty="0" smtClean="0"/>
              <a:t>if an </a:t>
            </a:r>
            <a:r>
              <a:rPr lang="en-US" dirty="0"/>
              <a:t>asset’s cost exceeds its fair value, the conservatism principle requires that the </a:t>
            </a:r>
            <a:r>
              <a:rPr lang="en-US" dirty="0" smtClean="0"/>
              <a:t>resource be </a:t>
            </a:r>
            <a:r>
              <a:rPr lang="en-US" dirty="0"/>
              <a:t>written down to fair value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b="1" dirty="0"/>
              <a:t>The implementation of the principles of historical cost and conservatism can be </a:t>
            </a:r>
            <a:r>
              <a:rPr lang="en-US" b="1" dirty="0" smtClean="0"/>
              <a:t>challenging: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/>
              <a:t>is uncertainty about the ownership of those resources, as is the case for </a:t>
            </a:r>
            <a:r>
              <a:rPr lang="en-US" dirty="0" smtClean="0"/>
              <a:t>lease transactions </a:t>
            </a:r>
            <a:r>
              <a:rPr lang="en-US" dirty="0"/>
              <a:t>and training outlays.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Future </a:t>
            </a:r>
            <a:r>
              <a:rPr lang="en-US" dirty="0"/>
              <a:t>benefits associated with resources are highly uncertain and/or difficult </a:t>
            </a:r>
            <a:r>
              <a:rPr lang="en-US" dirty="0" smtClean="0"/>
              <a:t>to measure</a:t>
            </a:r>
            <a:r>
              <a:rPr lang="en-US" dirty="0"/>
              <a:t>, such as for goodwill, R&amp;D, brands, and deferred tax assets.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Resource </a:t>
            </a:r>
            <a:r>
              <a:rPr lang="en-US" dirty="0"/>
              <a:t>values have changed, as in the case of impaired operating assets, </a:t>
            </a:r>
            <a:r>
              <a:rPr lang="en-US" dirty="0" smtClean="0"/>
              <a:t>changes in </a:t>
            </a:r>
            <a:r>
              <a:rPr lang="en-US" dirty="0"/>
              <a:t>fair values of financial instruments, and changes in exchange rates for </a:t>
            </a:r>
            <a:r>
              <a:rPr lang="en-US" dirty="0" smtClean="0"/>
              <a:t>valuing foreign </a:t>
            </a:r>
            <a:r>
              <a:rPr lang="en-US" dirty="0"/>
              <a:t>subsidiaries.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5217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Firms have two broad classes of financial claims on their assets: </a:t>
            </a:r>
            <a:r>
              <a:rPr lang="en-US" b="1" dirty="0" smtClean="0"/>
              <a:t>liabilities</a:t>
            </a:r>
            <a:r>
              <a:rPr lang="en-US" dirty="0" smtClean="0"/>
              <a:t> and </a:t>
            </a:r>
            <a:r>
              <a:rPr lang="en-US" b="1" dirty="0"/>
              <a:t>equity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firm’s obligations under liabilities are </a:t>
            </a:r>
            <a:r>
              <a:rPr lang="en-US" dirty="0" smtClean="0"/>
              <a:t>specified relatively </a:t>
            </a:r>
            <a:r>
              <a:rPr lang="en-US" dirty="0"/>
              <a:t>clearly, whereas equity claims tend to be difficult to specify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Liabilities include debt, creditors, unpaid wages, taxes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Equity is </a:t>
            </a:r>
            <a:r>
              <a:rPr lang="en-US" dirty="0"/>
              <a:t>defined as the claim on the gap </a:t>
            </a:r>
            <a:r>
              <a:rPr lang="en-US" dirty="0" smtClean="0"/>
              <a:t>between assets </a:t>
            </a:r>
            <a:r>
              <a:rPr lang="en-US" dirty="0"/>
              <a:t>and liabilities. It can therefore be thought of as a residual claim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Analysis of liabilities involves assessing </a:t>
            </a:r>
            <a:r>
              <a:rPr lang="en-US" dirty="0" smtClean="0"/>
              <a:t>the extent</a:t>
            </a:r>
            <a:r>
              <a:rPr lang="en-US" dirty="0"/>
              <a:t>, nature, and measurability of any obligations the firm has incurred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Liability and Equity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46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Under accrual accounting, liabilities can arise in three ways. </a:t>
            </a: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First</a:t>
            </a:r>
            <a:r>
              <a:rPr lang="en-US" dirty="0"/>
              <a:t>, they can arise </a:t>
            </a:r>
            <a:r>
              <a:rPr lang="en-US" dirty="0" smtClean="0"/>
              <a:t>when a </a:t>
            </a:r>
            <a:r>
              <a:rPr lang="en-US" dirty="0"/>
              <a:t>firm has received cash from a customer but has yet to fulfill any of its contractual obligations required for recognizing </a:t>
            </a:r>
            <a:r>
              <a:rPr lang="en-US" dirty="0" smtClean="0"/>
              <a:t>revenue. Example: Income received in advance, unearned revenues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Second</a:t>
            </a:r>
            <a:r>
              <a:rPr lang="en-US" dirty="0"/>
              <a:t>, a liability can arise if a firm has </a:t>
            </a:r>
            <a:r>
              <a:rPr lang="en-US" dirty="0" smtClean="0"/>
              <a:t>used goods </a:t>
            </a:r>
            <a:r>
              <a:rPr lang="en-US" dirty="0"/>
              <a:t>and/or services in the course of its operating cycle or during the current </a:t>
            </a:r>
            <a:r>
              <a:rPr lang="en-US" dirty="0" smtClean="0"/>
              <a:t>period, but </a:t>
            </a:r>
            <a:r>
              <a:rPr lang="en-US" dirty="0"/>
              <a:t>has yet to pay the suppliers of these inputs. These are called payables and </a:t>
            </a:r>
            <a:r>
              <a:rPr lang="en-US" dirty="0" smtClean="0"/>
              <a:t>accrued liabilities.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Finally</a:t>
            </a:r>
            <a:r>
              <a:rPr lang="en-US" dirty="0"/>
              <a:t>, a firm incurs a liability when it raises debt capital from banks, </a:t>
            </a:r>
            <a:r>
              <a:rPr lang="en-US" dirty="0" smtClean="0"/>
              <a:t>financial institutions</a:t>
            </a:r>
            <a:r>
              <a:rPr lang="en-US" dirty="0"/>
              <a:t>, and the public.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Liability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088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Criteria for Recording Liabilities and </a:t>
            </a:r>
            <a:r>
              <a:rPr lang="en-US" b="1" dirty="0" smtClean="0"/>
              <a:t>Implementation Challenges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Liability Analysis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8" y="2307289"/>
            <a:ext cx="7890164" cy="412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2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most liabilities there is little ambiguity about whether the firm has incurred an obligation.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For example, when a firm buys supplies on credit, it has incurred an obligation </a:t>
            </a:r>
            <a:r>
              <a:rPr lang="en-US" dirty="0" smtClean="0"/>
              <a:t>to the </a:t>
            </a:r>
            <a:r>
              <a:rPr lang="en-US" dirty="0"/>
              <a:t>supplier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However</a:t>
            </a:r>
            <a:r>
              <a:rPr lang="en-US" dirty="0"/>
              <a:t>, for some transactions it is more difficult to decide whether there </a:t>
            </a:r>
            <a:r>
              <a:rPr lang="en-US" dirty="0" smtClean="0"/>
              <a:t>is any </a:t>
            </a:r>
            <a:r>
              <a:rPr lang="en-US" dirty="0"/>
              <a:t>such obligation</a:t>
            </a:r>
            <a:r>
              <a:rPr lang="en-US" dirty="0" smtClean="0"/>
              <a:t>.</a:t>
            </a:r>
          </a:p>
          <a:p>
            <a:pPr marL="0" indent="0" algn="just"/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b="1" dirty="0" smtClean="0"/>
              <a:t>Restructuring Reserves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 October 12, </a:t>
            </a:r>
            <a:r>
              <a:rPr lang="en-US" dirty="0" smtClean="0"/>
              <a:t>1994, McCormick &amp; </a:t>
            </a:r>
            <a:r>
              <a:rPr lang="en-US" dirty="0"/>
              <a:t>Co. announced </a:t>
            </a:r>
            <a:r>
              <a:rPr lang="en-US" dirty="0" smtClean="0"/>
              <a:t>restructuring plans </a:t>
            </a:r>
            <a:r>
              <a:rPr lang="en-US" dirty="0"/>
              <a:t>to lay off 7 percent of its 8,600-person staff, close two </a:t>
            </a:r>
            <a:r>
              <a:rPr lang="en-US" dirty="0" smtClean="0"/>
              <a:t>spice plants</a:t>
            </a:r>
            <a:r>
              <a:rPr lang="en-US" dirty="0"/>
              <a:t>, and sell off a money-losing onion-ring operation. </a:t>
            </a:r>
            <a:r>
              <a:rPr lang="en-US" dirty="0" smtClean="0"/>
              <a:t>It </a:t>
            </a:r>
            <a:r>
              <a:rPr lang="en-US" dirty="0"/>
              <a:t>created a $70.5 million liability for the costs of the restructuring.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One: Has an obligation been incurred?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775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smtClean="0"/>
              <a:t>restructuring plan </a:t>
            </a:r>
            <a:r>
              <a:rPr lang="en-US" dirty="0"/>
              <a:t>does not necessarily create an obligation on </a:t>
            </a:r>
            <a:r>
              <a:rPr lang="en-US" dirty="0" smtClean="0"/>
              <a:t>McCormick’s part</a:t>
            </a:r>
            <a:r>
              <a:rPr lang="en-US" dirty="0"/>
              <a:t>. It can be modified or abandoned, just as announcements of projected capital </a:t>
            </a:r>
            <a:r>
              <a:rPr lang="en-US" dirty="0" smtClean="0"/>
              <a:t>outlays for </a:t>
            </a:r>
            <a:r>
              <a:rPr lang="en-US" dirty="0"/>
              <a:t>the coming year can be changed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Managers </a:t>
            </a:r>
            <a:r>
              <a:rPr lang="en-US" dirty="0"/>
              <a:t>have overstated restructuring charges by making aggressive asset write-downs</a:t>
            </a:r>
            <a:r>
              <a:rPr lang="en-US" dirty="0" smtClean="0"/>
              <a:t>, called </a:t>
            </a:r>
            <a:r>
              <a:rPr lang="en-US" dirty="0"/>
              <a:t>“taking a bath</a:t>
            </a:r>
            <a:r>
              <a:rPr lang="en-US" dirty="0" smtClean="0"/>
              <a:t>.”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Future </a:t>
            </a:r>
            <a:r>
              <a:rPr lang="en-US" dirty="0"/>
              <a:t>performance is then enhanced both by the effect of </a:t>
            </a:r>
            <a:r>
              <a:rPr lang="en-US" dirty="0" smtClean="0"/>
              <a:t>any restructuring </a:t>
            </a:r>
            <a:r>
              <a:rPr lang="en-US" dirty="0"/>
              <a:t>benefits and by reduced depreciation charges or restructuring credits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McCormick restructuring raised concerns among some analysts that the firm </a:t>
            </a:r>
            <a:r>
              <a:rPr lang="en-US" dirty="0" smtClean="0"/>
              <a:t>had used </a:t>
            </a:r>
            <a:r>
              <a:rPr lang="en-US" dirty="0"/>
              <a:t>write-offs to manage future </a:t>
            </a:r>
            <a:r>
              <a:rPr lang="en-US" dirty="0" smtClean="0"/>
              <a:t>earnings.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Thus, restructuring </a:t>
            </a:r>
            <a:r>
              <a:rPr lang="en-US" dirty="0"/>
              <a:t>activities </a:t>
            </a:r>
            <a:r>
              <a:rPr lang="en-US" dirty="0" smtClean="0"/>
              <a:t>illustrate the difficulties </a:t>
            </a:r>
            <a:r>
              <a:rPr lang="en-US" dirty="0"/>
              <a:t>in assessing whether a restructuring announcement is a commitment, </a:t>
            </a:r>
            <a:r>
              <a:rPr lang="en-US" dirty="0" smtClean="0"/>
              <a:t>and whether </a:t>
            </a:r>
            <a:r>
              <a:rPr lang="en-US" dirty="0"/>
              <a:t>firms have deliberately overestimated the restructuring liability to create a </a:t>
            </a:r>
            <a:r>
              <a:rPr lang="en-US" dirty="0" smtClean="0"/>
              <a:t>cushion for </a:t>
            </a:r>
            <a:r>
              <a:rPr lang="en-US" dirty="0"/>
              <a:t>future years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Other Examples:</a:t>
            </a:r>
            <a:r>
              <a:rPr lang="en-US" dirty="0"/>
              <a:t> </a:t>
            </a:r>
            <a:r>
              <a:rPr lang="en-US" dirty="0" smtClean="0"/>
              <a:t>Frequent Flyer Obligations or reward points, Litigation Expenses, other contingent liabilities etc.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One: Has an obligation been incurred?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595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Many liabilities specify the amount and timing of obligations precisely. </a:t>
            </a:r>
            <a:r>
              <a:rPr lang="en-US" b="1" dirty="0"/>
              <a:t>For example</a:t>
            </a:r>
            <a:r>
              <a:rPr lang="en-US" dirty="0"/>
              <a:t>, </a:t>
            </a:r>
            <a:r>
              <a:rPr lang="en-US" dirty="0" smtClean="0"/>
              <a:t>a twenty-year </a:t>
            </a:r>
            <a:r>
              <a:rPr lang="en-US" dirty="0"/>
              <a:t>$100 million bond issue, with an 8 percent coupon payable </a:t>
            </a:r>
            <a:r>
              <a:rPr lang="en-US" dirty="0" smtClean="0"/>
              <a:t>annually, specifies </a:t>
            </a:r>
            <a:r>
              <a:rPr lang="en-US" dirty="0"/>
              <a:t>that the issuer will pay the holders $100 million in twenty years, and will </a:t>
            </a:r>
            <a:r>
              <a:rPr lang="en-US" dirty="0" smtClean="0"/>
              <a:t>pay out </a:t>
            </a:r>
            <a:r>
              <a:rPr lang="en-US" dirty="0"/>
              <a:t>interest of </a:t>
            </a:r>
            <a:r>
              <a:rPr lang="en-US" dirty="0" smtClean="0"/>
              <a:t>$8 </a:t>
            </a:r>
            <a:r>
              <a:rPr lang="en-US" dirty="0"/>
              <a:t>million every </a:t>
            </a:r>
            <a:r>
              <a:rPr lang="en-US" dirty="0" smtClean="0"/>
              <a:t>year </a:t>
            </a:r>
            <a:r>
              <a:rPr lang="en-US" dirty="0"/>
              <a:t>for the duration of the loan.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However, for some liabilities it is difficult to estimate the amount of the obligation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Environmental Liabilities like cleanup cost.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Responsibility for </a:t>
            </a:r>
            <a:r>
              <a:rPr lang="en-US" dirty="0"/>
              <a:t>the </a:t>
            </a:r>
            <a:r>
              <a:rPr lang="en-US" dirty="0" smtClean="0"/>
              <a:t>environmental damage </a:t>
            </a:r>
            <a:r>
              <a:rPr lang="en-US" dirty="0"/>
              <a:t>and cleanup is </a:t>
            </a:r>
            <a:r>
              <a:rPr lang="en-US" dirty="0" smtClean="0"/>
              <a:t>uncertain.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/>
              <a:t>is </a:t>
            </a:r>
            <a:r>
              <a:rPr lang="en-US" dirty="0" smtClean="0"/>
              <a:t>considerable uncertainty </a:t>
            </a:r>
            <a:r>
              <a:rPr lang="en-US" dirty="0"/>
              <a:t>about the actual costs of </a:t>
            </a:r>
            <a:r>
              <a:rPr lang="en-US" dirty="0" smtClean="0"/>
              <a:t>cleanup.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Two: Can the obligation be measured?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0469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 smtClean="0"/>
              <a:t>Pension and other postemployment benefit liabilities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To estimate the timing and expected pension benefits for current and </a:t>
            </a:r>
            <a:r>
              <a:rPr lang="en-US" dirty="0" smtClean="0"/>
              <a:t>past employees,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firms have to forecast the life expectancies of current and past employees</a:t>
            </a:r>
            <a:r>
              <a:rPr lang="en-US" dirty="0" smtClean="0"/>
              <a:t>, as </a:t>
            </a:r>
            <a:r>
              <a:rPr lang="en-US" dirty="0"/>
              <a:t>well as the future working lives with the firm and retirement ages of current employees.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present value of these future commitments, net of pension plan assets</a:t>
            </a:r>
            <a:r>
              <a:rPr lang="en-US" dirty="0" smtClean="0"/>
              <a:t>, represents </a:t>
            </a:r>
            <a:r>
              <a:rPr lang="en-US" dirty="0"/>
              <a:t>the economic obligation under the pension </a:t>
            </a:r>
            <a:r>
              <a:rPr lang="en-US" dirty="0" smtClean="0"/>
              <a:t>plan.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Other examples: </a:t>
            </a:r>
            <a:r>
              <a:rPr lang="en-US" dirty="0" smtClean="0"/>
              <a:t>Insurance loss reserves and warranties.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Two: Can the obligation be measured?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545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Fixed-rate liabilities are subject to changes in fair values as interest rates change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Rates can change because </a:t>
            </a:r>
            <a:r>
              <a:rPr lang="en-US" dirty="0"/>
              <a:t>of market-wide </a:t>
            </a:r>
            <a:r>
              <a:rPr lang="en-US" dirty="0" smtClean="0"/>
              <a:t>fluctuations.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How </a:t>
            </a:r>
            <a:r>
              <a:rPr lang="en-US" dirty="0"/>
              <a:t>are such changes in value reflected in the financial statements?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Examples: Convertible debt, troubled debt etc.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Challenge Three: Changes in the Value of Liabilities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5467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is difficult to specify the payoffs attributable to stockholders, </a:t>
            </a:r>
            <a:r>
              <a:rPr lang="en-US" dirty="0" smtClean="0"/>
              <a:t>which in </a:t>
            </a:r>
            <a:r>
              <a:rPr lang="en-US" dirty="0"/>
              <a:t>turn makes it difficult to value equity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Accountants </a:t>
            </a:r>
            <a:r>
              <a:rPr lang="en-US" dirty="0"/>
              <a:t>therefore treat equity as a </a:t>
            </a:r>
            <a:r>
              <a:rPr lang="en-US" dirty="0" smtClean="0"/>
              <a:t>residual claim</a:t>
            </a:r>
            <a:r>
              <a:rPr lang="en-US" dirty="0"/>
              <a:t>, whose value is defined exclusively by the values assigned to assets and </a:t>
            </a:r>
            <a:r>
              <a:rPr lang="en-US" dirty="0" smtClean="0"/>
              <a:t>liabilities.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 addition, there are two reporting challenges that are specific to equity: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reporting for hybrid securities</a:t>
            </a:r>
            <a:r>
              <a:rPr lang="en-US" dirty="0" smtClean="0"/>
              <a:t>,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allocation of equity values between reserves</a:t>
            </a:r>
            <a:r>
              <a:rPr lang="en-US" dirty="0" smtClean="0"/>
              <a:t>, capital</a:t>
            </a:r>
            <a:r>
              <a:rPr lang="en-US" dirty="0"/>
              <a:t>, and retained earnings.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Equity Definition And Reporting Challenges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0552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Challenge One: Hybrid </a:t>
            </a:r>
            <a:r>
              <a:rPr lang="en-US" b="1" dirty="0" smtClean="0"/>
              <a:t>Securities (Convertible Debt)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 August 11, 1998, Helix Hearing Care of America Corp., a Montreal-based </a:t>
            </a:r>
            <a:r>
              <a:rPr lang="en-US" dirty="0" smtClean="0"/>
              <a:t>hearing aid </a:t>
            </a:r>
            <a:r>
              <a:rPr lang="en-US" dirty="0"/>
              <a:t>chain, sold $2 million of convertible debentures. The debentures had a five-year </a:t>
            </a:r>
            <a:r>
              <a:rPr lang="en-US" dirty="0" smtClean="0"/>
              <a:t>term and </a:t>
            </a:r>
            <a:r>
              <a:rPr lang="en-US" dirty="0"/>
              <a:t>a 13 percent coupon rate and were convertible into Helix common shares </a:t>
            </a:r>
            <a:r>
              <a:rPr lang="en-US" dirty="0" smtClean="0"/>
              <a:t>at CA$1.70.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Is this security a debt instrument or an equity claim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value of the conversion right depends on the conversion price, </a:t>
            </a:r>
            <a:r>
              <a:rPr lang="en-US" dirty="0" smtClean="0"/>
              <a:t>the firm’s </a:t>
            </a:r>
            <a:r>
              <a:rPr lang="en-US" dirty="0"/>
              <a:t>current stock price, the government bond rate, and the estimated variance of </a:t>
            </a:r>
            <a:r>
              <a:rPr lang="en-US" dirty="0" smtClean="0"/>
              <a:t>the firm’s </a:t>
            </a:r>
            <a:r>
              <a:rPr lang="en-US" dirty="0"/>
              <a:t>stock </a:t>
            </a:r>
            <a:r>
              <a:rPr lang="en-US" dirty="0" smtClean="0"/>
              <a:t>returns.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Equity Definition And Reporting Challenges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2786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lnSpcReduction="10000"/>
          </a:bodyPr>
          <a:lstStyle/>
          <a:p>
            <a:pPr marL="0" indent="0" algn="just"/>
            <a:r>
              <a:rPr lang="en-US" b="1" dirty="0"/>
              <a:t>Challenge Two: Classification of Unrealized Gains and </a:t>
            </a:r>
            <a:r>
              <a:rPr lang="en-US" b="1" dirty="0" smtClean="0"/>
              <a:t>Losses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second challenge for equity valuation relates to how to allocate certain </a:t>
            </a:r>
            <a:r>
              <a:rPr lang="en-US" dirty="0" smtClean="0"/>
              <a:t>unrealized gains </a:t>
            </a:r>
            <a:r>
              <a:rPr lang="en-US" dirty="0"/>
              <a:t>and losses within the equity segment of the balance sheet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Should </a:t>
            </a:r>
            <a:r>
              <a:rPr lang="en-US" dirty="0"/>
              <a:t>these items </a:t>
            </a:r>
            <a:r>
              <a:rPr lang="en-US" dirty="0" smtClean="0"/>
              <a:t>be included </a:t>
            </a:r>
            <a:r>
              <a:rPr lang="en-US" dirty="0"/>
              <a:t>in the income statement and then in retained earnings</a:t>
            </a:r>
            <a:r>
              <a:rPr lang="en-US" dirty="0" smtClean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Current </a:t>
            </a:r>
            <a:r>
              <a:rPr lang="en-US" dirty="0"/>
              <a:t>accounting rules require </a:t>
            </a:r>
            <a:r>
              <a:rPr lang="en-US" dirty="0" smtClean="0"/>
              <a:t>some unrealized </a:t>
            </a:r>
            <a:r>
              <a:rPr lang="en-US" dirty="0"/>
              <a:t>gains and losses to be charged to a reserve rather than going through the </a:t>
            </a:r>
            <a:r>
              <a:rPr lang="en-US" dirty="0" smtClean="0"/>
              <a:t>income statement.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These </a:t>
            </a:r>
            <a:r>
              <a:rPr lang="en-US" dirty="0"/>
              <a:t>include gains and losses on financial </a:t>
            </a:r>
            <a:r>
              <a:rPr lang="en-US" dirty="0" smtClean="0"/>
              <a:t>instruments available for sale, </a:t>
            </a:r>
            <a:r>
              <a:rPr lang="en-US" dirty="0"/>
              <a:t>for hedge and foreign currency translations for foreign </a:t>
            </a:r>
            <a:r>
              <a:rPr lang="en-US" dirty="0" smtClean="0"/>
              <a:t>operations.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Equity Definition And Reporting Challenges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491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5135563"/>
          </a:xfrm>
        </p:spPr>
        <p:txBody>
          <a:bodyPr>
            <a:normAutofit lnSpcReduction="10000"/>
          </a:bodyPr>
          <a:lstStyle/>
          <a:p>
            <a:pPr marL="0" indent="0" algn="just"/>
            <a:r>
              <a:rPr lang="en-US" b="1" dirty="0"/>
              <a:t>Challenge Two: Classification of Unrealized Gains and </a:t>
            </a:r>
            <a:r>
              <a:rPr lang="en-US" b="1" dirty="0" smtClean="0"/>
              <a:t>Losses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These types of gains and losses are sometimes referred to as </a:t>
            </a:r>
            <a:r>
              <a:rPr lang="en-US" b="1" dirty="0"/>
              <a:t>“dirty surplus”</a:t>
            </a:r>
            <a:r>
              <a:rPr lang="en-US" dirty="0"/>
              <a:t> charges</a:t>
            </a:r>
            <a:r>
              <a:rPr lang="en-US" dirty="0" smtClean="0"/>
              <a:t>, since </a:t>
            </a:r>
            <a:r>
              <a:rPr lang="en-US" dirty="0"/>
              <a:t>they are not recorded in the income statement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system where all </a:t>
            </a:r>
            <a:r>
              <a:rPr lang="en-US" dirty="0" smtClean="0"/>
              <a:t>accounting charges </a:t>
            </a:r>
            <a:r>
              <a:rPr lang="en-US" dirty="0"/>
              <a:t>are reflected in income is called “clean surplus” accounting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is worth noting that changes in equity book values from many of the “dirty surplus</a:t>
            </a:r>
            <a:r>
              <a:rPr lang="en-US" dirty="0" smtClean="0"/>
              <a:t>” gains </a:t>
            </a:r>
            <a:r>
              <a:rPr lang="en-US" dirty="0"/>
              <a:t>and losses are difficult to predict from year to </a:t>
            </a:r>
            <a:r>
              <a:rPr lang="en-US" dirty="0" smtClean="0"/>
              <a:t>year</a:t>
            </a:r>
            <a:r>
              <a:rPr lang="en-US" dirty="0"/>
              <a:t>.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Since </a:t>
            </a:r>
            <a:r>
              <a:rPr lang="en-US" dirty="0"/>
              <a:t>they depend on </a:t>
            </a:r>
            <a:r>
              <a:rPr lang="en-US" dirty="0" smtClean="0"/>
              <a:t>changes in </a:t>
            </a:r>
            <a:r>
              <a:rPr lang="en-US" dirty="0"/>
              <a:t>financial instrument and foreign currency prices, which are themselves difficult </a:t>
            </a:r>
            <a:r>
              <a:rPr lang="en-US" dirty="0" smtClean="0"/>
              <a:t>to forecast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Equity Definition And Reporting Challenges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259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5652</Words>
  <Application>Microsoft Office PowerPoint</Application>
  <PresentationFormat>On-screen Show (4:3)</PresentationFormat>
  <Paragraphs>325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Accounting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Dell</cp:lastModifiedBy>
  <cp:revision>286</cp:revision>
  <dcterms:created xsi:type="dcterms:W3CDTF">2011-09-14T09:42:05Z</dcterms:created>
  <dcterms:modified xsi:type="dcterms:W3CDTF">2017-08-26T06:35:56Z</dcterms:modified>
</cp:coreProperties>
</file>