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7" r:id="rId11"/>
    <p:sldId id="27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 smtClean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 smtClean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  <a:endParaRPr lang="en-US" sz="2900" spc="-15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spc="0" dirty="0" smtClean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lang="en-US" sz="1200" spc="0" baseline="0" dirty="0" smtClean="0">
                <a:solidFill>
                  <a:srgbClr val="FFFFFF"/>
                </a:solidFill>
                <a:latin typeface="Arial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03DC603-C5F6-4A82-B252-8D9BD6F91242}" type="datetimeFigureOut">
              <a:rPr lang="en-US" smtClean="0"/>
              <a:pPr/>
              <a:t>11-Sep-17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Financial Analysis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smtClean="0"/>
              <a:t>By:</a:t>
            </a:r>
          </a:p>
          <a:p>
            <a:r>
              <a:rPr lang="en-US" b="1" dirty="0" smtClean="0"/>
              <a:t>Dr. Saurabh Chadha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goal of financial analysis is to assess the performance of a firm </a:t>
            </a:r>
            <a:r>
              <a:rPr lang="en-US" dirty="0" smtClean="0"/>
              <a:t>in the </a:t>
            </a:r>
            <a:r>
              <a:rPr lang="en-US" dirty="0"/>
              <a:t>context of its stated goals and strategy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There </a:t>
            </a:r>
            <a:r>
              <a:rPr lang="en-US" b="1" dirty="0"/>
              <a:t>are two principal tools of financial analysis</a:t>
            </a:r>
            <a:r>
              <a:rPr lang="en-US" b="1" dirty="0" smtClean="0"/>
              <a:t>: Ratio </a:t>
            </a:r>
            <a:r>
              <a:rPr lang="en-US" b="1" dirty="0"/>
              <a:t>analysis and </a:t>
            </a:r>
            <a:r>
              <a:rPr lang="en-US" b="1" dirty="0" smtClean="0"/>
              <a:t>Cash </a:t>
            </a:r>
            <a:r>
              <a:rPr lang="en-US" b="1" dirty="0"/>
              <a:t>flow analysis</a:t>
            </a:r>
            <a:r>
              <a:rPr lang="en-US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Ratio </a:t>
            </a:r>
            <a:r>
              <a:rPr lang="en-US" dirty="0"/>
              <a:t>analysis involves assessing how </a:t>
            </a:r>
            <a:r>
              <a:rPr lang="en-US" dirty="0" smtClean="0"/>
              <a:t>various line </a:t>
            </a:r>
            <a:r>
              <a:rPr lang="en-US" dirty="0"/>
              <a:t>items in a firm’s financial statements relate to one another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Ratio analysis of a company’s present and past performance provides the foundation for making forecasts of future performance.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Cash </a:t>
            </a:r>
            <a:r>
              <a:rPr lang="en-US" dirty="0">
                <a:solidFill>
                  <a:srgbClr val="FF0000"/>
                </a:solidFill>
              </a:rPr>
              <a:t>flow analysis </a:t>
            </a:r>
            <a:r>
              <a:rPr lang="en-US" dirty="0" smtClean="0">
                <a:solidFill>
                  <a:srgbClr val="FF0000"/>
                </a:solidFill>
              </a:rPr>
              <a:t>allows the </a:t>
            </a:r>
            <a:r>
              <a:rPr lang="en-US" dirty="0">
                <a:solidFill>
                  <a:srgbClr val="FF0000"/>
                </a:solidFill>
              </a:rPr>
              <a:t>analyst to examine the firm’s liquidity, and how the firm is managing its operating</a:t>
            </a:r>
            <a:r>
              <a:rPr lang="en-US" dirty="0" smtClean="0">
                <a:solidFill>
                  <a:srgbClr val="FF0000"/>
                </a:solidFill>
              </a:rPr>
              <a:t>, investment</a:t>
            </a:r>
            <a:r>
              <a:rPr lang="en-US" dirty="0">
                <a:solidFill>
                  <a:srgbClr val="FF0000"/>
                </a:solidFill>
              </a:rPr>
              <a:t>, and financing cash flows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Purpose of </a:t>
            </a:r>
            <a:r>
              <a:rPr lang="en-US" dirty="0" smtClean="0"/>
              <a:t>Financial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Drivers of a Firm’s Profitability and Growth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Ratio Analysis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981200"/>
            <a:ext cx="6248400" cy="434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9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/>
            <a:r>
              <a:rPr lang="en-US" dirty="0"/>
              <a:t>Thus, the four levers managers can use to achieve their growth and profit targets are</a:t>
            </a:r>
            <a:r>
              <a:rPr lang="en-US" dirty="0" smtClean="0"/>
              <a:t>: (</a:t>
            </a:r>
            <a:r>
              <a:rPr lang="en-US" dirty="0"/>
              <a:t>1) operating management, (2) investment management, (3) financing strategy, and (4</a:t>
            </a:r>
            <a:r>
              <a:rPr lang="en-US" dirty="0" smtClean="0"/>
              <a:t>) dividend </a:t>
            </a:r>
            <a:r>
              <a:rPr lang="en-US" dirty="0"/>
              <a:t>policies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objective of ratio analysis is to evaluate the effectiveness of </a:t>
            </a:r>
            <a:r>
              <a:rPr lang="en-US" dirty="0" smtClean="0"/>
              <a:t>the firm’s </a:t>
            </a:r>
            <a:r>
              <a:rPr lang="en-US" dirty="0"/>
              <a:t>policies in each of these areas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 ratio analysis, the analyst </a:t>
            </a:r>
            <a:r>
              <a:rPr lang="en-US" dirty="0" smtClean="0">
                <a:solidFill>
                  <a:srgbClr val="FF0000"/>
                </a:solidFill>
              </a:rPr>
              <a:t>can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1) compare ratios for a firm over several years (</a:t>
            </a:r>
            <a:r>
              <a:rPr lang="en-US" dirty="0" smtClean="0">
                <a:solidFill>
                  <a:srgbClr val="FF0000"/>
                </a:solidFill>
              </a:rPr>
              <a:t>a time-series </a:t>
            </a:r>
            <a:r>
              <a:rPr lang="en-US" dirty="0">
                <a:solidFill>
                  <a:srgbClr val="FF0000"/>
                </a:solidFill>
              </a:rPr>
              <a:t>comparison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>
                <a:solidFill>
                  <a:srgbClr val="FF0000"/>
                </a:solidFill>
              </a:rPr>
              <a:t>2) compare ratios for the firm and other firms in the </a:t>
            </a:r>
            <a:r>
              <a:rPr lang="en-US" dirty="0" smtClean="0">
                <a:solidFill>
                  <a:srgbClr val="FF0000"/>
                </a:solidFill>
              </a:rPr>
              <a:t>industry (</a:t>
            </a:r>
            <a:r>
              <a:rPr lang="en-US" dirty="0">
                <a:solidFill>
                  <a:srgbClr val="FF0000"/>
                </a:solidFill>
              </a:rPr>
              <a:t>cross-sectional comparison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(3</a:t>
            </a:r>
            <a:r>
              <a:rPr lang="en-US" dirty="0">
                <a:solidFill>
                  <a:srgbClr val="FF0000"/>
                </a:solidFill>
              </a:rPr>
              <a:t>) compare ratios to some absolute benchmark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Ratio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0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dirty="0" smtClean="0"/>
              <a:t>ROE = Net Income / Shareholder’s Equity</a:t>
            </a:r>
          </a:p>
          <a:p>
            <a:pPr marL="0" indent="0" algn="just"/>
            <a:r>
              <a:rPr lang="en-US" dirty="0">
                <a:solidFill>
                  <a:srgbClr val="FF0000"/>
                </a:solidFill>
              </a:rPr>
              <a:t>ROE is a comprehensive indicator of a firm’s performance because it provides an </a:t>
            </a:r>
            <a:r>
              <a:rPr lang="en-US" dirty="0" smtClean="0">
                <a:solidFill>
                  <a:srgbClr val="FF0000"/>
                </a:solidFill>
              </a:rPr>
              <a:t>indication of </a:t>
            </a:r>
            <a:r>
              <a:rPr lang="en-US" dirty="0">
                <a:solidFill>
                  <a:srgbClr val="FF0000"/>
                </a:solidFill>
              </a:rPr>
              <a:t>how well managers are employing the funds invested by the firm’s </a:t>
            </a:r>
            <a:r>
              <a:rPr lang="en-US" dirty="0" smtClean="0">
                <a:solidFill>
                  <a:srgbClr val="FF0000"/>
                </a:solidFill>
              </a:rPr>
              <a:t>shareholders to </a:t>
            </a:r>
            <a:r>
              <a:rPr lang="en-US" dirty="0">
                <a:solidFill>
                  <a:srgbClr val="FF0000"/>
                </a:solidFill>
              </a:rPr>
              <a:t>generate returns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0" indent="0" algn="just"/>
            <a:r>
              <a:rPr lang="en-US" dirty="0">
                <a:solidFill>
                  <a:srgbClr val="FF0000"/>
                </a:solidFill>
              </a:rPr>
              <a:t>In the long run, the value of the firm’s equity is determined by the relationship </a:t>
            </a:r>
            <a:r>
              <a:rPr lang="en-US" dirty="0" smtClean="0">
                <a:solidFill>
                  <a:srgbClr val="FF0000"/>
                </a:solidFill>
              </a:rPr>
              <a:t>between its </a:t>
            </a:r>
            <a:r>
              <a:rPr lang="en-US" dirty="0">
                <a:solidFill>
                  <a:srgbClr val="FF0000"/>
                </a:solidFill>
              </a:rPr>
              <a:t>ROE and its cost of equity </a:t>
            </a:r>
            <a:r>
              <a:rPr lang="en-US" dirty="0" smtClean="0">
                <a:solidFill>
                  <a:srgbClr val="FF0000"/>
                </a:solidFill>
              </a:rPr>
              <a:t>capital.</a:t>
            </a:r>
          </a:p>
          <a:p>
            <a:pPr marL="0" indent="0" algn="just"/>
            <a:r>
              <a:rPr lang="en-US" dirty="0"/>
              <a:t>ROE = ROA × Financial </a:t>
            </a:r>
            <a:r>
              <a:rPr lang="en-US" dirty="0" smtClean="0"/>
              <a:t>leverage</a:t>
            </a:r>
          </a:p>
          <a:p>
            <a:pPr marL="0" indent="0" algn="just"/>
            <a:r>
              <a:rPr lang="en-US" dirty="0">
                <a:solidFill>
                  <a:srgbClr val="FF0000"/>
                </a:solidFill>
              </a:rPr>
              <a:t>ROE can be decomposed into return on assets (ROA) and </a:t>
            </a:r>
            <a:r>
              <a:rPr lang="en-US" dirty="0" smtClean="0">
                <a:solidFill>
                  <a:srgbClr val="FF0000"/>
                </a:solidFill>
              </a:rPr>
              <a:t>a measure </a:t>
            </a:r>
            <a:r>
              <a:rPr lang="en-US" dirty="0">
                <a:solidFill>
                  <a:srgbClr val="FF0000"/>
                </a:solidFill>
              </a:rPr>
              <a:t>of financial leverage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Profitability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65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dirty="0" smtClean="0"/>
              <a:t>ROE </a:t>
            </a:r>
            <a:r>
              <a:rPr lang="en-US" dirty="0"/>
              <a:t>= ROA × Financial </a:t>
            </a:r>
            <a:r>
              <a:rPr lang="en-US" dirty="0" smtClean="0"/>
              <a:t>leverage</a:t>
            </a:r>
          </a:p>
          <a:p>
            <a:pPr marL="0" indent="0" algn="just"/>
            <a:r>
              <a:rPr lang="en-US" dirty="0">
                <a:solidFill>
                  <a:srgbClr val="FF0000"/>
                </a:solidFill>
              </a:rPr>
              <a:t>ROE can be decomposed into return on assets (ROA) and </a:t>
            </a:r>
            <a:r>
              <a:rPr lang="en-US" dirty="0" smtClean="0">
                <a:solidFill>
                  <a:srgbClr val="FF0000"/>
                </a:solidFill>
              </a:rPr>
              <a:t>a measure </a:t>
            </a:r>
            <a:r>
              <a:rPr lang="en-US" dirty="0">
                <a:solidFill>
                  <a:srgbClr val="FF0000"/>
                </a:solidFill>
              </a:rPr>
              <a:t>of financial </a:t>
            </a:r>
            <a:r>
              <a:rPr lang="en-US" dirty="0" smtClean="0">
                <a:solidFill>
                  <a:srgbClr val="FF0000"/>
                </a:solidFill>
              </a:rPr>
              <a:t>leverage.</a:t>
            </a:r>
          </a:p>
          <a:p>
            <a:pPr algn="just"/>
            <a:r>
              <a:rPr lang="en-US" dirty="0" smtClean="0"/>
              <a:t>ROE = Net income/Assets </a:t>
            </a:r>
            <a:r>
              <a:rPr lang="en-US" dirty="0"/>
              <a:t>×</a:t>
            </a:r>
            <a:r>
              <a:rPr lang="en-US" dirty="0" smtClean="0"/>
              <a:t> Assets/Shareholder’s Equity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ROA tells us how much profit a company is able </a:t>
            </a:r>
            <a:r>
              <a:rPr lang="en-US" dirty="0" smtClean="0">
                <a:solidFill>
                  <a:srgbClr val="FF0000"/>
                </a:solidFill>
              </a:rPr>
              <a:t>to generate </a:t>
            </a:r>
            <a:r>
              <a:rPr lang="en-US" dirty="0">
                <a:solidFill>
                  <a:srgbClr val="FF0000"/>
                </a:solidFill>
              </a:rPr>
              <a:t>for each dollar of assets invested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  <a:endParaRPr lang="en-US" dirty="0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Financial leverage indicates how many dollars of assets the firm is able to </a:t>
            </a:r>
            <a:r>
              <a:rPr lang="en-US" dirty="0" smtClean="0">
                <a:solidFill>
                  <a:srgbClr val="FF0000"/>
                </a:solidFill>
              </a:rPr>
              <a:t>deploy for </a:t>
            </a:r>
            <a:r>
              <a:rPr lang="en-US" dirty="0">
                <a:solidFill>
                  <a:srgbClr val="FF0000"/>
                </a:solidFill>
              </a:rPr>
              <a:t>each dollar invested by its shareholders.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Profitability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7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ROA = Net income/sales </a:t>
            </a:r>
            <a:r>
              <a:rPr lang="en-US" dirty="0"/>
              <a:t>×</a:t>
            </a:r>
            <a:r>
              <a:rPr lang="en-US" dirty="0" smtClean="0"/>
              <a:t> sales/assets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 ratio of net income to sales is called </a:t>
            </a:r>
            <a:r>
              <a:rPr lang="en-US" b="1" dirty="0">
                <a:solidFill>
                  <a:srgbClr val="FF0000"/>
                </a:solidFill>
              </a:rPr>
              <a:t>net profit </a:t>
            </a:r>
            <a:r>
              <a:rPr lang="en-US" b="1" dirty="0" smtClean="0">
                <a:solidFill>
                  <a:srgbClr val="FF0000"/>
                </a:solidFill>
              </a:rPr>
              <a:t>margin</a:t>
            </a:r>
            <a:endParaRPr lang="en-US" b="1" dirty="0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Ratio </a:t>
            </a:r>
            <a:r>
              <a:rPr lang="en-US" dirty="0">
                <a:solidFill>
                  <a:srgbClr val="FF0000"/>
                </a:solidFill>
              </a:rPr>
              <a:t>of sales to assets is known as </a:t>
            </a:r>
            <a:r>
              <a:rPr lang="en-US" b="1" dirty="0">
                <a:solidFill>
                  <a:srgbClr val="FF0000"/>
                </a:solidFill>
              </a:rPr>
              <a:t>asset turnover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profit margin ratio indicates </a:t>
            </a:r>
            <a:r>
              <a:rPr lang="en-US" dirty="0" smtClean="0">
                <a:solidFill>
                  <a:srgbClr val="FF0000"/>
                </a:solidFill>
              </a:rPr>
              <a:t>how much </a:t>
            </a:r>
            <a:r>
              <a:rPr lang="en-US" dirty="0">
                <a:solidFill>
                  <a:srgbClr val="FF0000"/>
                </a:solidFill>
              </a:rPr>
              <a:t>the company is able to keep as profits for each dollar of sales it makes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Asset turnover indicates </a:t>
            </a:r>
            <a:r>
              <a:rPr lang="en-US" dirty="0">
                <a:solidFill>
                  <a:srgbClr val="FF0000"/>
                </a:solidFill>
              </a:rPr>
              <a:t>how many sales dollars the firm is able to generate for each dollar of </a:t>
            </a:r>
            <a:r>
              <a:rPr lang="en-US" dirty="0" smtClean="0">
                <a:solidFill>
                  <a:srgbClr val="FF0000"/>
                </a:solidFill>
              </a:rPr>
              <a:t>its assets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Thus, </a:t>
            </a:r>
            <a:r>
              <a:rPr lang="en-US" b="1" dirty="0">
                <a:solidFill>
                  <a:srgbClr val="FF0000"/>
                </a:solidFill>
              </a:rPr>
              <a:t>the three drivers of </a:t>
            </a:r>
            <a:r>
              <a:rPr lang="en-US" b="1" dirty="0" smtClean="0">
                <a:solidFill>
                  <a:srgbClr val="FF0000"/>
                </a:solidFill>
              </a:rPr>
              <a:t>ROE are: </a:t>
            </a:r>
            <a:r>
              <a:rPr lang="en-US" b="1" dirty="0">
                <a:solidFill>
                  <a:srgbClr val="FF0000"/>
                </a:solidFill>
              </a:rPr>
              <a:t>net profit margins, </a:t>
            </a:r>
            <a:r>
              <a:rPr lang="en-US" b="1" dirty="0" smtClean="0">
                <a:solidFill>
                  <a:srgbClr val="FF0000"/>
                </a:solidFill>
              </a:rPr>
              <a:t>asset turnover</a:t>
            </a:r>
            <a:r>
              <a:rPr lang="en-US" b="1" dirty="0">
                <a:solidFill>
                  <a:srgbClr val="FF0000"/>
                </a:solidFill>
              </a:rPr>
              <a:t>, and financial leverage.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Profitability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0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Ratio 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18" y="1295400"/>
            <a:ext cx="8575948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9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Ratio Analysis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316182"/>
            <a:ext cx="4543425" cy="50084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182"/>
            <a:ext cx="4614545" cy="249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1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dirty="0"/>
              <a:t>A firm’s sustainable growth rate is defined as</a:t>
            </a:r>
            <a:r>
              <a:rPr lang="en-US" dirty="0" smtClean="0"/>
              <a:t>:</a:t>
            </a:r>
          </a:p>
          <a:p>
            <a:pPr marL="0" indent="0" algn="just"/>
            <a:r>
              <a:rPr lang="en-US" b="1" dirty="0"/>
              <a:t>Sustainable growth rate = ROE × ( 1 – Dividend payout ratio )</a:t>
            </a:r>
            <a:endParaRPr lang="en-US" b="1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Sustainable </a:t>
            </a:r>
            <a:r>
              <a:rPr lang="en-US" sz="3200" dirty="0"/>
              <a:t>Growth Rate</a:t>
            </a:r>
            <a:endParaRPr lang="en-US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61" y="2743200"/>
            <a:ext cx="7953683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0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Sustainable growth rate is the rate at which a firm can grow while keeping its </a:t>
            </a:r>
            <a:r>
              <a:rPr lang="en-US" b="1" dirty="0" smtClean="0"/>
              <a:t>profitability and </a:t>
            </a:r>
            <a:r>
              <a:rPr lang="en-US" b="1" dirty="0"/>
              <a:t>financial policies unchanged</a:t>
            </a:r>
            <a:r>
              <a:rPr lang="en-US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firm’s return on equity and its dividend </a:t>
            </a:r>
            <a:r>
              <a:rPr lang="en-US" dirty="0" smtClean="0"/>
              <a:t>payout policy </a:t>
            </a:r>
            <a:r>
              <a:rPr lang="en-US" dirty="0"/>
              <a:t>determine the pool of funds available for growth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Of </a:t>
            </a:r>
            <a:r>
              <a:rPr lang="en-US" dirty="0"/>
              <a:t>course, the firm can </a:t>
            </a:r>
            <a:r>
              <a:rPr lang="en-US" dirty="0" smtClean="0"/>
              <a:t>grow at </a:t>
            </a:r>
            <a:r>
              <a:rPr lang="en-US" dirty="0"/>
              <a:t>a rate different from its sustainable growth rate if its profitability, payout policy, or </a:t>
            </a:r>
            <a:r>
              <a:rPr lang="en-US" dirty="0" smtClean="0"/>
              <a:t>financial leverage </a:t>
            </a:r>
            <a:r>
              <a:rPr lang="en-US" dirty="0"/>
              <a:t>changes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Therefore</a:t>
            </a:r>
            <a:r>
              <a:rPr lang="en-US" dirty="0">
                <a:solidFill>
                  <a:srgbClr val="FF0000"/>
                </a:solidFill>
              </a:rPr>
              <a:t>, the sustainable growth rate provides a </a:t>
            </a:r>
            <a:r>
              <a:rPr lang="en-US" dirty="0" smtClean="0">
                <a:solidFill>
                  <a:srgbClr val="FF0000"/>
                </a:solidFill>
              </a:rPr>
              <a:t>benchmark against </a:t>
            </a:r>
            <a:r>
              <a:rPr lang="en-US" dirty="0">
                <a:solidFill>
                  <a:srgbClr val="FF0000"/>
                </a:solidFill>
              </a:rPr>
              <a:t>which a firm’s growth plans can be evaluated.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Sustainable </a:t>
            </a:r>
            <a:r>
              <a:rPr lang="en-US" sz="3200" dirty="0"/>
              <a:t>Growth Rate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1705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/>
              <a:t>Cash flow analysis provides </a:t>
            </a:r>
            <a:r>
              <a:rPr lang="en-US" dirty="0"/>
              <a:t>an insights into the firm’s operating, investing, and financing </a:t>
            </a:r>
            <a:r>
              <a:rPr lang="en-US" dirty="0" smtClean="0"/>
              <a:t>policies by </a:t>
            </a:r>
            <a:r>
              <a:rPr lang="en-US" dirty="0"/>
              <a:t>examining its cash </a:t>
            </a:r>
            <a:r>
              <a:rPr lang="en-US" dirty="0" smtClean="0"/>
              <a:t>flows.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0" indent="0" algn="just"/>
            <a:r>
              <a:rPr lang="en-US" b="1" dirty="0" smtClean="0">
                <a:solidFill>
                  <a:srgbClr val="FF0000"/>
                </a:solidFill>
              </a:rPr>
              <a:t>In </a:t>
            </a:r>
            <a:r>
              <a:rPr lang="en-US" b="1" dirty="0">
                <a:solidFill>
                  <a:srgbClr val="FF0000"/>
                </a:solidFill>
              </a:rPr>
              <a:t>the reported cash flow statement, firms classify their cash flows into three categories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Cash flow </a:t>
            </a:r>
            <a:r>
              <a:rPr lang="en-US" dirty="0"/>
              <a:t>from </a:t>
            </a:r>
            <a:r>
              <a:rPr lang="en-US" dirty="0" smtClean="0"/>
              <a:t>operations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Cash </a:t>
            </a:r>
            <a:r>
              <a:rPr lang="en-US" dirty="0"/>
              <a:t>flow related to </a:t>
            </a:r>
            <a:r>
              <a:rPr lang="en-US" dirty="0" smtClean="0"/>
              <a:t>investments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Cash </a:t>
            </a:r>
            <a:r>
              <a:rPr lang="en-US" dirty="0"/>
              <a:t>flow related to </a:t>
            </a:r>
            <a:r>
              <a:rPr lang="en-US" dirty="0" smtClean="0"/>
              <a:t>financing activities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CASH FLOW ANALYSIS</a:t>
            </a:r>
          </a:p>
        </p:txBody>
      </p:sp>
    </p:spTree>
    <p:extLst>
      <p:ext uri="{BB962C8B-B14F-4D97-AF65-F5344CB8AC3E}">
        <p14:creationId xmlns:p14="http://schemas.microsoft.com/office/powerpoint/2010/main" val="423023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b="1" dirty="0" smtClean="0"/>
              <a:t>Cash flow </a:t>
            </a:r>
            <a:r>
              <a:rPr lang="en-US" b="1" dirty="0"/>
              <a:t>from operations:</a:t>
            </a:r>
            <a:r>
              <a:rPr lang="en-US" dirty="0"/>
              <a:t> It is the cash generated by the firm from the sale </a:t>
            </a:r>
            <a:r>
              <a:rPr lang="en-US" dirty="0" smtClean="0"/>
              <a:t>of goods </a:t>
            </a:r>
            <a:r>
              <a:rPr lang="en-US" dirty="0"/>
              <a:t>and services after paying for the cost of inputs and operations</a:t>
            </a:r>
            <a:r>
              <a:rPr lang="en-US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Cash flow related to investments:</a:t>
            </a:r>
            <a:r>
              <a:rPr lang="en-US" dirty="0"/>
              <a:t> It </a:t>
            </a:r>
            <a:r>
              <a:rPr lang="en-US" dirty="0" smtClean="0"/>
              <a:t>shows </a:t>
            </a:r>
            <a:r>
              <a:rPr lang="en-US" dirty="0"/>
              <a:t>the cash paid for capital expenditures, intercorporate investments</a:t>
            </a:r>
            <a:r>
              <a:rPr lang="en-US" dirty="0" smtClean="0"/>
              <a:t>, acquisitions</a:t>
            </a:r>
            <a:r>
              <a:rPr lang="en-US" dirty="0"/>
              <a:t>, and cash received from the sales of long-term assets</a:t>
            </a:r>
            <a:r>
              <a:rPr lang="en-US" dirty="0" smtClean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b="1" dirty="0"/>
              <a:t>Cash flow related to financing activities:</a:t>
            </a:r>
            <a:r>
              <a:rPr lang="en-US" dirty="0"/>
              <a:t> </a:t>
            </a:r>
            <a:r>
              <a:rPr lang="en-US" dirty="0" smtClean="0"/>
              <a:t>It shows </a:t>
            </a:r>
            <a:r>
              <a:rPr lang="en-US" dirty="0"/>
              <a:t>the cash raised from (or paid to) the firm’s </a:t>
            </a:r>
            <a:r>
              <a:rPr lang="en-US" dirty="0" smtClean="0"/>
              <a:t>stockholders and </a:t>
            </a:r>
            <a:r>
              <a:rPr lang="en-US" dirty="0"/>
              <a:t>debt holders.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CASH FLOW ANALYSIS</a:t>
            </a:r>
          </a:p>
        </p:txBody>
      </p:sp>
    </p:spTree>
    <p:extLst>
      <p:ext uri="{BB962C8B-B14F-4D97-AF65-F5344CB8AC3E}">
        <p14:creationId xmlns:p14="http://schemas.microsoft.com/office/powerpoint/2010/main" val="298398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Firms use two cash flow statement formats: </a:t>
            </a:r>
            <a:r>
              <a:rPr lang="en-US" b="1" dirty="0"/>
              <a:t>the direct format and the indirect format</a:t>
            </a:r>
            <a:r>
              <a:rPr lang="en-US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 key difference between the two formats is the way they report cash flow from </a:t>
            </a:r>
            <a:r>
              <a:rPr lang="en-US" dirty="0" smtClean="0">
                <a:solidFill>
                  <a:srgbClr val="FF0000"/>
                </a:solidFill>
              </a:rPr>
              <a:t>operating activities.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 the direct cash flow format</a:t>
            </a:r>
            <a:r>
              <a:rPr lang="en-US" dirty="0"/>
              <a:t>, operating cash receipts and disbursements are reported </a:t>
            </a:r>
            <a:r>
              <a:rPr lang="en-US" dirty="0" smtClean="0"/>
              <a:t>directly.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In </a:t>
            </a:r>
            <a:r>
              <a:rPr lang="en-US" b="1" dirty="0" smtClean="0"/>
              <a:t>the indirect </a:t>
            </a:r>
            <a:r>
              <a:rPr lang="en-US" b="1" dirty="0"/>
              <a:t>format</a:t>
            </a:r>
            <a:r>
              <a:rPr lang="en-US" dirty="0"/>
              <a:t>, firms derive their operating cash flows by making adjustments to net income</a:t>
            </a:r>
            <a:r>
              <a:rPr lang="en-US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Because the indirect format links </a:t>
            </a:r>
            <a:r>
              <a:rPr lang="en-US" dirty="0"/>
              <a:t>the cash flow statement with the firm’s </a:t>
            </a:r>
            <a:r>
              <a:rPr lang="en-US" dirty="0" smtClean="0"/>
              <a:t>income statement </a:t>
            </a:r>
            <a:r>
              <a:rPr lang="en-US" dirty="0"/>
              <a:t>and balance sheet, many analysts and managers find this format more </a:t>
            </a:r>
            <a:r>
              <a:rPr lang="en-US" dirty="0" smtClean="0"/>
              <a:t>useful.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CASH FLOW ANALYSIS</a:t>
            </a:r>
          </a:p>
        </p:txBody>
      </p:sp>
    </p:spTree>
    <p:extLst>
      <p:ext uri="{BB962C8B-B14F-4D97-AF65-F5344CB8AC3E}">
        <p14:creationId xmlns:p14="http://schemas.microsoft.com/office/powerpoint/2010/main" val="111647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/>
              <a:t>Net </a:t>
            </a:r>
            <a:r>
              <a:rPr lang="en-US" b="1" dirty="0"/>
              <a:t>income differs from operating cash flows because </a:t>
            </a:r>
            <a:r>
              <a:rPr lang="en-US" b="1" dirty="0" smtClean="0"/>
              <a:t>revenues and </a:t>
            </a:r>
            <a:r>
              <a:rPr lang="en-US" b="1" dirty="0"/>
              <a:t>expenses are measured on an accrual basis</a:t>
            </a:r>
            <a:r>
              <a:rPr lang="en-US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There are two types of </a:t>
            </a:r>
            <a:r>
              <a:rPr lang="en-US" dirty="0" smtClean="0">
                <a:solidFill>
                  <a:srgbClr val="FF0000"/>
                </a:solidFill>
              </a:rPr>
              <a:t>accruals embedded </a:t>
            </a:r>
            <a:r>
              <a:rPr lang="en-US" dirty="0">
                <a:solidFill>
                  <a:srgbClr val="FF0000"/>
                </a:solidFill>
              </a:rPr>
              <a:t>in net income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First, there </a:t>
            </a:r>
            <a:r>
              <a:rPr lang="en-US" dirty="0">
                <a:solidFill>
                  <a:srgbClr val="FF0000"/>
                </a:solidFill>
              </a:rPr>
              <a:t>are current accruals like credit sales and unpaid expenses.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Current accruals result in changes in a firm’s current assets (such as accounts receivable</a:t>
            </a:r>
            <a:r>
              <a:rPr lang="en-US" dirty="0" smtClean="0"/>
              <a:t>, inventory</a:t>
            </a:r>
            <a:r>
              <a:rPr lang="en-US" dirty="0"/>
              <a:t>, prepaid expenses) and current liabilities (such as accounts </a:t>
            </a:r>
            <a:r>
              <a:rPr lang="en-US" dirty="0" smtClean="0"/>
              <a:t>payable and </a:t>
            </a:r>
            <a:r>
              <a:rPr lang="en-US" dirty="0"/>
              <a:t>accrued liabilities).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CASH FLOW ANALYSIS</a:t>
            </a:r>
          </a:p>
        </p:txBody>
      </p:sp>
    </p:spTree>
    <p:extLst>
      <p:ext uri="{BB962C8B-B14F-4D97-AF65-F5344CB8AC3E}">
        <p14:creationId xmlns:p14="http://schemas.microsoft.com/office/powerpoint/2010/main" val="103136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/>
              <a:t>The second type of accruals included in the income statement </a:t>
            </a:r>
            <a:r>
              <a:rPr lang="en-US" dirty="0" smtClean="0"/>
              <a:t>is noncurrent </a:t>
            </a:r>
            <a:r>
              <a:rPr lang="en-US" dirty="0"/>
              <a:t>accruals such as depreciation, deferred </a:t>
            </a:r>
            <a:r>
              <a:rPr lang="en-US" dirty="0" smtClean="0"/>
              <a:t>taxes</a:t>
            </a:r>
            <a:r>
              <a:rPr lang="en-US" dirty="0"/>
              <a:t> </a:t>
            </a:r>
            <a:r>
              <a:rPr lang="en-US" dirty="0" smtClean="0"/>
              <a:t>etc.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/>
              <a:t>To derive cash flow from operations from net income, </a:t>
            </a:r>
            <a:r>
              <a:rPr lang="en-US" dirty="0" smtClean="0"/>
              <a:t>adjustments have </a:t>
            </a:r>
            <a:r>
              <a:rPr lang="en-US" dirty="0"/>
              <a:t>to be made for both these types of accruals</a:t>
            </a:r>
            <a:r>
              <a:rPr lang="en-US" dirty="0" smtClean="0"/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addition, adjustments have </a:t>
            </a:r>
            <a:r>
              <a:rPr lang="en-US" dirty="0" smtClean="0"/>
              <a:t>to be </a:t>
            </a:r>
            <a:r>
              <a:rPr lang="en-US" dirty="0"/>
              <a:t>made for </a:t>
            </a:r>
            <a:r>
              <a:rPr lang="en-US" dirty="0" smtClean="0"/>
              <a:t>non-operating </a:t>
            </a:r>
            <a:r>
              <a:rPr lang="en-US" dirty="0"/>
              <a:t>gains included in net income such as profits from asset sales.</a:t>
            </a:r>
            <a:endParaRPr lang="en-US" dirty="0" smtClean="0"/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CASH FLOW ANALYSIS</a:t>
            </a:r>
          </a:p>
        </p:txBody>
      </p:sp>
    </p:spTree>
    <p:extLst>
      <p:ext uri="{BB962C8B-B14F-4D97-AF65-F5344CB8AC3E}">
        <p14:creationId xmlns:p14="http://schemas.microsoft.com/office/powerpoint/2010/main" val="131388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>
                <a:solidFill>
                  <a:srgbClr val="FF0000"/>
                </a:solidFill>
              </a:rPr>
              <a:t>Working capital from </a:t>
            </a:r>
            <a:r>
              <a:rPr lang="en-US" b="1" dirty="0" smtClean="0">
                <a:solidFill>
                  <a:srgbClr val="FF0000"/>
                </a:solidFill>
              </a:rPr>
              <a:t>operations (Current Accruals)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just"/>
            <a:r>
              <a:rPr lang="en-US" b="1" dirty="0"/>
              <a:t>− Increase (or + decrease) in accounts receivable</a:t>
            </a:r>
          </a:p>
          <a:p>
            <a:pPr marL="0" indent="0" algn="just"/>
            <a:r>
              <a:rPr lang="en-US" b="1" dirty="0"/>
              <a:t>− Increase (or + decrease) in inventory</a:t>
            </a:r>
          </a:p>
          <a:p>
            <a:pPr marL="0" indent="0" algn="just"/>
            <a:r>
              <a:rPr lang="en-US" b="1" dirty="0"/>
              <a:t>− Increase (or + decrease) in other current assets excluding cash and cash equivalents</a:t>
            </a:r>
          </a:p>
          <a:p>
            <a:pPr marL="0" indent="0" algn="just"/>
            <a:r>
              <a:rPr lang="en-US" b="1" dirty="0"/>
              <a:t>+ Increase (or − decrease) in accounts payable</a:t>
            </a:r>
          </a:p>
          <a:p>
            <a:pPr marL="0" indent="0" algn="just"/>
            <a:r>
              <a:rPr lang="en-US" b="1" dirty="0"/>
              <a:t>+ Increase (or − decrease) in other current liabilities excluding debt.</a:t>
            </a:r>
            <a:endParaRPr lang="en-US" b="1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CASH FLOW ANALYSIS</a:t>
            </a:r>
          </a:p>
        </p:txBody>
      </p:sp>
    </p:spTree>
    <p:extLst>
      <p:ext uri="{BB962C8B-B14F-4D97-AF65-F5344CB8AC3E}">
        <p14:creationId xmlns:p14="http://schemas.microsoft.com/office/powerpoint/2010/main" val="297918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/>
              <a:t>Critical Questions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How </a:t>
            </a:r>
            <a:r>
              <a:rPr lang="en-US" dirty="0"/>
              <a:t>strong is the firm’s internal cash flow generation? Is the cash flow from </a:t>
            </a:r>
            <a:r>
              <a:rPr lang="en-US" dirty="0" smtClean="0"/>
              <a:t>operations positive </a:t>
            </a:r>
            <a:r>
              <a:rPr lang="en-US" dirty="0"/>
              <a:t>or negative</a:t>
            </a:r>
            <a:r>
              <a:rPr lang="en-US" dirty="0" smtClean="0"/>
              <a:t>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/>
              <a:t>it is negative, why? Is it because the company </a:t>
            </a:r>
            <a:r>
              <a:rPr lang="en-US" dirty="0" smtClean="0"/>
              <a:t>is growing?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Is </a:t>
            </a:r>
            <a:r>
              <a:rPr lang="en-US" dirty="0"/>
              <a:t>it because its operations are unprofitable</a:t>
            </a:r>
            <a:r>
              <a:rPr lang="en-US" dirty="0" smtClean="0"/>
              <a:t>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 smtClean="0"/>
              <a:t>Or </a:t>
            </a:r>
            <a:r>
              <a:rPr lang="en-US" dirty="0"/>
              <a:t>is it having </a:t>
            </a:r>
            <a:r>
              <a:rPr lang="en-US" dirty="0" smtClean="0"/>
              <a:t>difficulty managing </a:t>
            </a:r>
            <a:r>
              <a:rPr lang="en-US" dirty="0"/>
              <a:t>its working capital properly</a:t>
            </a:r>
            <a:r>
              <a:rPr lang="en-US" dirty="0" smtClean="0"/>
              <a:t>?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Does the company have the ability to meet its short-term financial obligations, such as interest payments, from its operating cash flow?</a:t>
            </a:r>
          </a:p>
          <a:p>
            <a:pPr marL="457200" indent="-457200" algn="just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Analyzing Cash </a:t>
            </a:r>
            <a:r>
              <a:rPr lang="en-US" sz="3200" dirty="0" smtClean="0"/>
              <a:t>Flow Information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0805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/>
            <a:r>
              <a:rPr lang="en-US" b="1" dirty="0" smtClean="0"/>
              <a:t>Critical Questions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dirty="0" smtClean="0"/>
              <a:t>Can </a:t>
            </a:r>
            <a:r>
              <a:rPr lang="en-US" dirty="0"/>
              <a:t>it continue to meet </a:t>
            </a:r>
            <a:r>
              <a:rPr lang="en-US" dirty="0" smtClean="0"/>
              <a:t>these obligations </a:t>
            </a:r>
            <a:r>
              <a:rPr lang="en-US" dirty="0"/>
              <a:t>without reducing its operating flexibility?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dirty="0" smtClean="0"/>
              <a:t>How </a:t>
            </a:r>
            <a:r>
              <a:rPr lang="en-US" dirty="0"/>
              <a:t>much cash did the company invest in growth</a:t>
            </a:r>
            <a:r>
              <a:rPr lang="en-US" dirty="0" smtClean="0"/>
              <a:t>?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dirty="0" smtClean="0"/>
              <a:t>Are </a:t>
            </a:r>
            <a:r>
              <a:rPr lang="en-US" dirty="0"/>
              <a:t>these investments </a:t>
            </a:r>
            <a:r>
              <a:rPr lang="en-US" dirty="0" smtClean="0"/>
              <a:t>consistent with </a:t>
            </a:r>
            <a:r>
              <a:rPr lang="en-US" dirty="0"/>
              <a:t>its business strategy</a:t>
            </a:r>
            <a:r>
              <a:rPr lang="en-US" dirty="0" smtClean="0"/>
              <a:t>?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dirty="0" smtClean="0"/>
              <a:t>Did </a:t>
            </a:r>
            <a:r>
              <a:rPr lang="en-US" dirty="0"/>
              <a:t>the company use internal cash flow to </a:t>
            </a:r>
            <a:r>
              <a:rPr lang="en-US" dirty="0" smtClean="0"/>
              <a:t>finance growth</a:t>
            </a:r>
            <a:r>
              <a:rPr lang="en-US" dirty="0"/>
              <a:t>, or did it rely on external financing</a:t>
            </a:r>
            <a:r>
              <a:rPr lang="en-US" dirty="0" smtClean="0"/>
              <a:t>?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US" dirty="0"/>
              <a:t>Did the company pay dividends from internal free cash flow, or did it have to rely on external financing?</a:t>
            </a:r>
          </a:p>
          <a:p>
            <a:pPr marL="457200" indent="-457200" algn="just">
              <a:buFont typeface="+mj-lt"/>
              <a:buAutoNum type="arabicPeriod" startAt="6"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Analyzing Cash </a:t>
            </a:r>
            <a:r>
              <a:rPr lang="en-US" sz="3200" dirty="0" smtClean="0"/>
              <a:t>Flow Information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2421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1648</TotalTime>
  <Words>1236</Words>
  <Application>Microsoft Office PowerPoint</Application>
  <PresentationFormat>On-screen Show (4:3)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Financial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Dell</cp:lastModifiedBy>
  <cp:revision>467</cp:revision>
  <dcterms:created xsi:type="dcterms:W3CDTF">2011-09-14T09:42:05Z</dcterms:created>
  <dcterms:modified xsi:type="dcterms:W3CDTF">2017-09-11T05:57:05Z</dcterms:modified>
</cp:coreProperties>
</file>